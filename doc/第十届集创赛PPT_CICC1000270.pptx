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notesSlides/notesSlide2.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notesSlides/notesSlide3.xml" ContentType="application/vnd.openxmlformats-officedocument.presentationml.notesSlide+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4.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notesSlides/notesSlide5.xml" ContentType="application/vnd.openxmlformats-officedocument.presentationml.notesSlide+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notesSlides/notesSlide6.xml" ContentType="application/vnd.openxmlformats-officedocument.presentationml.notesSlide+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notesSlides/notesSlide7.xml" ContentType="application/vnd.openxmlformats-officedocument.presentationml.notesSlide+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notesSlides/notesSlide8.xml" ContentType="application/vnd.openxmlformats-officedocument.presentationml.notesSlide+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notesSlides/notesSlide9.xml" ContentType="application/vnd.openxmlformats-officedocument.presentationml.notesSlide+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notesSlides/notesSlide10.xml" ContentType="application/vnd.openxmlformats-officedocument.presentationml.notesSlide+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notesSlides/notesSlide11.xml" ContentType="application/vnd.openxmlformats-officedocument.presentationml.notesSlide+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notesSlides/notesSlide12.xml" ContentType="application/vnd.openxmlformats-officedocument.presentationml.notesSlide+xml"/>
  <Override PartName="/ppt/tags/tag243.xml" ContentType="application/vnd.openxmlformats-officedocument.presentationml.tags+xml"/>
  <Override PartName="/ppt/notesSlides/notesSlide13.xml" ContentType="application/vnd.openxmlformats-officedocument.presentationml.notesSlide+xml"/>
  <Override PartName="/ppt/tags/tag244.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256" r:id="rId2"/>
    <p:sldId id="283" r:id="rId3"/>
    <p:sldId id="282" r:id="rId4"/>
    <p:sldId id="288" r:id="rId5"/>
    <p:sldId id="289" r:id="rId6"/>
    <p:sldId id="290" r:id="rId7"/>
    <p:sldId id="260" r:id="rId8"/>
    <p:sldId id="292" r:id="rId9"/>
    <p:sldId id="291" r:id="rId10"/>
    <p:sldId id="293" r:id="rId11"/>
    <p:sldId id="296" r:id="rId12"/>
    <p:sldId id="294" r:id="rId13"/>
    <p:sldId id="261" r:id="rId14"/>
    <p:sldId id="297" r:id="rId15"/>
    <p:sldId id="262" r:id="rId16"/>
    <p:sldId id="298" r:id="rId17"/>
    <p:sldId id="301" r:id="rId18"/>
    <p:sldId id="299" r:id="rId19"/>
    <p:sldId id="263" r:id="rId20"/>
    <p:sldId id="279" r:id="rId21"/>
    <p:sldId id="305" r:id="rId22"/>
    <p:sldId id="306" r:id="rId23"/>
    <p:sldId id="303" r:id="rId24"/>
    <p:sldId id="302" r:id="rId25"/>
    <p:sldId id="281" r:id="rId26"/>
  </p:sldIdLst>
  <p:sldSz cx="12192000" cy="6858000"/>
  <p:notesSz cx="6858000" cy="9144000"/>
  <p:embeddedFontLst>
    <p:embeddedFont>
      <p:font typeface="Alimama ShuHeiTi Bold" charset="-122"/>
      <p:regular r:id="rId28"/>
    </p:embeddedFont>
    <p:embeddedFont>
      <p:font typeface="微软雅黑" panose="020B0503020204020204" pitchFamily="34" charset="-122"/>
      <p:regular r:id="rId29"/>
      <p:bold r:id="rId30"/>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56" userDrawn="1">
          <p15:clr>
            <a:srgbClr val="A4A3A4"/>
          </p15:clr>
        </p15:guide>
        <p15:guide id="2" pos="3840" userDrawn="1">
          <p15:clr>
            <a:srgbClr val="A4A3A4"/>
          </p15:clr>
        </p15:guide>
        <p15:guide id="3" orient="horz" pos="25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B33"/>
    <a:srgbClr val="666666"/>
    <a:srgbClr val="142DA8"/>
    <a:srgbClr val="333333"/>
    <a:srgbClr val="FFFFFF"/>
    <a:srgbClr val="7399E5"/>
    <a:srgbClr val="E3E3E3"/>
    <a:srgbClr val="FF1A29"/>
    <a:srgbClr val="FFDD99"/>
    <a:srgbClr val="004C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93" autoAdjust="0"/>
    <p:restoredTop sz="80426" autoAdjust="0"/>
  </p:normalViewPr>
  <p:slideViewPr>
    <p:cSldViewPr snapToGrid="0" showGuides="1">
      <p:cViewPr varScale="1">
        <p:scale>
          <a:sx n="87" d="100"/>
          <a:sy n="87" d="100"/>
        </p:scale>
        <p:origin x="1500" y="90"/>
      </p:cViewPr>
      <p:guideLst>
        <p:guide orient="horz" pos="1956"/>
        <p:guide pos="3840"/>
        <p:guide orient="horz" pos="2568"/>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2026/7/14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3482372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接下来由我介绍硬件设计和验证。首先是硬件的整体架构和数据流定义</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165041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框图中的横向数据流即视频输入到显示的过程。由</a:t>
            </a:r>
            <a:r>
              <a:rPr lang="en-US" altLang="zh-CN" dirty="0"/>
              <a:t>HDMI</a:t>
            </a:r>
            <a:r>
              <a:rPr lang="zh-CN" altLang="en-US" dirty="0"/>
              <a:t>输入到</a:t>
            </a:r>
            <a:r>
              <a:rPr lang="en-US" altLang="zh-CN" dirty="0"/>
              <a:t>DDR</a:t>
            </a:r>
            <a:r>
              <a:rPr lang="zh-CN" altLang="en-US" dirty="0"/>
              <a:t>缓存，经过预选框和字符的叠加显示，再输出到</a:t>
            </a:r>
            <a:r>
              <a:rPr lang="en-US" altLang="zh-CN" dirty="0"/>
              <a:t>HDMI</a:t>
            </a:r>
            <a:r>
              <a:rPr lang="zh-CN" altLang="en-US" dirty="0"/>
              <a:t>的副屏上。检测识别的过程是将原图输入给</a:t>
            </a:r>
            <a:r>
              <a:rPr lang="en-US" altLang="zh-CN" dirty="0"/>
              <a:t>YOLO</a:t>
            </a:r>
            <a:r>
              <a:rPr lang="zh-CN" altLang="en-US" dirty="0"/>
              <a:t>，检测车牌的类型、位置和大小。将预选框的检测结果传给预选框显示和子图裁切模块，由双线性插值得到子图，缓存后传给</a:t>
            </a:r>
            <a:r>
              <a:rPr lang="en-US" altLang="zh-CN" dirty="0" err="1"/>
              <a:t>LPRNet</a:t>
            </a:r>
            <a:r>
              <a:rPr lang="zh-CN" altLang="en-US" dirty="0"/>
              <a:t>，检测车牌号，再将字符检测结果传给字符显示模块。</a:t>
            </a:r>
            <a:endParaRPr lang="en-US" altLang="zh-CN" dirty="0"/>
          </a:p>
          <a:p>
            <a:r>
              <a:rPr lang="zh-CN" altLang="en-US" dirty="0"/>
              <a:t>我们的系统最大的亮点是可以在</a:t>
            </a:r>
            <a:r>
              <a:rPr lang="en-US" altLang="zh-CN" dirty="0"/>
              <a:t>FPGA</a:t>
            </a:r>
            <a:r>
              <a:rPr lang="zh-CN" altLang="en-US" dirty="0"/>
              <a:t>上全片上运行，通过全流水线的设计全片上的实现毫秒级延迟的推理过程、和</a:t>
            </a:r>
            <a:r>
              <a:rPr lang="en-US" altLang="zh-CN" dirty="0"/>
              <a:t>720P@60Hz</a:t>
            </a:r>
            <a:r>
              <a:rPr lang="zh-CN" altLang="en-US" dirty="0"/>
              <a:t>的高效率。</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2866708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实现这些效果的核心是我们定制的计算单元三维脉动卷积阵列的设计，它有有四个组成部分。</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3382921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核心的乘加阵列如蓝色部分所示，数据横向流动，中间结果纵向流动。第一列从上往下看，第一个计算单元计算</a:t>
            </a:r>
            <a:r>
              <a:rPr lang="en-US" altLang="zh-CN" dirty="0"/>
              <a:t>D0*W0</a:t>
            </a:r>
            <a:r>
              <a:rPr lang="zh-CN" altLang="en-US" dirty="0"/>
              <a:t>，即第一个数据和第一个权重的乘积，结果传递给第二个单元。第二个单元错开一个周期计算</a:t>
            </a:r>
            <a:r>
              <a:rPr lang="en-US" altLang="zh-CN" dirty="0"/>
              <a:t>D1*W1</a:t>
            </a:r>
            <a:r>
              <a:rPr lang="zh-CN" altLang="en-US" dirty="0"/>
              <a:t>，再将结果与前一个单元的结果加起来，传给第三个单元。如此脉动式地传递，即可得到一个基础的卷积窗口的</a:t>
            </a:r>
            <a:r>
              <a:rPr lang="en-US" altLang="zh-CN" dirty="0"/>
              <a:t>9</a:t>
            </a:r>
            <a:r>
              <a:rPr lang="zh-CN" altLang="en-US" dirty="0"/>
              <a:t>个计算结果累加和。</a:t>
            </a:r>
            <a:r>
              <a:rPr lang="zh-CN" altLang="en-US" sz="1200" dirty="0">
                <a:solidFill>
                  <a:schemeClr val="tx2"/>
                </a:solidFill>
                <a:latin typeface="微软雅黑" panose="020B0503020204020204" pitchFamily="34" charset="-122"/>
                <a:ea typeface="微软雅黑" panose="020B0503020204020204" pitchFamily="34" charset="-122"/>
              </a:rPr>
              <a:t>这个过程像水流一样连续不断，无需等待完整卷积核算完。</a:t>
            </a:r>
            <a:endParaRPr lang="en-US" altLang="zh-CN" sz="1200" dirty="0">
              <a:solidFill>
                <a:schemeClr val="tx2"/>
              </a:solidFill>
              <a:latin typeface="微软雅黑" panose="020B0503020204020204" pitchFamily="34" charset="-122"/>
              <a:ea typeface="微软雅黑" panose="020B0503020204020204" pitchFamily="34" charset="-122"/>
            </a:endParaRPr>
          </a:p>
          <a:p>
            <a:r>
              <a:rPr lang="zh-CN" altLang="en-US" sz="1200" dirty="0">
                <a:solidFill>
                  <a:schemeClr val="tx2"/>
                </a:solidFill>
                <a:latin typeface="微软雅黑" panose="020B0503020204020204" pitchFamily="34" charset="-122"/>
                <a:ea typeface="微软雅黑" panose="020B0503020204020204" pitchFamily="34" charset="-122"/>
              </a:rPr>
              <a:t>我们设计了三维的结构，行数匹配卷积核大小，列数匹配输出通道并行度，页数匹配输入通道的并行度。通过分时复用，实现多通道的脉动计算。</a:t>
            </a:r>
            <a:endParaRPr lang="en-US" altLang="zh-CN" sz="1200" dirty="0">
              <a:solidFill>
                <a:schemeClr val="tx2"/>
              </a:solidFill>
              <a:latin typeface="微软雅黑" panose="020B0503020204020204" pitchFamily="34" charset="-122"/>
              <a:ea typeface="微软雅黑" panose="020B0503020204020204" pitchFamily="34" charset="-122"/>
            </a:endParaRPr>
          </a:p>
          <a:p>
            <a:r>
              <a:rPr lang="zh-CN" altLang="en-US" sz="1200" dirty="0">
                <a:solidFill>
                  <a:schemeClr val="tx2"/>
                </a:solidFill>
                <a:latin typeface="微软雅黑" panose="020B0503020204020204" pitchFamily="34" charset="-122"/>
                <a:ea typeface="微软雅黑" panose="020B0503020204020204" pitchFamily="34" charset="-122"/>
              </a:rPr>
              <a:t>其外围的权重管理单元读取</a:t>
            </a:r>
            <a:r>
              <a:rPr lang="en-US" altLang="zh-CN" sz="1200" dirty="0">
                <a:solidFill>
                  <a:schemeClr val="tx2"/>
                </a:solidFill>
                <a:latin typeface="微软雅黑" panose="020B0503020204020204" pitchFamily="34" charset="-122"/>
                <a:ea typeface="微软雅黑" panose="020B0503020204020204" pitchFamily="34" charset="-122"/>
              </a:rPr>
              <a:t>mem</a:t>
            </a:r>
            <a:r>
              <a:rPr lang="zh-CN" altLang="en-US" sz="1200" dirty="0">
                <a:solidFill>
                  <a:schemeClr val="tx2"/>
                </a:solidFill>
                <a:latin typeface="微软雅黑" panose="020B0503020204020204" pitchFamily="34" charset="-122"/>
                <a:ea typeface="微软雅黑" panose="020B0503020204020204" pitchFamily="34" charset="-122"/>
              </a:rPr>
              <a:t>文件初始化</a:t>
            </a:r>
            <a:r>
              <a:rPr lang="en-US" altLang="zh-CN" sz="1200" dirty="0">
                <a:solidFill>
                  <a:schemeClr val="tx2"/>
                </a:solidFill>
                <a:latin typeface="微软雅黑" panose="020B0503020204020204" pitchFamily="34" charset="-122"/>
                <a:ea typeface="微软雅黑" panose="020B0503020204020204" pitchFamily="34" charset="-122"/>
              </a:rPr>
              <a:t>BRAM</a:t>
            </a:r>
            <a:r>
              <a:rPr lang="zh-CN" altLang="en-US" sz="1200" dirty="0">
                <a:solidFill>
                  <a:schemeClr val="tx2"/>
                </a:solidFill>
                <a:latin typeface="微软雅黑" panose="020B0503020204020204" pitchFamily="34" charset="-122"/>
                <a:ea typeface="微软雅黑" panose="020B0503020204020204" pitchFamily="34" charset="-122"/>
              </a:rPr>
              <a:t>并进行权重分发。数据管理单元进行数据重组与窗口生成，匹配脉动阵列的节奏，通过行缓存的精细控制，边存储边计算。输出同步单元进行时空累加输出、偏置叠加、移位反量化和</a:t>
            </a:r>
            <a:r>
              <a:rPr lang="en-US" altLang="zh-CN" sz="1200" dirty="0" err="1">
                <a:solidFill>
                  <a:schemeClr val="tx2"/>
                </a:solidFill>
                <a:latin typeface="微软雅黑" panose="020B0503020204020204" pitchFamily="34" charset="-122"/>
                <a:ea typeface="微软雅黑" panose="020B0503020204020204" pitchFamily="34" charset="-122"/>
              </a:rPr>
              <a:t>ReLU</a:t>
            </a:r>
            <a:r>
              <a:rPr lang="zh-CN" altLang="en-US" sz="1200" dirty="0">
                <a:solidFill>
                  <a:schemeClr val="tx2"/>
                </a:solidFill>
                <a:latin typeface="微软雅黑" panose="020B0503020204020204" pitchFamily="34" charset="-122"/>
                <a:ea typeface="微软雅黑" panose="020B0503020204020204" pitchFamily="34" charset="-122"/>
              </a:rPr>
              <a:t>激活。</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1724266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这一定制的结构有如下优点。首先全流水线数据通路带来了超高的并行度和计算吞吐量。每个计算单元仅通过寄存器与相邻的单元直接相连，拓扑结构规整、重复度高，有利于减少布线拥塞、提高运行频率。而纯</a:t>
            </a:r>
            <a:r>
              <a:rPr lang="en-US" altLang="zh-CN" dirty="0"/>
              <a:t>Verilog</a:t>
            </a:r>
            <a:r>
              <a:rPr lang="zh-CN" altLang="en-US" dirty="0"/>
              <a:t>实现让我们能够以精确到寄存器的设计方式，结合可配置的计算阵列规模，提高资源的利用率。</a:t>
            </a:r>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17167174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我们通过巧妙而精确的参数配置优化设计的效率。</a:t>
            </a:r>
            <a:r>
              <a:rPr lang="en-US" altLang="zh-CN" dirty="0"/>
              <a:t>Verilog</a:t>
            </a:r>
            <a:r>
              <a:rPr lang="zh-CN" altLang="en-US" dirty="0"/>
              <a:t>模块高度参数化，配合</a:t>
            </a:r>
            <a:r>
              <a:rPr lang="en-US" altLang="zh-CN" dirty="0"/>
              <a:t>Python</a:t>
            </a:r>
            <a:r>
              <a:rPr lang="zh-CN" altLang="en-US" dirty="0"/>
              <a:t>脚本实现不同卷积、池化层的定义和仿真的自动化。</a:t>
            </a:r>
            <a:endParaRPr lang="en-US" altLang="zh-CN" dirty="0"/>
          </a:p>
          <a:p>
            <a:r>
              <a:rPr lang="zh-CN" altLang="en-US" dirty="0"/>
              <a:t>如右图这个</a:t>
            </a:r>
            <a:r>
              <a:rPr lang="en-US" altLang="zh-CN" dirty="0"/>
              <a:t>Python</a:t>
            </a:r>
            <a:r>
              <a:rPr lang="zh-CN" altLang="en-US" dirty="0"/>
              <a:t>代码段，我们动态设计每层的列数和页数，改变阵列的规模以匹配不同的计算量，同步他们的吞吐量，克服某一层计算量过大带来的</a:t>
            </a:r>
            <a:r>
              <a:rPr lang="en-US" altLang="zh-CN" dirty="0"/>
              <a:t>”</a:t>
            </a:r>
            <a:r>
              <a:rPr lang="zh-CN" altLang="en-US" dirty="0"/>
              <a:t>木桶效应</a:t>
            </a:r>
            <a:r>
              <a:rPr lang="en-US" altLang="zh-CN" dirty="0"/>
              <a:t>”</a:t>
            </a:r>
            <a:r>
              <a:rPr lang="zh-CN" altLang="en-US" dirty="0"/>
              <a:t>。</a:t>
            </a:r>
            <a:endParaRPr lang="en-US" altLang="zh-CN" dirty="0"/>
          </a:p>
          <a:p>
            <a:r>
              <a:rPr lang="zh-CN" altLang="en-US" dirty="0"/>
              <a:t>我们的阵列时序对齐的关键是行同步信号。以行同步结合行内严格的节拍，行尾灵活的后延长度，分别解决了层内和层间的时序问题。虽然我们采用了两个网络，但他们的计算核心是同构的，都是卷积层和池化层，我们用相同的方式配置两种网络的核心，大大提高了设计的可复用性和效率。</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2153135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接下来是</a:t>
            </a:r>
            <a:r>
              <a:rPr lang="en-US" altLang="zh-CN" dirty="0"/>
              <a:t>RTL</a:t>
            </a:r>
            <a:r>
              <a:rPr lang="zh-CN" altLang="en-US" dirty="0"/>
              <a:t>代码的</a:t>
            </a:r>
            <a:r>
              <a:rPr lang="en-US" altLang="zh-CN" dirty="0" err="1"/>
              <a:t>Modelsim</a:t>
            </a:r>
            <a:r>
              <a:rPr lang="zh-CN" altLang="en-US" dirty="0"/>
              <a:t>仿真和实际上板实测的效果。</a:t>
            </a:r>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3734107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我们的设计有着极低的推理延迟，</a:t>
            </a:r>
            <a:r>
              <a:rPr lang="en-US" altLang="zh-CN" dirty="0"/>
              <a:t>YOLO </a:t>
            </a:r>
            <a:r>
              <a:rPr lang="zh-CN" altLang="en-US" dirty="0"/>
              <a:t>车牌定位从第一个有效输入到有效输出的延迟仅</a:t>
            </a:r>
            <a:r>
              <a:rPr lang="en-US" altLang="zh-CN" dirty="0"/>
              <a:t>1.14ms</a:t>
            </a:r>
            <a:r>
              <a:rPr lang="zh-CN" altLang="en-US" dirty="0"/>
              <a:t>，</a:t>
            </a:r>
            <a:r>
              <a:rPr lang="en-US" altLang="zh-CN" dirty="0" err="1"/>
              <a:t>LPRNet</a:t>
            </a:r>
            <a:r>
              <a:rPr lang="zh-CN" altLang="en-US" dirty="0"/>
              <a:t>字符识别的整张子图的延迟仅</a:t>
            </a:r>
            <a:r>
              <a:rPr lang="en-US" altLang="zh-CN" dirty="0"/>
              <a:t>2.35ms</a:t>
            </a:r>
            <a:r>
              <a:rPr lang="zh-CN" altLang="en-US" dirty="0"/>
              <a:t>。</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3633608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a:t>
            </a:r>
            <a:r>
              <a:rPr lang="en-US" altLang="zh-CN" dirty="0" err="1"/>
              <a:t>Modelsim</a:t>
            </a:r>
            <a:r>
              <a:rPr lang="zh-CN" altLang="en-US" dirty="0"/>
              <a:t>仿真结合</a:t>
            </a:r>
            <a:r>
              <a:rPr lang="en-US" altLang="zh-CN" dirty="0"/>
              <a:t>Python</a:t>
            </a:r>
            <a:r>
              <a:rPr lang="zh-CN" altLang="en-US" dirty="0"/>
              <a:t>脚本验证了子图裁切和双线性插值的效果。还有其他许多仿真测试，这里不再赘述。</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4184766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上板实际测试</a:t>
            </a:r>
            <a:r>
              <a:rPr lang="zh-CN" altLang="en-US" dirty="0"/>
              <a:t>，可以观察到系统能在盘古</a:t>
            </a:r>
            <a:r>
              <a:rPr lang="en-US" altLang="zh-CN" dirty="0"/>
              <a:t>200K-mini-FPGA</a:t>
            </a:r>
            <a:r>
              <a:rPr lang="zh-CN" altLang="en-US" dirty="0"/>
              <a:t>开发板上以</a:t>
            </a:r>
            <a:r>
              <a:rPr lang="en-US" altLang="zh-CN" dirty="0"/>
              <a:t>720P@60Hz</a:t>
            </a:r>
            <a:r>
              <a:rPr lang="zh-CN" altLang="en-US" dirty="0"/>
              <a:t>的高清高帧率运行。预选框的延迟小于半帧、字符检测结果的延迟约一帧。能够实现</a:t>
            </a:r>
            <a:r>
              <a:rPr lang="en-US" altLang="zh-CN" dirty="0"/>
              <a:t>8</a:t>
            </a:r>
            <a:r>
              <a:rPr lang="zh-CN" altLang="en-US" dirty="0"/>
              <a:t>个车牌的同步检测，并且对车牌的大小、角度和光强由良好的适应性。</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22</a:t>
            </a:fld>
            <a:endParaRPr lang="zh-CN" altLang="en-US"/>
          </a:p>
        </p:txBody>
      </p:sp>
    </p:spTree>
    <p:extLst>
      <p:ext uri="{BB962C8B-B14F-4D97-AF65-F5344CB8AC3E}">
        <p14:creationId xmlns:p14="http://schemas.microsoft.com/office/powerpoint/2010/main" val="3305215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接下来我们用实物展示效果</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23</a:t>
            </a:fld>
            <a:endParaRPr lang="zh-CN" altLang="en-US"/>
          </a:p>
        </p:txBody>
      </p:sp>
    </p:spTree>
    <p:extLst>
      <p:ext uri="{BB962C8B-B14F-4D97-AF65-F5344CB8AC3E}">
        <p14:creationId xmlns:p14="http://schemas.microsoft.com/office/powerpoint/2010/main" val="2517695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t>纯硬件算法在</a:t>
            </a:r>
            <a:r>
              <a:rPr lang="en-US" altLang="zh-CN" sz="1200" dirty="0"/>
              <a:t>FPGA</a:t>
            </a:r>
            <a:r>
              <a:rPr lang="zh-CN" altLang="en-US" sz="1200" dirty="0"/>
              <a:t>上实现卷积神经网络的过程充满了挑战。从模型设计、数据集构建、模型量化，到</a:t>
            </a:r>
            <a:r>
              <a:rPr lang="en-US" altLang="zh-CN" sz="1200" dirty="0"/>
              <a:t>RTL</a:t>
            </a:r>
            <a:r>
              <a:rPr lang="zh-CN" altLang="en-US" sz="1200" dirty="0"/>
              <a:t>整体架构设计、计算阵列设计，仿真验证，资源、时序平衡，再到上板验证。我们队伍在这几个月的时间里，反复地试错、反思、优化，可谓屡败屡战。</a:t>
            </a:r>
            <a:endParaRPr lang="en-US" altLang="zh-CN" sz="1200" dirty="0"/>
          </a:p>
          <a:p>
            <a:r>
              <a:rPr lang="zh-CN" altLang="en-US" sz="1200" dirty="0"/>
              <a:t>最终看到我们的设计能在国产</a:t>
            </a:r>
            <a:r>
              <a:rPr lang="en-US" altLang="zh-CN" sz="1200" dirty="0"/>
              <a:t>FPGA</a:t>
            </a:r>
            <a:r>
              <a:rPr lang="zh-CN" altLang="en-US" sz="1200" dirty="0"/>
              <a:t>芯片上实际跑起来，并且帧率、延迟等效果都很不错，我们由衷地感到高兴。感谢集创赛的主办方和紫光同创，给了我们锻炼和展示自己的机会。</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20621395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t>我们的设计还有许多不足，欢迎各位评委老师批评指正，谢谢！</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25</a:t>
            </a:fld>
            <a:endParaRPr lang="zh-CN" altLang="en-US"/>
          </a:p>
        </p:txBody>
      </p:sp>
    </p:spTree>
    <p:extLst>
      <p:ext uri="{BB962C8B-B14F-4D97-AF65-F5344CB8AC3E}">
        <p14:creationId xmlns:p14="http://schemas.microsoft.com/office/powerpoint/2010/main" val="29983741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2026/7/14</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2026/7/14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2026/7/14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2026/7/14</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2026/7/14</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2026/7/14</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2026/7/14</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2026/7/14</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2026/7/14</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2026/7/14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2026/7/14</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2026/7/14</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6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tags" Target="../tags/tag71.xml"/><Relationship Id="rId13" Type="http://schemas.openxmlformats.org/officeDocument/2006/relationships/image" Target="../media/image3.png"/><Relationship Id="rId3" Type="http://schemas.openxmlformats.org/officeDocument/2006/relationships/tags" Target="../tags/tag66.xml"/><Relationship Id="rId7" Type="http://schemas.openxmlformats.org/officeDocument/2006/relationships/tags" Target="../tags/tag70.xml"/><Relationship Id="rId12" Type="http://schemas.openxmlformats.org/officeDocument/2006/relationships/notesSlide" Target="../notesSlides/notesSlide1.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tags" Target="../tags/tag69.xml"/><Relationship Id="rId11" Type="http://schemas.openxmlformats.org/officeDocument/2006/relationships/slideLayout" Target="../slideLayouts/slideLayout1.xml"/><Relationship Id="rId5" Type="http://schemas.openxmlformats.org/officeDocument/2006/relationships/tags" Target="../tags/tag68.xml"/><Relationship Id="rId10" Type="http://schemas.openxmlformats.org/officeDocument/2006/relationships/tags" Target="../tags/tag73.xml"/><Relationship Id="rId4" Type="http://schemas.openxmlformats.org/officeDocument/2006/relationships/tags" Target="../tags/tag67.xml"/><Relationship Id="rId9" Type="http://schemas.openxmlformats.org/officeDocument/2006/relationships/tags" Target="../tags/tag72.xml"/></Relationships>
</file>

<file path=ppt/slides/_rels/slide3.xml.rels><?xml version="1.0" encoding="UTF-8" standalone="yes"?>
<Relationships xmlns="http://schemas.openxmlformats.org/package/2006/relationships"><Relationship Id="rId8" Type="http://schemas.openxmlformats.org/officeDocument/2006/relationships/tags" Target="../tags/tag81.xml"/><Relationship Id="rId13" Type="http://schemas.openxmlformats.org/officeDocument/2006/relationships/tags" Target="../tags/tag86.xml"/><Relationship Id="rId18" Type="http://schemas.openxmlformats.org/officeDocument/2006/relationships/image" Target="../media/image1.png"/><Relationship Id="rId3" Type="http://schemas.openxmlformats.org/officeDocument/2006/relationships/tags" Target="../tags/tag76.xml"/><Relationship Id="rId7" Type="http://schemas.openxmlformats.org/officeDocument/2006/relationships/tags" Target="../tags/tag80.xml"/><Relationship Id="rId12" Type="http://schemas.openxmlformats.org/officeDocument/2006/relationships/tags" Target="../tags/tag85.xml"/><Relationship Id="rId17" Type="http://schemas.openxmlformats.org/officeDocument/2006/relationships/slideLayout" Target="../slideLayouts/slideLayout1.xml"/><Relationship Id="rId2" Type="http://schemas.openxmlformats.org/officeDocument/2006/relationships/tags" Target="../tags/tag75.xml"/><Relationship Id="rId16" Type="http://schemas.openxmlformats.org/officeDocument/2006/relationships/tags" Target="../tags/tag89.xml"/><Relationship Id="rId1" Type="http://schemas.openxmlformats.org/officeDocument/2006/relationships/tags" Target="../tags/tag74.xml"/><Relationship Id="rId6" Type="http://schemas.openxmlformats.org/officeDocument/2006/relationships/tags" Target="../tags/tag79.xml"/><Relationship Id="rId11" Type="http://schemas.openxmlformats.org/officeDocument/2006/relationships/tags" Target="../tags/tag84.xml"/><Relationship Id="rId5" Type="http://schemas.openxmlformats.org/officeDocument/2006/relationships/tags" Target="../tags/tag78.xml"/><Relationship Id="rId15" Type="http://schemas.openxmlformats.org/officeDocument/2006/relationships/tags" Target="../tags/tag88.xml"/><Relationship Id="rId10" Type="http://schemas.openxmlformats.org/officeDocument/2006/relationships/tags" Target="../tags/tag83.xml"/><Relationship Id="rId4" Type="http://schemas.openxmlformats.org/officeDocument/2006/relationships/tags" Target="../tags/tag77.xml"/><Relationship Id="rId9" Type="http://schemas.openxmlformats.org/officeDocument/2006/relationships/tags" Target="../tags/tag82.xml"/><Relationship Id="rId14" Type="http://schemas.openxmlformats.org/officeDocument/2006/relationships/tags" Target="../tags/tag87.xml"/></Relationships>
</file>

<file path=ppt/slides/_rels/slide4.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1.png"/><Relationship Id="rId5" Type="http://schemas.openxmlformats.org/officeDocument/2006/relationships/slideLayout" Target="../slideLayouts/slideLayout1.xml"/><Relationship Id="rId4" Type="http://schemas.openxmlformats.org/officeDocument/2006/relationships/tags" Target="../tags/tag93.xml"/></Relationships>
</file>

<file path=ppt/slides/_rels/slide5.xml.rels><?xml version="1.0" encoding="UTF-8" standalone="yes"?>
<Relationships xmlns="http://schemas.openxmlformats.org/package/2006/relationships"><Relationship Id="rId8" Type="http://schemas.openxmlformats.org/officeDocument/2006/relationships/tags" Target="../tags/tag101.xml"/><Relationship Id="rId13" Type="http://schemas.openxmlformats.org/officeDocument/2006/relationships/tags" Target="../tags/tag106.xml"/><Relationship Id="rId3" Type="http://schemas.openxmlformats.org/officeDocument/2006/relationships/tags" Target="../tags/tag96.xml"/><Relationship Id="rId7" Type="http://schemas.openxmlformats.org/officeDocument/2006/relationships/tags" Target="../tags/tag100.xml"/><Relationship Id="rId12" Type="http://schemas.openxmlformats.org/officeDocument/2006/relationships/tags" Target="../tags/tag105.xml"/><Relationship Id="rId17" Type="http://schemas.openxmlformats.org/officeDocument/2006/relationships/image" Target="../media/image5.png"/><Relationship Id="rId2" Type="http://schemas.openxmlformats.org/officeDocument/2006/relationships/tags" Target="../tags/tag95.xml"/><Relationship Id="rId16" Type="http://schemas.openxmlformats.org/officeDocument/2006/relationships/image" Target="../media/image3.png"/><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tags" Target="../tags/tag104.xml"/><Relationship Id="rId5" Type="http://schemas.openxmlformats.org/officeDocument/2006/relationships/tags" Target="../tags/tag98.xml"/><Relationship Id="rId15" Type="http://schemas.openxmlformats.org/officeDocument/2006/relationships/image" Target="../media/image4.png"/><Relationship Id="rId10" Type="http://schemas.openxmlformats.org/officeDocument/2006/relationships/tags" Target="../tags/tag103.xml"/><Relationship Id="rId4" Type="http://schemas.openxmlformats.org/officeDocument/2006/relationships/tags" Target="../tags/tag97.xml"/><Relationship Id="rId9" Type="http://schemas.openxmlformats.org/officeDocument/2006/relationships/tags" Target="../tags/tag102.xml"/><Relationship Id="rId14"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tags" Target="../tags/tag114.xml"/><Relationship Id="rId13" Type="http://schemas.openxmlformats.org/officeDocument/2006/relationships/image" Target="../media/image3.png"/><Relationship Id="rId3" Type="http://schemas.openxmlformats.org/officeDocument/2006/relationships/tags" Target="../tags/tag109.xml"/><Relationship Id="rId7" Type="http://schemas.openxmlformats.org/officeDocument/2006/relationships/tags" Target="../tags/tag113.xml"/><Relationship Id="rId12" Type="http://schemas.openxmlformats.org/officeDocument/2006/relationships/image" Target="../media/image4.png"/><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tags" Target="../tags/tag112.xml"/><Relationship Id="rId11" Type="http://schemas.openxmlformats.org/officeDocument/2006/relationships/slideLayout" Target="../slideLayouts/slideLayout1.xml"/><Relationship Id="rId5" Type="http://schemas.openxmlformats.org/officeDocument/2006/relationships/tags" Target="../tags/tag111.xml"/><Relationship Id="rId10" Type="http://schemas.openxmlformats.org/officeDocument/2006/relationships/tags" Target="../tags/tag116.xml"/><Relationship Id="rId4" Type="http://schemas.openxmlformats.org/officeDocument/2006/relationships/tags" Target="../tags/tag110.xml"/><Relationship Id="rId9" Type="http://schemas.openxmlformats.org/officeDocument/2006/relationships/tags" Target="../tags/tag115.xml"/><Relationship Id="rId1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image" Target="../media/image1.png"/><Relationship Id="rId5" Type="http://schemas.openxmlformats.org/officeDocument/2006/relationships/slideLayout" Target="../slideLayouts/slideLayout1.xml"/><Relationship Id="rId4" Type="http://schemas.openxmlformats.org/officeDocument/2006/relationships/tags" Target="../tags/tag120.xml"/></Relationships>
</file>

<file path=ppt/slides/_rels/slide8.xml.rels><?xml version="1.0" encoding="UTF-8" standalone="yes"?>
<Relationships xmlns="http://schemas.openxmlformats.org/package/2006/relationships"><Relationship Id="rId8" Type="http://schemas.openxmlformats.org/officeDocument/2006/relationships/tags" Target="../tags/tag128.xml"/><Relationship Id="rId13" Type="http://schemas.openxmlformats.org/officeDocument/2006/relationships/tags" Target="../tags/tag133.xml"/><Relationship Id="rId3" Type="http://schemas.openxmlformats.org/officeDocument/2006/relationships/tags" Target="../tags/tag123.xml"/><Relationship Id="rId7" Type="http://schemas.openxmlformats.org/officeDocument/2006/relationships/tags" Target="../tags/tag127.xml"/><Relationship Id="rId12" Type="http://schemas.openxmlformats.org/officeDocument/2006/relationships/tags" Target="../tags/tag132.xml"/><Relationship Id="rId17" Type="http://schemas.openxmlformats.org/officeDocument/2006/relationships/image" Target="../media/image7.png"/><Relationship Id="rId2" Type="http://schemas.openxmlformats.org/officeDocument/2006/relationships/tags" Target="../tags/tag122.xml"/><Relationship Id="rId16" Type="http://schemas.openxmlformats.org/officeDocument/2006/relationships/image" Target="../media/image3.png"/><Relationship Id="rId1" Type="http://schemas.openxmlformats.org/officeDocument/2006/relationships/tags" Target="../tags/tag121.xml"/><Relationship Id="rId6" Type="http://schemas.openxmlformats.org/officeDocument/2006/relationships/tags" Target="../tags/tag126.xml"/><Relationship Id="rId11" Type="http://schemas.openxmlformats.org/officeDocument/2006/relationships/tags" Target="../tags/tag131.xml"/><Relationship Id="rId5" Type="http://schemas.openxmlformats.org/officeDocument/2006/relationships/tags" Target="../tags/tag125.xml"/><Relationship Id="rId15" Type="http://schemas.openxmlformats.org/officeDocument/2006/relationships/image" Target="../media/image4.png"/><Relationship Id="rId10" Type="http://schemas.openxmlformats.org/officeDocument/2006/relationships/tags" Target="../tags/tag130.xml"/><Relationship Id="rId4" Type="http://schemas.openxmlformats.org/officeDocument/2006/relationships/tags" Target="../tags/tag124.xml"/><Relationship Id="rId9" Type="http://schemas.openxmlformats.org/officeDocument/2006/relationships/tags" Target="../tags/tag129.xml"/><Relationship Id="rId14"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tags" Target="../tags/tag141.xml"/><Relationship Id="rId13" Type="http://schemas.openxmlformats.org/officeDocument/2006/relationships/tags" Target="../tags/tag146.xml"/><Relationship Id="rId3" Type="http://schemas.openxmlformats.org/officeDocument/2006/relationships/tags" Target="../tags/tag136.xml"/><Relationship Id="rId7" Type="http://schemas.openxmlformats.org/officeDocument/2006/relationships/tags" Target="../tags/tag140.xml"/><Relationship Id="rId12" Type="http://schemas.openxmlformats.org/officeDocument/2006/relationships/tags" Target="../tags/tag145.xml"/><Relationship Id="rId17" Type="http://schemas.openxmlformats.org/officeDocument/2006/relationships/image" Target="../media/image8.jpeg"/><Relationship Id="rId2" Type="http://schemas.openxmlformats.org/officeDocument/2006/relationships/tags" Target="../tags/tag135.xml"/><Relationship Id="rId16" Type="http://schemas.openxmlformats.org/officeDocument/2006/relationships/image" Target="../media/image3.png"/><Relationship Id="rId1" Type="http://schemas.openxmlformats.org/officeDocument/2006/relationships/tags" Target="../tags/tag134.xml"/><Relationship Id="rId6" Type="http://schemas.openxmlformats.org/officeDocument/2006/relationships/tags" Target="../tags/tag139.xml"/><Relationship Id="rId11" Type="http://schemas.openxmlformats.org/officeDocument/2006/relationships/tags" Target="../tags/tag144.xml"/><Relationship Id="rId5" Type="http://schemas.openxmlformats.org/officeDocument/2006/relationships/tags" Target="../tags/tag138.xml"/><Relationship Id="rId15" Type="http://schemas.openxmlformats.org/officeDocument/2006/relationships/image" Target="../media/image4.png"/><Relationship Id="rId10" Type="http://schemas.openxmlformats.org/officeDocument/2006/relationships/tags" Target="../tags/tag143.xml"/><Relationship Id="rId4" Type="http://schemas.openxmlformats.org/officeDocument/2006/relationships/tags" Target="../tags/tag137.xml"/><Relationship Id="rId9" Type="http://schemas.openxmlformats.org/officeDocument/2006/relationships/tags" Target="../tags/tag142.xml"/><Relationship Id="rId14"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 Id="rId6" Type="http://schemas.openxmlformats.org/officeDocument/2006/relationships/image" Target="../media/image1.png"/><Relationship Id="rId5" Type="http://schemas.openxmlformats.org/officeDocument/2006/relationships/slideLayout" Target="../slideLayouts/slideLayout1.xml"/><Relationship Id="rId4" Type="http://schemas.openxmlformats.org/officeDocument/2006/relationships/tags" Target="../tags/tag150.xml"/></Relationships>
</file>

<file path=ppt/slides/_rels/slide11.xml.rels><?xml version="1.0" encoding="UTF-8" standalone="yes"?>
<Relationships xmlns="http://schemas.openxmlformats.org/package/2006/relationships"><Relationship Id="rId8" Type="http://schemas.openxmlformats.org/officeDocument/2006/relationships/tags" Target="../tags/tag158.xml"/><Relationship Id="rId13" Type="http://schemas.openxmlformats.org/officeDocument/2006/relationships/image" Target="../media/image3.png"/><Relationship Id="rId3" Type="http://schemas.openxmlformats.org/officeDocument/2006/relationships/tags" Target="../tags/tag153.xml"/><Relationship Id="rId7" Type="http://schemas.openxmlformats.org/officeDocument/2006/relationships/tags" Target="../tags/tag157.xml"/><Relationship Id="rId12" Type="http://schemas.openxmlformats.org/officeDocument/2006/relationships/image" Target="../media/image4.png"/><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tags" Target="../tags/tag156.xml"/><Relationship Id="rId11" Type="http://schemas.openxmlformats.org/officeDocument/2006/relationships/slideLayout" Target="../slideLayouts/slideLayout1.xml"/><Relationship Id="rId5" Type="http://schemas.openxmlformats.org/officeDocument/2006/relationships/tags" Target="../tags/tag155.xml"/><Relationship Id="rId10" Type="http://schemas.openxmlformats.org/officeDocument/2006/relationships/tags" Target="../tags/tag160.xml"/><Relationship Id="rId4" Type="http://schemas.openxmlformats.org/officeDocument/2006/relationships/tags" Target="../tags/tag154.xml"/><Relationship Id="rId9" Type="http://schemas.openxmlformats.org/officeDocument/2006/relationships/tags" Target="../tags/tag159.xml"/></Relationships>
</file>

<file path=ppt/slides/_rels/slide12.xml.rels><?xml version="1.0" encoding="UTF-8" standalone="yes"?>
<Relationships xmlns="http://schemas.openxmlformats.org/package/2006/relationships"><Relationship Id="rId8" Type="http://schemas.openxmlformats.org/officeDocument/2006/relationships/tags" Target="../tags/tag168.xml"/><Relationship Id="rId13" Type="http://schemas.openxmlformats.org/officeDocument/2006/relationships/image" Target="../media/image3.png"/><Relationship Id="rId3" Type="http://schemas.openxmlformats.org/officeDocument/2006/relationships/tags" Target="../tags/tag163.xml"/><Relationship Id="rId7" Type="http://schemas.openxmlformats.org/officeDocument/2006/relationships/tags" Target="../tags/tag167.xml"/><Relationship Id="rId12" Type="http://schemas.openxmlformats.org/officeDocument/2006/relationships/image" Target="../media/image4.png"/><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tags" Target="../tags/tag166.xml"/><Relationship Id="rId11" Type="http://schemas.openxmlformats.org/officeDocument/2006/relationships/slideLayout" Target="../slideLayouts/slideLayout1.xml"/><Relationship Id="rId5" Type="http://schemas.openxmlformats.org/officeDocument/2006/relationships/tags" Target="../tags/tag165.xml"/><Relationship Id="rId10" Type="http://schemas.openxmlformats.org/officeDocument/2006/relationships/tags" Target="../tags/tag170.xml"/><Relationship Id="rId4" Type="http://schemas.openxmlformats.org/officeDocument/2006/relationships/tags" Target="../tags/tag164.xml"/><Relationship Id="rId9" Type="http://schemas.openxmlformats.org/officeDocument/2006/relationships/tags" Target="../tags/tag169.xml"/></Relationships>
</file>

<file path=ppt/slides/_rels/slide13.xml.rels><?xml version="1.0" encoding="UTF-8" standalone="yes"?>
<Relationships xmlns="http://schemas.openxmlformats.org/package/2006/relationships"><Relationship Id="rId3" Type="http://schemas.openxmlformats.org/officeDocument/2006/relationships/tags" Target="../tags/tag173.xml"/><Relationship Id="rId7" Type="http://schemas.openxmlformats.org/officeDocument/2006/relationships/image" Target="../media/image1.png"/><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notesSlide" Target="../notesSlides/notesSlide2.xml"/><Relationship Id="rId5" Type="http://schemas.openxmlformats.org/officeDocument/2006/relationships/slideLayout" Target="../slideLayouts/slideLayout1.xml"/><Relationship Id="rId4" Type="http://schemas.openxmlformats.org/officeDocument/2006/relationships/tags" Target="../tags/tag174.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76.xml"/><Relationship Id="rId1" Type="http://schemas.openxmlformats.org/officeDocument/2006/relationships/tags" Target="../tags/tag175.xml"/><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3" Type="http://schemas.openxmlformats.org/officeDocument/2006/relationships/tags" Target="../tags/tag179.xml"/><Relationship Id="rId7" Type="http://schemas.openxmlformats.org/officeDocument/2006/relationships/image" Target="../media/image1.png"/><Relationship Id="rId2" Type="http://schemas.openxmlformats.org/officeDocument/2006/relationships/tags" Target="../tags/tag178.xml"/><Relationship Id="rId1" Type="http://schemas.openxmlformats.org/officeDocument/2006/relationships/tags" Target="../tags/tag177.xml"/><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tags" Target="../tags/tag180.xml"/></Relationships>
</file>

<file path=ppt/slides/_rels/slide16.xml.rels><?xml version="1.0" encoding="UTF-8" standalone="yes"?>
<Relationships xmlns="http://schemas.openxmlformats.org/package/2006/relationships"><Relationship Id="rId8" Type="http://schemas.openxmlformats.org/officeDocument/2006/relationships/tags" Target="../tags/tag188.xml"/><Relationship Id="rId13" Type="http://schemas.openxmlformats.org/officeDocument/2006/relationships/slideLayout" Target="../slideLayouts/slideLayout2.xml"/><Relationship Id="rId3" Type="http://schemas.openxmlformats.org/officeDocument/2006/relationships/tags" Target="../tags/tag183.xml"/><Relationship Id="rId7" Type="http://schemas.openxmlformats.org/officeDocument/2006/relationships/tags" Target="../tags/tag187.xml"/><Relationship Id="rId12" Type="http://schemas.openxmlformats.org/officeDocument/2006/relationships/tags" Target="../tags/tag192.xml"/><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tags" Target="../tags/tag186.xml"/><Relationship Id="rId11" Type="http://schemas.openxmlformats.org/officeDocument/2006/relationships/tags" Target="../tags/tag191.xml"/><Relationship Id="rId5" Type="http://schemas.openxmlformats.org/officeDocument/2006/relationships/tags" Target="../tags/tag185.xml"/><Relationship Id="rId15" Type="http://schemas.openxmlformats.org/officeDocument/2006/relationships/image" Target="../media/image3.png"/><Relationship Id="rId10" Type="http://schemas.openxmlformats.org/officeDocument/2006/relationships/tags" Target="../tags/tag190.xml"/><Relationship Id="rId4" Type="http://schemas.openxmlformats.org/officeDocument/2006/relationships/tags" Target="../tags/tag184.xml"/><Relationship Id="rId9" Type="http://schemas.openxmlformats.org/officeDocument/2006/relationships/tags" Target="../tags/tag189.xml"/><Relationship Id="rId14"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8" Type="http://schemas.openxmlformats.org/officeDocument/2006/relationships/tags" Target="../tags/tag200.xml"/><Relationship Id="rId3" Type="http://schemas.openxmlformats.org/officeDocument/2006/relationships/tags" Target="../tags/tag195.xml"/><Relationship Id="rId7" Type="http://schemas.openxmlformats.org/officeDocument/2006/relationships/tags" Target="../tags/tag199.xml"/><Relationship Id="rId12" Type="http://schemas.openxmlformats.org/officeDocument/2006/relationships/image" Target="../media/image3.png"/><Relationship Id="rId2" Type="http://schemas.openxmlformats.org/officeDocument/2006/relationships/tags" Target="../tags/tag194.xml"/><Relationship Id="rId1" Type="http://schemas.openxmlformats.org/officeDocument/2006/relationships/tags" Target="../tags/tag193.xml"/><Relationship Id="rId6" Type="http://schemas.openxmlformats.org/officeDocument/2006/relationships/tags" Target="../tags/tag198.xml"/><Relationship Id="rId11" Type="http://schemas.openxmlformats.org/officeDocument/2006/relationships/notesSlide" Target="../notesSlides/notesSlide6.xml"/><Relationship Id="rId5" Type="http://schemas.openxmlformats.org/officeDocument/2006/relationships/tags" Target="../tags/tag197.xml"/><Relationship Id="rId10" Type="http://schemas.openxmlformats.org/officeDocument/2006/relationships/slideLayout" Target="../slideLayouts/slideLayout2.xml"/><Relationship Id="rId4" Type="http://schemas.openxmlformats.org/officeDocument/2006/relationships/tags" Target="../tags/tag196.xml"/><Relationship Id="rId9" Type="http://schemas.openxmlformats.org/officeDocument/2006/relationships/tags" Target="../tags/tag201.xml"/></Relationships>
</file>

<file path=ppt/slides/_rels/slide18.xml.rels><?xml version="1.0" encoding="UTF-8" standalone="yes"?>
<Relationships xmlns="http://schemas.openxmlformats.org/package/2006/relationships"><Relationship Id="rId8" Type="http://schemas.openxmlformats.org/officeDocument/2006/relationships/tags" Target="../tags/tag209.xml"/><Relationship Id="rId13" Type="http://schemas.openxmlformats.org/officeDocument/2006/relationships/slideLayout" Target="../slideLayouts/slideLayout2.xml"/><Relationship Id="rId3" Type="http://schemas.openxmlformats.org/officeDocument/2006/relationships/tags" Target="../tags/tag204.xml"/><Relationship Id="rId7" Type="http://schemas.openxmlformats.org/officeDocument/2006/relationships/tags" Target="../tags/tag208.xml"/><Relationship Id="rId12" Type="http://schemas.openxmlformats.org/officeDocument/2006/relationships/tags" Target="../tags/tag213.xml"/><Relationship Id="rId2" Type="http://schemas.openxmlformats.org/officeDocument/2006/relationships/tags" Target="../tags/tag203.xml"/><Relationship Id="rId16" Type="http://schemas.openxmlformats.org/officeDocument/2006/relationships/image" Target="../media/image3.png"/><Relationship Id="rId1" Type="http://schemas.openxmlformats.org/officeDocument/2006/relationships/tags" Target="../tags/tag202.xml"/><Relationship Id="rId6" Type="http://schemas.openxmlformats.org/officeDocument/2006/relationships/tags" Target="../tags/tag207.xml"/><Relationship Id="rId11" Type="http://schemas.openxmlformats.org/officeDocument/2006/relationships/tags" Target="../tags/tag212.xml"/><Relationship Id="rId5" Type="http://schemas.openxmlformats.org/officeDocument/2006/relationships/tags" Target="../tags/tag206.xml"/><Relationship Id="rId15" Type="http://schemas.openxmlformats.org/officeDocument/2006/relationships/image" Target="../media/image9.png"/><Relationship Id="rId10" Type="http://schemas.openxmlformats.org/officeDocument/2006/relationships/tags" Target="../tags/tag211.xml"/><Relationship Id="rId4" Type="http://schemas.openxmlformats.org/officeDocument/2006/relationships/tags" Target="../tags/tag205.xml"/><Relationship Id="rId9" Type="http://schemas.openxmlformats.org/officeDocument/2006/relationships/tags" Target="../tags/tag210.xml"/><Relationship Id="rId14"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3" Type="http://schemas.openxmlformats.org/officeDocument/2006/relationships/tags" Target="../tags/tag216.xml"/><Relationship Id="rId7" Type="http://schemas.openxmlformats.org/officeDocument/2006/relationships/image" Target="../media/image1.png"/><Relationship Id="rId2" Type="http://schemas.openxmlformats.org/officeDocument/2006/relationships/tags" Target="../tags/tag215.xml"/><Relationship Id="rId1" Type="http://schemas.openxmlformats.org/officeDocument/2006/relationships/tags" Target="../tags/tag214.xml"/><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tags" Target="../tags/tag217.xml"/></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220.xml"/><Relationship Id="rId7" Type="http://schemas.openxmlformats.org/officeDocument/2006/relationships/tags" Target="../tags/tag224.xml"/><Relationship Id="rId12" Type="http://schemas.openxmlformats.org/officeDocument/2006/relationships/image" Target="../media/image11.png"/><Relationship Id="rId2" Type="http://schemas.openxmlformats.org/officeDocument/2006/relationships/tags" Target="../tags/tag219.xml"/><Relationship Id="rId1" Type="http://schemas.openxmlformats.org/officeDocument/2006/relationships/tags" Target="../tags/tag218.xml"/><Relationship Id="rId6" Type="http://schemas.openxmlformats.org/officeDocument/2006/relationships/tags" Target="../tags/tag223.xml"/><Relationship Id="rId11" Type="http://schemas.openxmlformats.org/officeDocument/2006/relationships/image" Target="../media/image10.png"/><Relationship Id="rId5" Type="http://schemas.openxmlformats.org/officeDocument/2006/relationships/tags" Target="../tags/tag222.xml"/><Relationship Id="rId10" Type="http://schemas.openxmlformats.org/officeDocument/2006/relationships/image" Target="../media/image3.png"/><Relationship Id="rId4" Type="http://schemas.openxmlformats.org/officeDocument/2006/relationships/tags" Target="../tags/tag221.xml"/><Relationship Id="rId9" Type="http://schemas.openxmlformats.org/officeDocument/2006/relationships/notesSlide" Target="../notesSlides/notesSlide9.xml"/></Relationships>
</file>

<file path=ppt/slides/_rels/slide2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227.xml"/><Relationship Id="rId7" Type="http://schemas.openxmlformats.org/officeDocument/2006/relationships/image" Target="../media/image12.png"/><Relationship Id="rId2" Type="http://schemas.openxmlformats.org/officeDocument/2006/relationships/tags" Target="../tags/tag226.xml"/><Relationship Id="rId1" Type="http://schemas.openxmlformats.org/officeDocument/2006/relationships/tags" Target="../tags/tag225.xml"/><Relationship Id="rId6" Type="http://schemas.openxmlformats.org/officeDocument/2006/relationships/image" Target="../media/image3.png"/><Relationship Id="rId5" Type="http://schemas.openxmlformats.org/officeDocument/2006/relationships/notesSlide" Target="../notesSlides/notesSlide10.xml"/><Relationship Id="rId4"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8" Type="http://schemas.openxmlformats.org/officeDocument/2006/relationships/tags" Target="../tags/tag235.xml"/><Relationship Id="rId13" Type="http://schemas.openxmlformats.org/officeDocument/2006/relationships/slideLayout" Target="../slideLayouts/slideLayout1.xml"/><Relationship Id="rId3" Type="http://schemas.openxmlformats.org/officeDocument/2006/relationships/tags" Target="../tags/tag230.xml"/><Relationship Id="rId7" Type="http://schemas.openxmlformats.org/officeDocument/2006/relationships/tags" Target="../tags/tag234.xml"/><Relationship Id="rId12" Type="http://schemas.openxmlformats.org/officeDocument/2006/relationships/tags" Target="../tags/tag239.xml"/><Relationship Id="rId2" Type="http://schemas.openxmlformats.org/officeDocument/2006/relationships/tags" Target="../tags/tag229.xml"/><Relationship Id="rId16" Type="http://schemas.openxmlformats.org/officeDocument/2006/relationships/image" Target="../media/image14.png"/><Relationship Id="rId1" Type="http://schemas.openxmlformats.org/officeDocument/2006/relationships/tags" Target="../tags/tag228.xml"/><Relationship Id="rId6" Type="http://schemas.openxmlformats.org/officeDocument/2006/relationships/tags" Target="../tags/tag233.xml"/><Relationship Id="rId11" Type="http://schemas.openxmlformats.org/officeDocument/2006/relationships/tags" Target="../tags/tag238.xml"/><Relationship Id="rId5" Type="http://schemas.openxmlformats.org/officeDocument/2006/relationships/tags" Target="../tags/tag232.xml"/><Relationship Id="rId15" Type="http://schemas.openxmlformats.org/officeDocument/2006/relationships/image" Target="../media/image3.png"/><Relationship Id="rId10" Type="http://schemas.openxmlformats.org/officeDocument/2006/relationships/tags" Target="../tags/tag237.xml"/><Relationship Id="rId4" Type="http://schemas.openxmlformats.org/officeDocument/2006/relationships/tags" Target="../tags/tag231.xml"/><Relationship Id="rId9" Type="http://schemas.openxmlformats.org/officeDocument/2006/relationships/tags" Target="../tags/tag236.xml"/><Relationship Id="rId14"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 Id="rId6" Type="http://schemas.openxmlformats.org/officeDocument/2006/relationships/image" Target="../media/image1.png"/><Relationship Id="rId5" Type="http://schemas.openxmlformats.org/officeDocument/2006/relationships/notesSlide" Target="../notesSlides/notesSlide12.xml"/><Relationship Id="rId4"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243.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244.xml"/><Relationship Id="rId5" Type="http://schemas.openxmlformats.org/officeDocument/2006/relationships/image" Target="../media/image3.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首页"/>
          <p:cNvPicPr>
            <a:picLocks noChangeAspect="1"/>
          </p:cNvPicPr>
          <p:nvPr/>
        </p:nvPicPr>
        <p:blipFill>
          <a:blip r:embed="rId3"/>
          <a:stretch>
            <a:fillRect/>
          </a:stretch>
        </p:blipFill>
        <p:spPr>
          <a:xfrm>
            <a:off x="0" y="0"/>
            <a:ext cx="12192000" cy="6858000"/>
          </a:xfrm>
          <a:prstGeom prst="rect">
            <a:avLst/>
          </a:prstGeom>
        </p:spPr>
      </p:pic>
      <p:sp>
        <p:nvSpPr>
          <p:cNvPr id="8" name="文本框 7"/>
          <p:cNvSpPr txBox="1"/>
          <p:nvPr/>
        </p:nvSpPr>
        <p:spPr>
          <a:xfrm>
            <a:off x="876300" y="2520000"/>
            <a:ext cx="10439400" cy="737235"/>
          </a:xfrm>
          <a:prstGeom prst="rect">
            <a:avLst/>
          </a:prstGeom>
          <a:noFill/>
        </p:spPr>
        <p:txBody>
          <a:bodyPr wrap="square" rtlCol="0">
            <a:spAutoFit/>
          </a:bodyPr>
          <a:lstStyle/>
          <a:p>
            <a:pPr algn="ctr"/>
            <a:r>
              <a:rPr lang="zh-CN" altLang="en-US" sz="4200" dirty="0">
                <a:solidFill>
                  <a:srgbClr val="142DA8"/>
                </a:solidFill>
                <a:latin typeface="Alimama ShuHeiTi Bold" charset="-122"/>
                <a:ea typeface="Alimama ShuHeiTi Bold" charset="-122"/>
              </a:rPr>
              <a:t>第十届全国大学生集成电路创新创业大赛</a:t>
            </a:r>
          </a:p>
        </p:txBody>
      </p:sp>
      <p:pic>
        <p:nvPicPr>
          <p:cNvPr id="9" name="图片 8" descr="集创赛黑字"/>
          <p:cNvPicPr>
            <a:picLocks noChangeAspect="1"/>
          </p:cNvPicPr>
          <p:nvPr/>
        </p:nvPicPr>
        <p:blipFill>
          <a:blip r:embed="rId4"/>
          <a:stretch>
            <a:fillRect/>
          </a:stretch>
        </p:blipFill>
        <p:spPr>
          <a:xfrm>
            <a:off x="5448000" y="1080000"/>
            <a:ext cx="1296000" cy="1296000"/>
          </a:xfrm>
          <a:prstGeom prst="rect">
            <a:avLst/>
          </a:prstGeom>
        </p:spPr>
      </p:pic>
      <p:sp>
        <p:nvSpPr>
          <p:cNvPr id="11" name="圆角矩形 10"/>
          <p:cNvSpPr/>
          <p:nvPr/>
        </p:nvSpPr>
        <p:spPr>
          <a:xfrm>
            <a:off x="3842237" y="3420000"/>
            <a:ext cx="4826977" cy="540000"/>
          </a:xfrm>
          <a:prstGeom prst="roundRect">
            <a:avLst>
              <a:gd name="adj" fmla="val 15518"/>
            </a:avLst>
          </a:prstGeom>
          <a:solidFill>
            <a:schemeClr val="bg1"/>
          </a:solidFill>
          <a:ln w="25400">
            <a:solidFill>
              <a:srgbClr val="142DA8"/>
            </a:solidFill>
          </a:ln>
        </p:spPr>
        <p:style>
          <a:lnRef idx="2">
            <a:schemeClr val="accent1">
              <a:lumMod val="75000"/>
            </a:schemeClr>
          </a:lnRef>
          <a:fillRef idx="1">
            <a:schemeClr val="accent1"/>
          </a:fillRef>
          <a:effectRef idx="0">
            <a:srgbClr val="FFFFFF"/>
          </a:effectRef>
          <a:fontRef idx="minor">
            <a:schemeClr val="lt1"/>
          </a:fontRef>
        </p:style>
        <p:txBody>
          <a:bodyPr tIns="144145" rtlCol="0" anchor="ctr"/>
          <a:lstStyle/>
          <a:p>
            <a:pPr algn="ctr"/>
            <a:endParaRPr lang="zh-CN" altLang="en-US"/>
          </a:p>
        </p:txBody>
      </p:sp>
      <p:sp>
        <p:nvSpPr>
          <p:cNvPr id="12" name="文本框 11"/>
          <p:cNvSpPr txBox="1"/>
          <p:nvPr/>
        </p:nvSpPr>
        <p:spPr>
          <a:xfrm>
            <a:off x="3842238" y="3420110"/>
            <a:ext cx="4826976" cy="553998"/>
          </a:xfrm>
          <a:prstGeom prst="rect">
            <a:avLst/>
          </a:prstGeom>
          <a:noFill/>
        </p:spPr>
        <p:txBody>
          <a:bodyPr wrap="square" rtlCol="0">
            <a:spAutoFit/>
          </a:bodyPr>
          <a:lstStyle/>
          <a:p>
            <a:pPr algn="ctr"/>
            <a:r>
              <a:rPr lang="en-US" altLang="zh-CN" sz="3000" dirty="0">
                <a:solidFill>
                  <a:srgbClr val="142DA8"/>
                </a:solidFill>
                <a:latin typeface="微软雅黑" panose="020B0503020204020204" pitchFamily="34" charset="-122"/>
                <a:ea typeface="微软雅黑" panose="020B0503020204020204" pitchFamily="34" charset="-122"/>
              </a:rPr>
              <a:t>“</a:t>
            </a:r>
            <a:r>
              <a:rPr lang="zh-CN" altLang="en-US" sz="3000" dirty="0">
                <a:solidFill>
                  <a:srgbClr val="142DA8"/>
                </a:solidFill>
                <a:latin typeface="微软雅黑" panose="020B0503020204020204" pitchFamily="34" charset="-122"/>
                <a:ea typeface="微软雅黑" panose="020B0503020204020204" pitchFamily="34" charset="-122"/>
              </a:rPr>
              <a:t>紫光同创</a:t>
            </a:r>
            <a:r>
              <a:rPr lang="en-US" altLang="zh-CN" sz="3000" dirty="0">
                <a:solidFill>
                  <a:srgbClr val="142DA8"/>
                </a:solidFill>
                <a:latin typeface="微软雅黑" panose="020B0503020204020204" pitchFamily="34" charset="-122"/>
                <a:ea typeface="微软雅黑" panose="020B0503020204020204" pitchFamily="34" charset="-122"/>
              </a:rPr>
              <a:t>”</a:t>
            </a:r>
            <a:r>
              <a:rPr lang="zh-CN" altLang="en-US" sz="3000" dirty="0">
                <a:solidFill>
                  <a:srgbClr val="142DA8"/>
                </a:solidFill>
                <a:latin typeface="微软雅黑" panose="020B0503020204020204" pitchFamily="34" charset="-122"/>
                <a:ea typeface="微软雅黑" panose="020B0503020204020204" pitchFamily="34" charset="-122"/>
              </a:rPr>
              <a:t>企业命题</a:t>
            </a:r>
          </a:p>
        </p:txBody>
      </p:sp>
      <p:sp>
        <p:nvSpPr>
          <p:cNvPr id="14" name="圆角矩形 13"/>
          <p:cNvSpPr/>
          <p:nvPr/>
        </p:nvSpPr>
        <p:spPr>
          <a:xfrm>
            <a:off x="4368800" y="5039995"/>
            <a:ext cx="3404235" cy="360045"/>
          </a:xfrm>
          <a:prstGeom prst="roundRect">
            <a:avLst>
              <a:gd name="adj" fmla="val 50000"/>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1400" dirty="0"/>
              <a:t>CICC1000270</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集创赛1"/>
          <p:cNvPicPr>
            <a:picLocks noChangeAspect="1"/>
          </p:cNvPicPr>
          <p:nvPr/>
        </p:nvPicPr>
        <p:blipFill>
          <a:blip r:embed="rId13"/>
          <a:stretch>
            <a:fillRect/>
          </a:stretch>
        </p:blipFill>
        <p:spPr>
          <a:xfrm>
            <a:off x="900000" y="0"/>
            <a:ext cx="2016000" cy="1260000"/>
          </a:xfrm>
          <a:prstGeom prst="rect">
            <a:avLst/>
          </a:prstGeom>
        </p:spPr>
      </p:pic>
      <p:sp>
        <p:nvSpPr>
          <p:cNvPr id="10" name="组合 33"/>
          <p:cNvSpPr/>
          <p:nvPr/>
        </p:nvSpPr>
        <p:spPr>
          <a:xfrm>
            <a:off x="3420110" y="720090"/>
            <a:ext cx="5351780" cy="53975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dirty="0">
                <a:latin typeface="微软雅黑" panose="020B0503020204020204" pitchFamily="34" charset="-122"/>
                <a:ea typeface="微软雅黑" panose="020B0503020204020204" pitchFamily="34" charset="-122"/>
              </a:rPr>
              <a:t>作品重要亮点预览页</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98DCBCC0-4485-32F2-E6F2-2D52B352A64E}"/>
              </a:ext>
            </a:extLst>
          </p:cNvPr>
          <p:cNvGrpSpPr/>
          <p:nvPr/>
        </p:nvGrpSpPr>
        <p:grpSpPr>
          <a:xfrm>
            <a:off x="6851368" y="3266202"/>
            <a:ext cx="3841046" cy="1103016"/>
            <a:chOff x="1118671" y="1518093"/>
            <a:chExt cx="4915732" cy="1103016"/>
          </a:xfrm>
        </p:grpSpPr>
        <p:sp>
          <p:nvSpPr>
            <p:cNvPr id="4" name="矩形: 圆角 19">
              <a:extLst>
                <a:ext uri="{FF2B5EF4-FFF2-40B4-BE49-F238E27FC236}">
                  <a16:creationId xmlns:a16="http://schemas.microsoft.com/office/drawing/2014/main" id="{D6C584C8-DC4E-AA06-7C13-D8B22BA7F6B9}"/>
                </a:ext>
              </a:extLst>
            </p:cNvPr>
            <p:cNvSpPr/>
            <p:nvPr>
              <p:custDataLst>
                <p:tags r:id="rId8"/>
              </p:custDataLst>
            </p:nvPr>
          </p:nvSpPr>
          <p:spPr>
            <a:xfrm>
              <a:off x="1118671" y="1518093"/>
              <a:ext cx="4915731" cy="1103016"/>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5" name="文本框 17">
              <a:extLst>
                <a:ext uri="{FF2B5EF4-FFF2-40B4-BE49-F238E27FC236}">
                  <a16:creationId xmlns:a16="http://schemas.microsoft.com/office/drawing/2014/main" id="{A9389699-6401-5A6E-2676-EAAA78728A22}"/>
                </a:ext>
              </a:extLst>
            </p:cNvPr>
            <p:cNvSpPr txBox="1"/>
            <p:nvPr>
              <p:custDataLst>
                <p:tags r:id="rId9"/>
              </p:custDataLst>
            </p:nvPr>
          </p:nvSpPr>
          <p:spPr>
            <a:xfrm>
              <a:off x="1632161" y="1603036"/>
              <a:ext cx="4231561"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latin typeface="微软雅黑" panose="020B0503020204020204" pitchFamily="34" charset="-122"/>
                  <a:ea typeface="微软雅黑" panose="020B0503020204020204" pitchFamily="34" charset="-122"/>
                </a:rPr>
                <a:t>软硬件深度协同</a:t>
              </a:r>
              <a:endParaRPr lang="zh-CN" dirty="0">
                <a:latin typeface="微软雅黑" panose="020B0503020204020204" pitchFamily="34" charset="-122"/>
                <a:ea typeface="微软雅黑" panose="020B0503020204020204" pitchFamily="34" charset="-122"/>
              </a:endParaRPr>
            </a:p>
          </p:txBody>
        </p:sp>
        <p:sp>
          <p:nvSpPr>
            <p:cNvPr id="6" name="文本框 18">
              <a:extLst>
                <a:ext uri="{FF2B5EF4-FFF2-40B4-BE49-F238E27FC236}">
                  <a16:creationId xmlns:a16="http://schemas.microsoft.com/office/drawing/2014/main" id="{4495C8B0-1702-E3ED-DDA3-39C99BF8545E}"/>
                </a:ext>
              </a:extLst>
            </p:cNvPr>
            <p:cNvSpPr txBox="1"/>
            <p:nvPr>
              <p:custDataLst>
                <p:tags r:id="rId10"/>
              </p:custDataLst>
            </p:nvPr>
          </p:nvSpPr>
          <p:spPr>
            <a:xfrm>
              <a:off x="1370673" y="1929488"/>
              <a:ext cx="4663730" cy="61369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latin typeface="微软雅黑" panose="020B0503020204020204" pitchFamily="34" charset="-122"/>
                  <a:ea typeface="微软雅黑" panose="020B0503020204020204" pitchFamily="34" charset="-122"/>
                </a:rPr>
                <a:t>多种类型</a:t>
              </a:r>
              <a:r>
                <a:rPr lang="en-US" altLang="zh-CN" sz="1200" dirty="0">
                  <a:solidFill>
                    <a:schemeClr val="tx2"/>
                  </a:solidFill>
                  <a:latin typeface="微软雅黑" panose="020B0503020204020204" pitchFamily="34" charset="-122"/>
                  <a:ea typeface="微软雅黑" panose="020B0503020204020204" pitchFamily="34" charset="-122"/>
                </a:rPr>
                <a:t>bit</a:t>
              </a:r>
              <a:r>
                <a:rPr lang="zh-CN" altLang="en-US" sz="1200" dirty="0">
                  <a:solidFill>
                    <a:schemeClr val="tx2"/>
                  </a:solidFill>
                  <a:latin typeface="微软雅黑" panose="020B0503020204020204" pitchFamily="34" charset="-122"/>
                  <a:ea typeface="微软雅黑" panose="020B0503020204020204" pitchFamily="34" charset="-122"/>
                </a:rPr>
                <a:t>量化、模型分支裁剪，配合硬件上的优秀流水线脉动阵列卷积架构设计，高效利用硬件资源。</a:t>
              </a:r>
              <a:endParaRPr lang="en-US" altLang="zh-CN" sz="1200" dirty="0">
                <a:solidFill>
                  <a:schemeClr val="tx2"/>
                </a:solidFill>
                <a:latin typeface="微软雅黑" panose="020B0503020204020204" pitchFamily="34" charset="-122"/>
                <a:ea typeface="微软雅黑" panose="020B0503020204020204" pitchFamily="34" charset="-122"/>
              </a:endParaRPr>
            </a:p>
          </p:txBody>
        </p:sp>
        <p:sp>
          <p:nvSpPr>
            <p:cNvPr id="7" name="椭圆 14">
              <a:extLst>
                <a:ext uri="{FF2B5EF4-FFF2-40B4-BE49-F238E27FC236}">
                  <a16:creationId xmlns:a16="http://schemas.microsoft.com/office/drawing/2014/main" id="{565521DA-5D72-C79B-8E5E-4E07AD9C8F6E}"/>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grpSp>
        <p:nvGrpSpPr>
          <p:cNvPr id="8" name="组合 7">
            <a:extLst>
              <a:ext uri="{FF2B5EF4-FFF2-40B4-BE49-F238E27FC236}">
                <a16:creationId xmlns:a16="http://schemas.microsoft.com/office/drawing/2014/main" id="{3BC7B527-DA98-F439-25C4-1F7CC3F06D9F}"/>
              </a:ext>
            </a:extLst>
          </p:cNvPr>
          <p:cNvGrpSpPr/>
          <p:nvPr/>
        </p:nvGrpSpPr>
        <p:grpSpPr>
          <a:xfrm>
            <a:off x="6851366" y="4574915"/>
            <a:ext cx="3841046" cy="1650222"/>
            <a:chOff x="1118671" y="1518093"/>
            <a:chExt cx="4915732" cy="1650222"/>
          </a:xfrm>
        </p:grpSpPr>
        <p:sp>
          <p:nvSpPr>
            <p:cNvPr id="9" name="矩形: 圆角 19">
              <a:extLst>
                <a:ext uri="{FF2B5EF4-FFF2-40B4-BE49-F238E27FC236}">
                  <a16:creationId xmlns:a16="http://schemas.microsoft.com/office/drawing/2014/main" id="{430B9939-26EF-AF2A-69A5-E6569F4F42FD}"/>
                </a:ext>
              </a:extLst>
            </p:cNvPr>
            <p:cNvSpPr/>
            <p:nvPr>
              <p:custDataLst>
                <p:tags r:id="rId5"/>
              </p:custDataLst>
            </p:nvPr>
          </p:nvSpPr>
          <p:spPr>
            <a:xfrm>
              <a:off x="1118671" y="1518093"/>
              <a:ext cx="4915731" cy="1650222"/>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11" name="文本框 17">
              <a:extLst>
                <a:ext uri="{FF2B5EF4-FFF2-40B4-BE49-F238E27FC236}">
                  <a16:creationId xmlns:a16="http://schemas.microsoft.com/office/drawing/2014/main" id="{38E063BA-5EDF-282A-127E-55E18E5486F7}"/>
                </a:ext>
              </a:extLst>
            </p:cNvPr>
            <p:cNvSpPr txBox="1"/>
            <p:nvPr>
              <p:custDataLst>
                <p:tags r:id="rId6"/>
              </p:custDataLst>
            </p:nvPr>
          </p:nvSpPr>
          <p:spPr>
            <a:xfrm>
              <a:off x="1632161" y="1603036"/>
              <a:ext cx="4231561"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latin typeface="微软雅黑" panose="020B0503020204020204" pitchFamily="34" charset="-122"/>
                  <a:ea typeface="微软雅黑" panose="020B0503020204020204" pitchFamily="34" charset="-122"/>
                </a:rPr>
                <a:t>定制全流水线计算单元</a:t>
              </a:r>
              <a:endParaRPr lang="zh-CN" dirty="0">
                <a:latin typeface="微软雅黑" panose="020B0503020204020204" pitchFamily="34" charset="-122"/>
                <a:ea typeface="微软雅黑" panose="020B0503020204020204" pitchFamily="34" charset="-122"/>
              </a:endParaRPr>
            </a:p>
          </p:txBody>
        </p:sp>
        <p:sp>
          <p:nvSpPr>
            <p:cNvPr id="12" name="文本框 18">
              <a:extLst>
                <a:ext uri="{FF2B5EF4-FFF2-40B4-BE49-F238E27FC236}">
                  <a16:creationId xmlns:a16="http://schemas.microsoft.com/office/drawing/2014/main" id="{E6601E71-DC14-4B8C-D221-1BE2A27FCB36}"/>
                </a:ext>
              </a:extLst>
            </p:cNvPr>
            <p:cNvSpPr txBox="1"/>
            <p:nvPr>
              <p:custDataLst>
                <p:tags r:id="rId7"/>
              </p:custDataLst>
            </p:nvPr>
          </p:nvSpPr>
          <p:spPr>
            <a:xfrm>
              <a:off x="1370673" y="1929488"/>
              <a:ext cx="4663730" cy="1167692"/>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latin typeface="微软雅黑" panose="020B0503020204020204" pitchFamily="34" charset="-122"/>
                  <a:ea typeface="微软雅黑" panose="020B0503020204020204" pitchFamily="34" charset="-122"/>
                </a:rPr>
                <a:t>创新性地采用了三维结构、分时复用的脉动阵列设计，基础处理单元阵列结构规整，数据复用率极高，优化了布局布线时序，显著提升了系统的最高工作频率与推理吞吐量，显著降低推理延迟。</a:t>
              </a:r>
              <a:endParaRPr lang="en-US" altLang="zh-CN" sz="1200" dirty="0">
                <a:solidFill>
                  <a:schemeClr val="tx2"/>
                </a:solidFill>
                <a:latin typeface="微软雅黑" panose="020B0503020204020204" pitchFamily="34" charset="-122"/>
                <a:ea typeface="微软雅黑" panose="020B0503020204020204" pitchFamily="34" charset="-122"/>
              </a:endParaRPr>
            </a:p>
          </p:txBody>
        </p:sp>
        <p:sp>
          <p:nvSpPr>
            <p:cNvPr id="13" name="椭圆 14">
              <a:extLst>
                <a:ext uri="{FF2B5EF4-FFF2-40B4-BE49-F238E27FC236}">
                  <a16:creationId xmlns:a16="http://schemas.microsoft.com/office/drawing/2014/main" id="{9BB0995A-5B37-5762-6B1F-1C401F551731}"/>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grpSp>
        <p:nvGrpSpPr>
          <p:cNvPr id="14" name="组合 13">
            <a:extLst>
              <a:ext uri="{FF2B5EF4-FFF2-40B4-BE49-F238E27FC236}">
                <a16:creationId xmlns:a16="http://schemas.microsoft.com/office/drawing/2014/main" id="{D437C4E7-1417-5E47-FC50-46127349D6BA}"/>
              </a:ext>
            </a:extLst>
          </p:cNvPr>
          <p:cNvGrpSpPr/>
          <p:nvPr/>
        </p:nvGrpSpPr>
        <p:grpSpPr>
          <a:xfrm>
            <a:off x="6851367" y="1957489"/>
            <a:ext cx="3841046" cy="1103016"/>
            <a:chOff x="1118671" y="1518093"/>
            <a:chExt cx="4915732" cy="1103016"/>
          </a:xfrm>
        </p:grpSpPr>
        <p:sp>
          <p:nvSpPr>
            <p:cNvPr id="15" name="矩形: 圆角 19">
              <a:extLst>
                <a:ext uri="{FF2B5EF4-FFF2-40B4-BE49-F238E27FC236}">
                  <a16:creationId xmlns:a16="http://schemas.microsoft.com/office/drawing/2014/main" id="{108F6C55-7D5C-1371-16C2-E1F17E494108}"/>
                </a:ext>
              </a:extLst>
            </p:cNvPr>
            <p:cNvSpPr/>
            <p:nvPr>
              <p:custDataLst>
                <p:tags r:id="rId2"/>
              </p:custDataLst>
            </p:nvPr>
          </p:nvSpPr>
          <p:spPr>
            <a:xfrm>
              <a:off x="1118671" y="1518093"/>
              <a:ext cx="4915731" cy="1103016"/>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16" name="文本框 17">
              <a:extLst>
                <a:ext uri="{FF2B5EF4-FFF2-40B4-BE49-F238E27FC236}">
                  <a16:creationId xmlns:a16="http://schemas.microsoft.com/office/drawing/2014/main" id="{32D08C68-F6EF-B2E8-FB28-D748A2DAC2F9}"/>
                </a:ext>
              </a:extLst>
            </p:cNvPr>
            <p:cNvSpPr txBox="1"/>
            <p:nvPr>
              <p:custDataLst>
                <p:tags r:id="rId3"/>
              </p:custDataLst>
            </p:nvPr>
          </p:nvSpPr>
          <p:spPr>
            <a:xfrm>
              <a:off x="1632161" y="1603036"/>
              <a:ext cx="4231561"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latin typeface="微软雅黑" panose="020B0503020204020204" pitchFamily="34" charset="-122"/>
                  <a:ea typeface="微软雅黑" panose="020B0503020204020204" pitchFamily="34" charset="-122"/>
                </a:rPr>
                <a:t>双网络单</a:t>
              </a:r>
              <a:r>
                <a:rPr lang="en-US" altLang="zh-CN" dirty="0">
                  <a:latin typeface="微软雅黑" panose="020B0503020204020204" pitchFamily="34" charset="-122"/>
                  <a:ea typeface="微软雅黑" panose="020B0503020204020204" pitchFamily="34" charset="-122"/>
                </a:rPr>
                <a:t>FPGA</a:t>
              </a:r>
              <a:r>
                <a:rPr lang="zh-CN" altLang="en-US" dirty="0">
                  <a:latin typeface="微软雅黑" panose="020B0503020204020204" pitchFamily="34" charset="-122"/>
                  <a:ea typeface="微软雅黑" panose="020B0503020204020204" pitchFamily="34" charset="-122"/>
                </a:rPr>
                <a:t>实现</a:t>
              </a:r>
              <a:endParaRPr lang="zh-CN" dirty="0">
                <a:latin typeface="微软雅黑" panose="020B0503020204020204" pitchFamily="34" charset="-122"/>
                <a:ea typeface="微软雅黑" panose="020B0503020204020204" pitchFamily="34" charset="-122"/>
              </a:endParaRPr>
            </a:p>
          </p:txBody>
        </p:sp>
        <p:sp>
          <p:nvSpPr>
            <p:cNvPr id="17" name="文本框 18">
              <a:extLst>
                <a:ext uri="{FF2B5EF4-FFF2-40B4-BE49-F238E27FC236}">
                  <a16:creationId xmlns:a16="http://schemas.microsoft.com/office/drawing/2014/main" id="{1973D282-9243-1F12-B33C-7A2CB2E04BB2}"/>
                </a:ext>
              </a:extLst>
            </p:cNvPr>
            <p:cNvSpPr txBox="1"/>
            <p:nvPr>
              <p:custDataLst>
                <p:tags r:id="rId4"/>
              </p:custDataLst>
            </p:nvPr>
          </p:nvSpPr>
          <p:spPr>
            <a:xfrm>
              <a:off x="1370673" y="1929488"/>
              <a:ext cx="4663730" cy="61369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latin typeface="微软雅黑" panose="020B0503020204020204" pitchFamily="34" charset="-122"/>
                  <a:ea typeface="微软雅黑" panose="020B0503020204020204" pitchFamily="34" charset="-122"/>
                </a:rPr>
                <a:t>目标定位模型（</a:t>
              </a:r>
              <a:r>
                <a:rPr lang="en-US" altLang="zh-CN" sz="1200" dirty="0">
                  <a:solidFill>
                    <a:schemeClr val="tx2"/>
                  </a:solidFill>
                  <a:latin typeface="微软雅黑" panose="020B0503020204020204" pitchFamily="34" charset="-122"/>
                  <a:ea typeface="微软雅黑" panose="020B0503020204020204" pitchFamily="34" charset="-122"/>
                </a:rPr>
                <a:t>YOLO</a:t>
              </a:r>
              <a:r>
                <a:rPr lang="zh-CN" altLang="en-US" sz="1200" dirty="0">
                  <a:solidFill>
                    <a:schemeClr val="tx2"/>
                  </a:solidFill>
                  <a:latin typeface="微软雅黑" panose="020B0503020204020204" pitchFamily="34" charset="-122"/>
                  <a:ea typeface="微软雅黑" panose="020B0503020204020204" pitchFamily="34" charset="-122"/>
                </a:rPr>
                <a:t>）与序列识别模型（</a:t>
              </a:r>
              <a:r>
                <a:rPr lang="en-US" altLang="zh-CN" sz="1200" dirty="0" err="1">
                  <a:solidFill>
                    <a:schemeClr val="tx2"/>
                  </a:solidFill>
                  <a:latin typeface="微软雅黑" panose="020B0503020204020204" pitchFamily="34" charset="-122"/>
                  <a:ea typeface="微软雅黑" panose="020B0503020204020204" pitchFamily="34" charset="-122"/>
                </a:rPr>
                <a:t>LPRNet</a:t>
              </a:r>
              <a:r>
                <a:rPr lang="zh-CN" altLang="en-US" sz="1200" dirty="0">
                  <a:solidFill>
                    <a:schemeClr val="tx2"/>
                  </a:solidFill>
                  <a:latin typeface="微软雅黑" panose="020B0503020204020204" pitchFamily="34" charset="-122"/>
                  <a:ea typeface="微软雅黑" panose="020B0503020204020204" pitchFamily="34" charset="-122"/>
                </a:rPr>
                <a:t>）轻量化设计，纯</a:t>
              </a:r>
              <a:r>
                <a:rPr lang="en-US" altLang="zh-CN" sz="1200" dirty="0">
                  <a:solidFill>
                    <a:schemeClr val="tx2"/>
                  </a:solidFill>
                  <a:latin typeface="微软雅黑" panose="020B0503020204020204" pitchFamily="34" charset="-122"/>
                  <a:ea typeface="微软雅黑" panose="020B0503020204020204" pitchFamily="34" charset="-122"/>
                </a:rPr>
                <a:t>Verilog</a:t>
              </a:r>
              <a:r>
                <a:rPr lang="zh-CN" altLang="en-US" sz="1200" dirty="0">
                  <a:solidFill>
                    <a:schemeClr val="tx2"/>
                  </a:solidFill>
                  <a:latin typeface="微软雅黑" panose="020B0503020204020204" pitchFamily="34" charset="-122"/>
                  <a:ea typeface="微软雅黑" panose="020B0503020204020204" pitchFamily="34" charset="-122"/>
                </a:rPr>
                <a:t>单芯片（</a:t>
              </a:r>
              <a:r>
                <a:rPr lang="en-US" altLang="zh-CN" sz="1200" dirty="0">
                  <a:solidFill>
                    <a:schemeClr val="tx2"/>
                  </a:solidFill>
                  <a:latin typeface="微软雅黑" panose="020B0503020204020204" pitchFamily="34" charset="-122"/>
                  <a:ea typeface="微软雅黑" panose="020B0503020204020204" pitchFamily="34" charset="-122"/>
                </a:rPr>
                <a:t>PG2L200H</a:t>
              </a:r>
              <a:r>
                <a:rPr lang="zh-CN" altLang="en-US" sz="1200" dirty="0">
                  <a:solidFill>
                    <a:schemeClr val="tx2"/>
                  </a:solidFill>
                  <a:latin typeface="微软雅黑" panose="020B0503020204020204" pitchFamily="34" charset="-122"/>
                  <a:ea typeface="微软雅黑" panose="020B0503020204020204" pitchFamily="34" charset="-122"/>
                </a:rPr>
                <a:t>）实现。</a:t>
              </a:r>
              <a:endParaRPr lang="en-US" altLang="zh-CN" sz="1200" dirty="0">
                <a:solidFill>
                  <a:schemeClr val="tx2"/>
                </a:solidFill>
                <a:latin typeface="微软雅黑" panose="020B0503020204020204" pitchFamily="34" charset="-122"/>
                <a:ea typeface="微软雅黑" panose="020B0503020204020204" pitchFamily="34" charset="-122"/>
              </a:endParaRPr>
            </a:p>
          </p:txBody>
        </p:sp>
        <p:sp>
          <p:nvSpPr>
            <p:cNvPr id="18" name="椭圆 14">
              <a:extLst>
                <a:ext uri="{FF2B5EF4-FFF2-40B4-BE49-F238E27FC236}">
                  <a16:creationId xmlns:a16="http://schemas.microsoft.com/office/drawing/2014/main" id="{34E1FF40-1C76-B312-9EE2-730130308D49}"/>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graphicFrame>
        <p:nvGraphicFramePr>
          <p:cNvPr id="25" name="表格 24">
            <a:extLst>
              <a:ext uri="{FF2B5EF4-FFF2-40B4-BE49-F238E27FC236}">
                <a16:creationId xmlns:a16="http://schemas.microsoft.com/office/drawing/2014/main" id="{C5A2D0BB-16A9-0856-B8A7-34965B2E664F}"/>
              </a:ext>
            </a:extLst>
          </p:cNvPr>
          <p:cNvGraphicFramePr>
            <a:graphicFrameLocks noGrp="1"/>
          </p:cNvGraphicFramePr>
          <p:nvPr>
            <p:extLst>
              <p:ext uri="{D42A27DB-BD31-4B8C-83A1-F6EECF244321}">
                <p14:modId xmlns:p14="http://schemas.microsoft.com/office/powerpoint/2010/main" val="2347026624"/>
              </p:ext>
            </p:extLst>
          </p:nvPr>
        </p:nvGraphicFramePr>
        <p:xfrm>
          <a:off x="1092952" y="1835445"/>
          <a:ext cx="5003048" cy="4555536"/>
        </p:xfrm>
        <a:graphic>
          <a:graphicData uri="http://schemas.openxmlformats.org/drawingml/2006/table">
            <a:tbl>
              <a:tblPr firstRow="1" bandRow="1">
                <a:tableStyleId>{5C22544A-7EE6-4342-B048-85BDC9FD1C3A}</a:tableStyleId>
              </a:tblPr>
              <a:tblGrid>
                <a:gridCol w="2380010">
                  <a:extLst>
                    <a:ext uri="{9D8B030D-6E8A-4147-A177-3AD203B41FA5}">
                      <a16:colId xmlns:a16="http://schemas.microsoft.com/office/drawing/2014/main" val="4020511340"/>
                    </a:ext>
                  </a:extLst>
                </a:gridCol>
                <a:gridCol w="2623038">
                  <a:extLst>
                    <a:ext uri="{9D8B030D-6E8A-4147-A177-3AD203B41FA5}">
                      <a16:colId xmlns:a16="http://schemas.microsoft.com/office/drawing/2014/main" val="2518334765"/>
                    </a:ext>
                  </a:extLst>
                </a:gridCol>
              </a:tblGrid>
              <a:tr h="545005">
                <a:tc>
                  <a:txBody>
                    <a:bodyPr/>
                    <a:lstStyle/>
                    <a:p>
                      <a:pPr algn="ctr"/>
                      <a:r>
                        <a:rPr lang="zh-CN" altLang="en-US" sz="2000" dirty="0"/>
                        <a:t>性能参数</a:t>
                      </a:r>
                    </a:p>
                  </a:txBody>
                  <a:tcPr anchor="ctr"/>
                </a:tc>
                <a:tc>
                  <a:txBody>
                    <a:bodyPr/>
                    <a:lstStyle/>
                    <a:p>
                      <a:pPr algn="ctr"/>
                      <a:r>
                        <a:rPr lang="zh-CN" altLang="en-US" sz="2000" dirty="0"/>
                        <a:t>值</a:t>
                      </a:r>
                    </a:p>
                  </a:txBody>
                  <a:tcPr anchor="ctr"/>
                </a:tc>
                <a:extLst>
                  <a:ext uri="{0D108BD9-81ED-4DB2-BD59-A6C34878D82A}">
                    <a16:rowId xmlns:a16="http://schemas.microsoft.com/office/drawing/2014/main" val="1243863983"/>
                  </a:ext>
                </a:extLst>
              </a:tr>
              <a:tr h="481493">
                <a:tc>
                  <a:txBody>
                    <a:bodyPr/>
                    <a:lstStyle/>
                    <a:p>
                      <a:pPr algn="ctr"/>
                      <a:r>
                        <a:rPr lang="en-US" altLang="zh-CN" sz="1800" dirty="0"/>
                        <a:t>YOLO-mAP50</a:t>
                      </a:r>
                      <a:endParaRPr lang="zh-CN" altLang="en-US" sz="1800" dirty="0"/>
                    </a:p>
                  </a:txBody>
                  <a:tcPr anchor="ctr"/>
                </a:tc>
                <a:tc>
                  <a:txBody>
                    <a:bodyPr/>
                    <a:lstStyle/>
                    <a:p>
                      <a:pPr algn="ctr"/>
                      <a:r>
                        <a:rPr lang="en-US" altLang="zh-CN" sz="1800" dirty="0"/>
                        <a:t>0.99</a:t>
                      </a:r>
                      <a:endParaRPr lang="zh-CN" altLang="en-US" sz="1800" dirty="0"/>
                    </a:p>
                  </a:txBody>
                  <a:tcPr anchor="ctr"/>
                </a:tc>
                <a:extLst>
                  <a:ext uri="{0D108BD9-81ED-4DB2-BD59-A6C34878D82A}">
                    <a16:rowId xmlns:a16="http://schemas.microsoft.com/office/drawing/2014/main" val="1148006958"/>
                  </a:ext>
                </a:extLst>
              </a:tr>
              <a:tr h="481493">
                <a:tc>
                  <a:txBody>
                    <a:bodyPr/>
                    <a:lstStyle/>
                    <a:p>
                      <a:pPr algn="ctr"/>
                      <a:r>
                        <a:rPr lang="en-US" altLang="zh-CN" sz="1800" dirty="0" err="1"/>
                        <a:t>LPRNet</a:t>
                      </a:r>
                      <a:r>
                        <a:rPr lang="en-US" altLang="zh-CN" sz="1800" dirty="0"/>
                        <a:t>-</a:t>
                      </a:r>
                      <a:r>
                        <a:rPr lang="zh-CN" altLang="en-US" sz="1800" dirty="0"/>
                        <a:t>准确率</a:t>
                      </a:r>
                    </a:p>
                  </a:txBody>
                  <a:tcPr anchor="ctr"/>
                </a:tc>
                <a:tc>
                  <a:txBody>
                    <a:bodyPr/>
                    <a:lstStyle/>
                    <a:p>
                      <a:pPr algn="ctr"/>
                      <a:r>
                        <a:rPr lang="en-US" altLang="zh-CN" sz="1800" dirty="0"/>
                        <a:t>98.05%</a:t>
                      </a:r>
                      <a:endParaRPr lang="zh-CN" altLang="en-US" sz="1800" dirty="0"/>
                    </a:p>
                  </a:txBody>
                  <a:tcPr anchor="ctr"/>
                </a:tc>
                <a:extLst>
                  <a:ext uri="{0D108BD9-81ED-4DB2-BD59-A6C34878D82A}">
                    <a16:rowId xmlns:a16="http://schemas.microsoft.com/office/drawing/2014/main" val="4100020177"/>
                  </a:ext>
                </a:extLst>
              </a:tr>
              <a:tr h="481493">
                <a:tc>
                  <a:txBody>
                    <a:bodyPr/>
                    <a:lstStyle/>
                    <a:p>
                      <a:pPr algn="ctr"/>
                      <a:r>
                        <a:rPr lang="zh-CN" altLang="en-US" sz="1800" dirty="0"/>
                        <a:t>分辨率</a:t>
                      </a:r>
                    </a:p>
                  </a:txBody>
                  <a:tcPr anchor="ctr"/>
                </a:tc>
                <a:tc>
                  <a:txBody>
                    <a:bodyPr/>
                    <a:lstStyle/>
                    <a:p>
                      <a:pPr algn="ctr"/>
                      <a:r>
                        <a:rPr lang="en-US" altLang="zh-CN" sz="1800" dirty="0"/>
                        <a:t>1280*720</a:t>
                      </a:r>
                      <a:endParaRPr lang="zh-CN" altLang="en-US" sz="1800" dirty="0"/>
                    </a:p>
                  </a:txBody>
                  <a:tcPr anchor="ctr"/>
                </a:tc>
                <a:extLst>
                  <a:ext uri="{0D108BD9-81ED-4DB2-BD59-A6C34878D82A}">
                    <a16:rowId xmlns:a16="http://schemas.microsoft.com/office/drawing/2014/main" val="1727104025"/>
                  </a:ext>
                </a:extLst>
              </a:tr>
              <a:tr h="481493">
                <a:tc>
                  <a:txBody>
                    <a:bodyPr/>
                    <a:lstStyle/>
                    <a:p>
                      <a:pPr algn="ctr"/>
                      <a:r>
                        <a:rPr lang="zh-CN" altLang="en-US" sz="1800" dirty="0"/>
                        <a:t>帧率</a:t>
                      </a:r>
                    </a:p>
                  </a:txBody>
                  <a:tcPr anchor="ctr"/>
                </a:tc>
                <a:tc>
                  <a:txBody>
                    <a:bodyPr/>
                    <a:lstStyle/>
                    <a:p>
                      <a:pPr algn="ctr"/>
                      <a:r>
                        <a:rPr lang="en-US" altLang="zh-CN" sz="1800" dirty="0"/>
                        <a:t>60Hz</a:t>
                      </a:r>
                      <a:endParaRPr lang="zh-CN" altLang="en-US" sz="1800" dirty="0"/>
                    </a:p>
                  </a:txBody>
                  <a:tcPr anchor="ctr"/>
                </a:tc>
                <a:extLst>
                  <a:ext uri="{0D108BD9-81ED-4DB2-BD59-A6C34878D82A}">
                    <a16:rowId xmlns:a16="http://schemas.microsoft.com/office/drawing/2014/main" val="3052270040"/>
                  </a:ext>
                </a:extLst>
              </a:tr>
              <a:tr h="481493">
                <a:tc>
                  <a:txBody>
                    <a:bodyPr/>
                    <a:lstStyle/>
                    <a:p>
                      <a:pPr algn="ctr"/>
                      <a:r>
                        <a:rPr lang="zh-CN" altLang="en-US" sz="1800" dirty="0"/>
                        <a:t>车牌检测延迟</a:t>
                      </a:r>
                    </a:p>
                  </a:txBody>
                  <a:tcPr anchor="ctr"/>
                </a:tc>
                <a:tc>
                  <a:txBody>
                    <a:bodyPr/>
                    <a:lstStyle/>
                    <a:p>
                      <a:pPr algn="ctr"/>
                      <a:r>
                        <a:rPr lang="en-US" altLang="zh-CN" sz="1800" dirty="0"/>
                        <a:t>1.14ms</a:t>
                      </a:r>
                      <a:endParaRPr lang="zh-CN" altLang="en-US" sz="1800" dirty="0"/>
                    </a:p>
                  </a:txBody>
                  <a:tcPr anchor="ctr"/>
                </a:tc>
                <a:extLst>
                  <a:ext uri="{0D108BD9-81ED-4DB2-BD59-A6C34878D82A}">
                    <a16:rowId xmlns:a16="http://schemas.microsoft.com/office/drawing/2014/main" val="2808795150"/>
                  </a:ext>
                </a:extLst>
              </a:tr>
              <a:tr h="481493">
                <a:tc>
                  <a:txBody>
                    <a:bodyPr/>
                    <a:lstStyle/>
                    <a:p>
                      <a:pPr algn="ctr"/>
                      <a:r>
                        <a:rPr lang="zh-CN" altLang="en-US" sz="1800" dirty="0"/>
                        <a:t>车牌号检测延迟</a:t>
                      </a:r>
                    </a:p>
                  </a:txBody>
                  <a:tcPr anchor="ctr"/>
                </a:tc>
                <a:tc>
                  <a:txBody>
                    <a:bodyPr/>
                    <a:lstStyle/>
                    <a:p>
                      <a:pPr algn="ctr"/>
                      <a:r>
                        <a:rPr lang="en-US" altLang="zh-CN" sz="1800" dirty="0"/>
                        <a:t>2.35ms</a:t>
                      </a:r>
                      <a:endParaRPr lang="zh-CN" altLang="en-US" sz="1800" dirty="0"/>
                    </a:p>
                  </a:txBody>
                  <a:tcPr anchor="ctr"/>
                </a:tc>
                <a:extLst>
                  <a:ext uri="{0D108BD9-81ED-4DB2-BD59-A6C34878D82A}">
                    <a16:rowId xmlns:a16="http://schemas.microsoft.com/office/drawing/2014/main" val="1953823295"/>
                  </a:ext>
                </a:extLst>
              </a:tr>
              <a:tr h="481493">
                <a:tc>
                  <a:txBody>
                    <a:bodyPr/>
                    <a:lstStyle/>
                    <a:p>
                      <a:pPr algn="ctr"/>
                      <a:r>
                        <a:rPr lang="zh-CN" altLang="en-US" sz="1800" dirty="0"/>
                        <a:t>主频</a:t>
                      </a:r>
                    </a:p>
                  </a:txBody>
                  <a:tcPr anchor="ctr"/>
                </a:tc>
                <a:tc>
                  <a:txBody>
                    <a:bodyPr/>
                    <a:lstStyle/>
                    <a:p>
                      <a:pPr algn="ctr"/>
                      <a:r>
                        <a:rPr lang="en-US" altLang="zh-CN" sz="1800" dirty="0"/>
                        <a:t>148.5MHz</a:t>
                      </a:r>
                      <a:endParaRPr lang="zh-CN" altLang="en-US" sz="1800" dirty="0"/>
                    </a:p>
                  </a:txBody>
                  <a:tcPr anchor="ctr"/>
                </a:tc>
                <a:extLst>
                  <a:ext uri="{0D108BD9-81ED-4DB2-BD59-A6C34878D82A}">
                    <a16:rowId xmlns:a16="http://schemas.microsoft.com/office/drawing/2014/main" val="1957632806"/>
                  </a:ext>
                </a:extLst>
              </a:tr>
              <a:tr h="481493">
                <a:tc>
                  <a:txBody>
                    <a:bodyPr/>
                    <a:lstStyle/>
                    <a:p>
                      <a:pPr algn="ctr"/>
                      <a:r>
                        <a:rPr lang="zh-CN" altLang="en-US" sz="1800" dirty="0"/>
                        <a:t>其他</a:t>
                      </a:r>
                    </a:p>
                  </a:txBody>
                  <a:tcPr anchor="ctr"/>
                </a:tc>
                <a:tc>
                  <a:txBody>
                    <a:bodyPr/>
                    <a:lstStyle/>
                    <a:p>
                      <a:pPr algn="ctr"/>
                      <a:r>
                        <a:rPr lang="zh-CN" altLang="en-US" sz="1800" dirty="0"/>
                        <a:t>大小、光强、角度</a:t>
                      </a:r>
                      <a:endParaRPr lang="en-US" altLang="zh-CN" sz="1800" dirty="0"/>
                    </a:p>
                    <a:p>
                      <a:pPr algn="ctr"/>
                      <a:r>
                        <a:rPr lang="zh-CN" altLang="en-US" sz="1800" dirty="0"/>
                        <a:t>适应性良好</a:t>
                      </a:r>
                    </a:p>
                  </a:txBody>
                  <a:tcPr anchor="ctr"/>
                </a:tc>
                <a:extLst>
                  <a:ext uri="{0D108BD9-81ED-4DB2-BD59-A6C34878D82A}">
                    <a16:rowId xmlns:a16="http://schemas.microsoft.com/office/drawing/2014/main" val="1904219425"/>
                  </a:ext>
                </a:extLst>
              </a:tr>
            </a:tbl>
          </a:graphicData>
        </a:graphic>
      </p:graphicFrame>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图片 37" descr="首页">
            <a:extLst>
              <a:ext uri="{FF2B5EF4-FFF2-40B4-BE49-F238E27FC236}">
                <a16:creationId xmlns:a16="http://schemas.microsoft.com/office/drawing/2014/main" id="{CF1F9A44-1B7E-BC81-5D5E-B79608BE4D0A}"/>
              </a:ext>
            </a:extLst>
          </p:cNvPr>
          <p:cNvPicPr>
            <a:picLocks noChangeAspect="1"/>
          </p:cNvPicPr>
          <p:nvPr/>
        </p:nvPicPr>
        <p:blipFill>
          <a:blip r:embed="rId18"/>
          <a:stretch>
            <a:fillRect/>
          </a:stretch>
        </p:blipFill>
        <p:spPr>
          <a:xfrm>
            <a:off x="0" y="0"/>
            <a:ext cx="12192000" cy="6858000"/>
          </a:xfrm>
          <a:prstGeom prst="rect">
            <a:avLst/>
          </a:prstGeom>
        </p:spPr>
      </p:pic>
      <p:sp>
        <p:nvSpPr>
          <p:cNvPr id="2" name="文本框 1"/>
          <p:cNvSpPr txBox="1"/>
          <p:nvPr/>
        </p:nvSpPr>
        <p:spPr>
          <a:xfrm>
            <a:off x="720000" y="432000"/>
            <a:ext cx="1260000" cy="576000"/>
          </a:xfrm>
          <a:prstGeom prst="rect">
            <a:avLst/>
          </a:prstGeom>
          <a:noFill/>
        </p:spPr>
        <p:txBody>
          <a:bodyPr wrap="square" lIns="0" tIns="0" rIns="0" bIns="0" rtlCol="0">
            <a:noAutofit/>
          </a:bodyPr>
          <a:lstStyle/>
          <a:p>
            <a:pPr algn="ctr"/>
            <a:r>
              <a:rPr lang="zh-CN" altLang="en-US" sz="4200" dirty="0">
                <a:solidFill>
                  <a:srgbClr val="142DA8"/>
                </a:solidFill>
                <a:latin typeface="微软雅黑" panose="020B0503020204020204" pitchFamily="34" charset="-122"/>
                <a:ea typeface="微软雅黑" panose="020B0503020204020204" pitchFamily="34" charset="-122"/>
              </a:rPr>
              <a:t>目录</a:t>
            </a:r>
          </a:p>
        </p:txBody>
      </p:sp>
      <p:sp>
        <p:nvSpPr>
          <p:cNvPr id="3" name="矩形 2"/>
          <p:cNvSpPr/>
          <p:nvPr>
            <p:custDataLst>
              <p:tags r:id="rId2"/>
            </p:custDataLst>
          </p:nvPr>
        </p:nvSpPr>
        <p:spPr>
          <a:xfrm>
            <a:off x="1980000" y="1284265"/>
            <a:ext cx="540000" cy="540000"/>
          </a:xfrm>
          <a:prstGeom prst="rect">
            <a:avLst/>
          </a:prstGeom>
          <a:solidFill>
            <a:srgbClr val="55CBF8"/>
          </a:solidFill>
          <a:ln>
            <a:noFill/>
          </a:ln>
          <a:effectLst>
            <a:outerShdw blurRad="50800" dist="38100" dir="2700000" algn="tl" rotWithShape="0">
              <a:schemeClr val="tx1">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400" dirty="0">
                <a:latin typeface="微软雅黑" panose="020B0503020204020204" pitchFamily="34" charset="-122"/>
                <a:ea typeface="微软雅黑" panose="020B0503020204020204" pitchFamily="34" charset="-122"/>
              </a:rPr>
              <a:t>1</a:t>
            </a:r>
          </a:p>
        </p:txBody>
      </p:sp>
      <p:sp>
        <p:nvSpPr>
          <p:cNvPr id="4" name="矩形 3"/>
          <p:cNvSpPr/>
          <p:nvPr>
            <p:custDataLst>
              <p:tags r:id="rId3"/>
            </p:custDataLst>
          </p:nvPr>
        </p:nvSpPr>
        <p:spPr>
          <a:xfrm>
            <a:off x="1980000" y="2364265"/>
            <a:ext cx="540000" cy="540000"/>
          </a:xfrm>
          <a:prstGeom prst="rect">
            <a:avLst/>
          </a:prstGeom>
          <a:solidFill>
            <a:srgbClr val="004CE5"/>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400" dirty="0">
                <a:latin typeface="微软雅黑" panose="020B0503020204020204" pitchFamily="34" charset="-122"/>
                <a:ea typeface="微软雅黑" panose="020B0503020204020204" pitchFamily="34" charset="-122"/>
              </a:rPr>
              <a:t>2</a:t>
            </a:r>
          </a:p>
        </p:txBody>
      </p:sp>
      <p:sp>
        <p:nvSpPr>
          <p:cNvPr id="5" name="矩形 4"/>
          <p:cNvSpPr/>
          <p:nvPr>
            <p:custDataLst>
              <p:tags r:id="rId4"/>
            </p:custDataLst>
          </p:nvPr>
        </p:nvSpPr>
        <p:spPr>
          <a:xfrm>
            <a:off x="1980000" y="3444265"/>
            <a:ext cx="540000" cy="540000"/>
          </a:xfrm>
          <a:prstGeom prst="rect">
            <a:avLst/>
          </a:prstGeom>
          <a:solidFill>
            <a:srgbClr val="1718B2"/>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400" dirty="0">
                <a:latin typeface="微软雅黑" panose="020B0503020204020204" pitchFamily="34" charset="-122"/>
                <a:ea typeface="微软雅黑" panose="020B0503020204020204" pitchFamily="34" charset="-122"/>
              </a:rPr>
              <a:t>3</a:t>
            </a:r>
          </a:p>
        </p:txBody>
      </p:sp>
      <p:sp>
        <p:nvSpPr>
          <p:cNvPr id="6" name="矩形 5"/>
          <p:cNvSpPr/>
          <p:nvPr>
            <p:custDataLst>
              <p:tags r:id="rId5"/>
            </p:custDataLst>
          </p:nvPr>
        </p:nvSpPr>
        <p:spPr>
          <a:xfrm>
            <a:off x="1980000" y="4524265"/>
            <a:ext cx="540000" cy="540000"/>
          </a:xfrm>
          <a:prstGeom prst="rect">
            <a:avLst/>
          </a:prstGeom>
          <a:solidFill>
            <a:srgbClr val="9545E5"/>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400" dirty="0">
                <a:latin typeface="微软雅黑" panose="020B0503020204020204" pitchFamily="34" charset="-122"/>
                <a:ea typeface="微软雅黑" panose="020B0503020204020204" pitchFamily="34" charset="-122"/>
              </a:rPr>
              <a:t>4</a:t>
            </a:r>
          </a:p>
        </p:txBody>
      </p:sp>
      <p:sp>
        <p:nvSpPr>
          <p:cNvPr id="7" name="文本框 6"/>
          <p:cNvSpPr txBox="1"/>
          <p:nvPr>
            <p:custDataLst>
              <p:tags r:id="rId6"/>
            </p:custDataLst>
          </p:nvPr>
        </p:nvSpPr>
        <p:spPr>
          <a:xfrm>
            <a:off x="2880070" y="1284490"/>
            <a:ext cx="3600000" cy="432000"/>
          </a:xfrm>
          <a:prstGeom prst="rect">
            <a:avLst/>
          </a:prstGeom>
          <a:noFill/>
        </p:spPr>
        <p:txBody>
          <a:bodyPr wrap="square" rtlCol="0">
            <a:noAutofit/>
          </a:bodyPr>
          <a:lstStyle/>
          <a:p>
            <a:r>
              <a:rPr lang="zh-CN" altLang="en-US" sz="2400" b="1" dirty="0">
                <a:solidFill>
                  <a:srgbClr val="333333"/>
                </a:solidFill>
                <a:latin typeface="微软雅黑" panose="020B0503020204020204" pitchFamily="34" charset="-122"/>
                <a:ea typeface="微软雅黑" panose="020B0503020204020204" pitchFamily="34" charset="-122"/>
              </a:rPr>
              <a:t>软件部分</a:t>
            </a:r>
          </a:p>
        </p:txBody>
      </p:sp>
      <p:sp>
        <p:nvSpPr>
          <p:cNvPr id="15" name="文本框 14"/>
          <p:cNvSpPr txBox="1"/>
          <p:nvPr/>
        </p:nvSpPr>
        <p:spPr>
          <a:xfrm>
            <a:off x="809625" y="1104265"/>
            <a:ext cx="1080000" cy="180000"/>
          </a:xfrm>
          <a:prstGeom prst="rect">
            <a:avLst/>
          </a:prstGeom>
          <a:noFill/>
        </p:spPr>
        <p:txBody>
          <a:bodyPr wrap="square" lIns="0" tIns="0" rIns="0" bIns="0" rtlCol="0">
            <a:noAutofit/>
          </a:bodyPr>
          <a:lstStyle/>
          <a:p>
            <a:pPr algn="ctr"/>
            <a:r>
              <a:rPr lang="en-US" altLang="zh-CN" sz="1400" dirty="0">
                <a:solidFill>
                  <a:srgbClr val="142DA8"/>
                </a:solidFill>
                <a:latin typeface="微软雅黑" panose="020B0503020204020204" pitchFamily="34" charset="-122"/>
                <a:ea typeface="微软雅黑" panose="020B0503020204020204" pitchFamily="34" charset="-122"/>
              </a:rPr>
              <a:t>CONTENTS</a:t>
            </a:r>
          </a:p>
        </p:txBody>
      </p:sp>
      <p:sp>
        <p:nvSpPr>
          <p:cNvPr id="17" name="文本框 16"/>
          <p:cNvSpPr txBox="1"/>
          <p:nvPr>
            <p:custDataLst>
              <p:tags r:id="rId7"/>
            </p:custDataLst>
          </p:nvPr>
        </p:nvSpPr>
        <p:spPr>
          <a:xfrm>
            <a:off x="2880070" y="1716290"/>
            <a:ext cx="4064000" cy="306705"/>
          </a:xfrm>
          <a:prstGeom prst="rect">
            <a:avLst/>
          </a:prstGeom>
          <a:noFill/>
        </p:spPr>
        <p:txBody>
          <a:bodyPr wrap="square" rtlCol="0">
            <a:spAutoFit/>
          </a:bodyPr>
          <a:lstStyle/>
          <a:p>
            <a:pPr algn="l">
              <a:buClrTx/>
              <a:buSzTx/>
              <a:buFontTx/>
            </a:pPr>
            <a:r>
              <a:rPr lang="zh-CN" altLang="en-US" sz="1400" dirty="0">
                <a:solidFill>
                  <a:srgbClr val="666666"/>
                </a:solidFill>
                <a:latin typeface="微软雅黑" panose="020B0503020204020204" pitchFamily="34" charset="-122"/>
                <a:ea typeface="微软雅黑" panose="020B0503020204020204" pitchFamily="34" charset="-122"/>
              </a:rPr>
              <a:t>模型设计、训练、量化</a:t>
            </a:r>
          </a:p>
        </p:txBody>
      </p:sp>
      <p:sp>
        <p:nvSpPr>
          <p:cNvPr id="19" name="文本框 18"/>
          <p:cNvSpPr txBox="1"/>
          <p:nvPr>
            <p:custDataLst>
              <p:tags r:id="rId8"/>
            </p:custDataLst>
          </p:nvPr>
        </p:nvSpPr>
        <p:spPr>
          <a:xfrm>
            <a:off x="2880705" y="2363990"/>
            <a:ext cx="3600000" cy="432000"/>
          </a:xfrm>
          <a:prstGeom prst="rect">
            <a:avLst/>
          </a:prstGeom>
          <a:noFill/>
        </p:spPr>
        <p:txBody>
          <a:bodyPr wrap="square" rtlCol="0">
            <a:noAutofit/>
          </a:bodyPr>
          <a:lstStyle/>
          <a:p>
            <a:r>
              <a:rPr lang="zh-CN" altLang="en-US" sz="2400" b="1" dirty="0">
                <a:solidFill>
                  <a:srgbClr val="333333"/>
                </a:solidFill>
                <a:latin typeface="微软雅黑" panose="020B0503020204020204" pitchFamily="34" charset="-122"/>
                <a:ea typeface="微软雅黑" panose="020B0503020204020204" pitchFamily="34" charset="-122"/>
              </a:rPr>
              <a:t>硬件整体架构</a:t>
            </a:r>
          </a:p>
        </p:txBody>
      </p:sp>
      <p:sp>
        <p:nvSpPr>
          <p:cNvPr id="20" name="文本框 19"/>
          <p:cNvSpPr txBox="1"/>
          <p:nvPr>
            <p:custDataLst>
              <p:tags r:id="rId9"/>
            </p:custDataLst>
          </p:nvPr>
        </p:nvSpPr>
        <p:spPr>
          <a:xfrm>
            <a:off x="2880705" y="2795790"/>
            <a:ext cx="4064000" cy="306705"/>
          </a:xfrm>
          <a:prstGeom prst="rect">
            <a:avLst/>
          </a:prstGeom>
          <a:noFill/>
        </p:spPr>
        <p:txBody>
          <a:bodyPr wrap="square" rtlCol="0">
            <a:spAutoFit/>
          </a:bodyPr>
          <a:lstStyle/>
          <a:p>
            <a:pPr algn="l">
              <a:buClrTx/>
              <a:buSzTx/>
              <a:buFontTx/>
            </a:pPr>
            <a:r>
              <a:rPr lang="zh-CN" altLang="en-US" sz="1400" dirty="0">
                <a:solidFill>
                  <a:srgbClr val="666666"/>
                </a:solidFill>
                <a:latin typeface="微软雅黑" panose="020B0503020204020204" pitchFamily="34" charset="-122"/>
                <a:ea typeface="微软雅黑" panose="020B0503020204020204" pitchFamily="34" charset="-122"/>
                <a:sym typeface="+mn-ea"/>
              </a:rPr>
              <a:t>输入输出数据流定义</a:t>
            </a:r>
            <a:endParaRPr lang="zh-CN" altLang="en-US" sz="1400" dirty="0">
              <a:solidFill>
                <a:srgbClr val="666666"/>
              </a:solidFill>
              <a:latin typeface="微软雅黑" panose="020B0503020204020204" pitchFamily="34" charset="-122"/>
              <a:ea typeface="微软雅黑" panose="020B0503020204020204" pitchFamily="34" charset="-122"/>
            </a:endParaRPr>
          </a:p>
        </p:txBody>
      </p:sp>
      <p:sp>
        <p:nvSpPr>
          <p:cNvPr id="21" name="文本框 20"/>
          <p:cNvSpPr txBox="1"/>
          <p:nvPr>
            <p:custDataLst>
              <p:tags r:id="rId10"/>
            </p:custDataLst>
          </p:nvPr>
        </p:nvSpPr>
        <p:spPr>
          <a:xfrm>
            <a:off x="2881340" y="3443490"/>
            <a:ext cx="3600000" cy="432000"/>
          </a:xfrm>
          <a:prstGeom prst="rect">
            <a:avLst/>
          </a:prstGeom>
          <a:noFill/>
        </p:spPr>
        <p:txBody>
          <a:bodyPr wrap="square" rtlCol="0">
            <a:noAutofit/>
          </a:bodyPr>
          <a:lstStyle/>
          <a:p>
            <a:r>
              <a:rPr lang="zh-CN" altLang="en-US" sz="2400" b="1" dirty="0">
                <a:solidFill>
                  <a:srgbClr val="333333"/>
                </a:solidFill>
                <a:latin typeface="微软雅黑" panose="020B0503020204020204" pitchFamily="34" charset="-122"/>
                <a:ea typeface="微软雅黑" panose="020B0503020204020204" pitchFamily="34" charset="-122"/>
              </a:rPr>
              <a:t>定制计算单元</a:t>
            </a:r>
          </a:p>
        </p:txBody>
      </p:sp>
      <p:sp>
        <p:nvSpPr>
          <p:cNvPr id="22" name="文本框 21"/>
          <p:cNvSpPr txBox="1"/>
          <p:nvPr>
            <p:custDataLst>
              <p:tags r:id="rId11"/>
            </p:custDataLst>
          </p:nvPr>
        </p:nvSpPr>
        <p:spPr>
          <a:xfrm>
            <a:off x="2881340" y="3875290"/>
            <a:ext cx="4064000" cy="306705"/>
          </a:xfrm>
          <a:prstGeom prst="rect">
            <a:avLst/>
          </a:prstGeom>
          <a:noFill/>
        </p:spPr>
        <p:txBody>
          <a:bodyPr wrap="square" rtlCol="0">
            <a:spAutoFit/>
          </a:bodyPr>
          <a:lstStyle/>
          <a:p>
            <a:pPr algn="l">
              <a:buClrTx/>
              <a:buSzTx/>
              <a:buFontTx/>
            </a:pPr>
            <a:r>
              <a:rPr lang="zh-CN" altLang="en-US" sz="1400" dirty="0">
                <a:solidFill>
                  <a:srgbClr val="666666"/>
                </a:solidFill>
                <a:latin typeface="微软雅黑" panose="020B0503020204020204" pitchFamily="34" charset="-122"/>
                <a:ea typeface="微软雅黑" panose="020B0503020204020204" pitchFamily="34" charset="-122"/>
                <a:sym typeface="+mn-ea"/>
              </a:rPr>
              <a:t>三维脉动卷积阵列设计</a:t>
            </a:r>
          </a:p>
        </p:txBody>
      </p:sp>
      <p:sp>
        <p:nvSpPr>
          <p:cNvPr id="23" name="文本框 22"/>
          <p:cNvSpPr txBox="1"/>
          <p:nvPr>
            <p:custDataLst>
              <p:tags r:id="rId12"/>
            </p:custDataLst>
          </p:nvPr>
        </p:nvSpPr>
        <p:spPr>
          <a:xfrm>
            <a:off x="2881975" y="4522990"/>
            <a:ext cx="3600000" cy="432000"/>
          </a:xfrm>
          <a:prstGeom prst="rect">
            <a:avLst/>
          </a:prstGeom>
          <a:noFill/>
        </p:spPr>
        <p:txBody>
          <a:bodyPr wrap="square" rtlCol="0">
            <a:noAutofit/>
          </a:bodyPr>
          <a:lstStyle/>
          <a:p>
            <a:r>
              <a:rPr lang="zh-CN" altLang="en-US" sz="2400" b="1" dirty="0">
                <a:solidFill>
                  <a:srgbClr val="333333"/>
                </a:solidFill>
                <a:latin typeface="微软雅黑" panose="020B0503020204020204" pitchFamily="34" charset="-122"/>
                <a:ea typeface="微软雅黑" panose="020B0503020204020204" pitchFamily="34" charset="-122"/>
              </a:rPr>
              <a:t>测试结果</a:t>
            </a:r>
          </a:p>
        </p:txBody>
      </p:sp>
      <p:sp>
        <p:nvSpPr>
          <p:cNvPr id="24" name="文本框 23"/>
          <p:cNvSpPr txBox="1"/>
          <p:nvPr>
            <p:custDataLst>
              <p:tags r:id="rId13"/>
            </p:custDataLst>
          </p:nvPr>
        </p:nvSpPr>
        <p:spPr>
          <a:xfrm>
            <a:off x="2881975" y="4954790"/>
            <a:ext cx="4064000" cy="306705"/>
          </a:xfrm>
          <a:prstGeom prst="rect">
            <a:avLst/>
          </a:prstGeom>
          <a:noFill/>
        </p:spPr>
        <p:txBody>
          <a:bodyPr wrap="square" rtlCol="0">
            <a:spAutoFit/>
          </a:bodyPr>
          <a:lstStyle/>
          <a:p>
            <a:pPr algn="l">
              <a:buClrTx/>
              <a:buSzTx/>
              <a:buFontTx/>
            </a:pPr>
            <a:r>
              <a:rPr lang="zh-CN" altLang="en-US" sz="1400" dirty="0">
                <a:solidFill>
                  <a:srgbClr val="666666"/>
                </a:solidFill>
                <a:latin typeface="微软雅黑" panose="020B0503020204020204" pitchFamily="34" charset="-122"/>
                <a:ea typeface="微软雅黑" panose="020B0503020204020204" pitchFamily="34" charset="-122"/>
                <a:sym typeface="+mn-ea"/>
              </a:rPr>
              <a:t>各模块仿真、上板实测效果</a:t>
            </a:r>
          </a:p>
        </p:txBody>
      </p:sp>
      <p:sp>
        <p:nvSpPr>
          <p:cNvPr id="32" name="矩形 31">
            <a:extLst>
              <a:ext uri="{FF2B5EF4-FFF2-40B4-BE49-F238E27FC236}">
                <a16:creationId xmlns:a16="http://schemas.microsoft.com/office/drawing/2014/main" id="{BB024107-222B-4C3C-1686-F4C6379B0B87}"/>
              </a:ext>
            </a:extLst>
          </p:cNvPr>
          <p:cNvSpPr/>
          <p:nvPr>
            <p:custDataLst>
              <p:tags r:id="rId14"/>
            </p:custDataLst>
          </p:nvPr>
        </p:nvSpPr>
        <p:spPr>
          <a:xfrm>
            <a:off x="1980000" y="5603565"/>
            <a:ext cx="540000" cy="540000"/>
          </a:xfrm>
          <a:prstGeom prst="rect">
            <a:avLst/>
          </a:prstGeom>
          <a:solidFill>
            <a:srgbClr val="FFBB33"/>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400" dirty="0">
                <a:latin typeface="微软雅黑" panose="020B0503020204020204" pitchFamily="34" charset="-122"/>
                <a:ea typeface="微软雅黑" panose="020B0503020204020204" pitchFamily="34" charset="-122"/>
              </a:rPr>
              <a:t>5</a:t>
            </a:r>
          </a:p>
        </p:txBody>
      </p:sp>
      <p:sp>
        <p:nvSpPr>
          <p:cNvPr id="34" name="文本框 33">
            <a:extLst>
              <a:ext uri="{FF2B5EF4-FFF2-40B4-BE49-F238E27FC236}">
                <a16:creationId xmlns:a16="http://schemas.microsoft.com/office/drawing/2014/main" id="{F4FCE18A-8ED4-0323-8068-269537A3EAC8}"/>
              </a:ext>
            </a:extLst>
          </p:cNvPr>
          <p:cNvSpPr txBox="1"/>
          <p:nvPr>
            <p:custDataLst>
              <p:tags r:id="rId15"/>
            </p:custDataLst>
          </p:nvPr>
        </p:nvSpPr>
        <p:spPr>
          <a:xfrm>
            <a:off x="2881975" y="5602290"/>
            <a:ext cx="3600000" cy="432000"/>
          </a:xfrm>
          <a:prstGeom prst="rect">
            <a:avLst/>
          </a:prstGeom>
          <a:noFill/>
        </p:spPr>
        <p:txBody>
          <a:bodyPr wrap="square" rtlCol="0">
            <a:noAutofit/>
          </a:bodyPr>
          <a:lstStyle/>
          <a:p>
            <a:r>
              <a:rPr lang="zh-CN" altLang="en-US" sz="2400" b="1" dirty="0">
                <a:solidFill>
                  <a:srgbClr val="333333"/>
                </a:solidFill>
                <a:latin typeface="微软雅黑" panose="020B0503020204020204" pitchFamily="34" charset="-122"/>
                <a:ea typeface="微软雅黑" panose="020B0503020204020204" pitchFamily="34" charset="-122"/>
              </a:rPr>
              <a:t>效果演示</a:t>
            </a:r>
          </a:p>
        </p:txBody>
      </p:sp>
      <p:sp>
        <p:nvSpPr>
          <p:cNvPr id="36" name="文本框 35">
            <a:extLst>
              <a:ext uri="{FF2B5EF4-FFF2-40B4-BE49-F238E27FC236}">
                <a16:creationId xmlns:a16="http://schemas.microsoft.com/office/drawing/2014/main" id="{6A8CECD9-900F-9C20-F88E-B6512C9EB72C}"/>
              </a:ext>
            </a:extLst>
          </p:cNvPr>
          <p:cNvSpPr txBox="1"/>
          <p:nvPr>
            <p:custDataLst>
              <p:tags r:id="rId16"/>
            </p:custDataLst>
          </p:nvPr>
        </p:nvSpPr>
        <p:spPr>
          <a:xfrm>
            <a:off x="2881975" y="6034090"/>
            <a:ext cx="4064000" cy="306705"/>
          </a:xfrm>
          <a:prstGeom prst="rect">
            <a:avLst/>
          </a:prstGeom>
          <a:noFill/>
        </p:spPr>
        <p:txBody>
          <a:bodyPr wrap="square" rtlCol="0">
            <a:spAutoFit/>
          </a:bodyPr>
          <a:lstStyle/>
          <a:p>
            <a:pPr algn="l">
              <a:buClrTx/>
              <a:buSzTx/>
              <a:buFontTx/>
            </a:pPr>
            <a:r>
              <a:rPr lang="zh-CN" altLang="en-US" sz="1400" dirty="0">
                <a:solidFill>
                  <a:srgbClr val="666666"/>
                </a:solidFill>
                <a:latin typeface="微软雅黑" panose="020B0503020204020204" pitchFamily="34" charset="-122"/>
                <a:ea typeface="微软雅黑" panose="020B0503020204020204" pitchFamily="34" charset="-122"/>
                <a:sym typeface="+mn-ea"/>
              </a:rPr>
              <a:t>演示、总结与展望</a:t>
            </a:r>
            <a:endParaRPr lang="zh-CN" altLang="en-US" sz="1400" dirty="0">
              <a:solidFill>
                <a:srgbClr val="666666"/>
              </a:solidFill>
              <a:latin typeface="微软雅黑" panose="020B0503020204020204" pitchFamily="34" charset="-122"/>
              <a:ea typeface="微软雅黑" panose="020B0503020204020204" pitchFamily="34" charset="-122"/>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4FFE2-9563-9C4B-9B6F-44AFEA8FD5BD}"/>
            </a:ext>
          </a:extLst>
        </p:cNvPr>
        <p:cNvGrpSpPr/>
        <p:nvPr/>
      </p:nvGrpSpPr>
      <p:grpSpPr>
        <a:xfrm>
          <a:off x="0" y="0"/>
          <a:ext cx="0" cy="0"/>
          <a:chOff x="0" y="0"/>
          <a:chExt cx="0" cy="0"/>
        </a:xfrm>
      </p:grpSpPr>
      <p:pic>
        <p:nvPicPr>
          <p:cNvPr id="13" name="图片 12" descr="首页">
            <a:extLst>
              <a:ext uri="{FF2B5EF4-FFF2-40B4-BE49-F238E27FC236}">
                <a16:creationId xmlns:a16="http://schemas.microsoft.com/office/drawing/2014/main" id="{D5B8511A-24BF-C338-8B4E-3F3F88CC1417}"/>
              </a:ext>
            </a:extLst>
          </p:cNvPr>
          <p:cNvPicPr>
            <a:picLocks noChangeAspect="1"/>
          </p:cNvPicPr>
          <p:nvPr/>
        </p:nvPicPr>
        <p:blipFill>
          <a:blip r:embed="rId6"/>
          <a:stretch>
            <a:fillRect/>
          </a:stretch>
        </p:blipFill>
        <p:spPr>
          <a:xfrm>
            <a:off x="0" y="0"/>
            <a:ext cx="12192000" cy="6858000"/>
          </a:xfrm>
          <a:prstGeom prst="rect">
            <a:avLst/>
          </a:prstGeom>
        </p:spPr>
      </p:pic>
      <p:sp>
        <p:nvSpPr>
          <p:cNvPr id="3" name="矩形 2">
            <a:extLst>
              <a:ext uri="{FF2B5EF4-FFF2-40B4-BE49-F238E27FC236}">
                <a16:creationId xmlns:a16="http://schemas.microsoft.com/office/drawing/2014/main" id="{90978A8C-3747-0BAE-71C6-55CD66C4C32E}"/>
              </a:ext>
            </a:extLst>
          </p:cNvPr>
          <p:cNvSpPr/>
          <p:nvPr>
            <p:custDataLst>
              <p:tags r:id="rId2"/>
            </p:custDataLst>
          </p:nvPr>
        </p:nvSpPr>
        <p:spPr>
          <a:xfrm>
            <a:off x="5646000" y="1800000"/>
            <a:ext cx="900000" cy="900000"/>
          </a:xfrm>
          <a:prstGeom prst="rect">
            <a:avLst/>
          </a:prstGeom>
          <a:solidFill>
            <a:srgbClr val="55CBF8"/>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000" dirty="0">
                <a:latin typeface="微软雅黑" panose="020B0503020204020204" pitchFamily="34" charset="-122"/>
                <a:ea typeface="微软雅黑" panose="020B0503020204020204" pitchFamily="34" charset="-122"/>
              </a:rPr>
              <a:t>1</a:t>
            </a:r>
          </a:p>
        </p:txBody>
      </p:sp>
      <p:sp>
        <p:nvSpPr>
          <p:cNvPr id="7" name="文本框 6">
            <a:extLst>
              <a:ext uri="{FF2B5EF4-FFF2-40B4-BE49-F238E27FC236}">
                <a16:creationId xmlns:a16="http://schemas.microsoft.com/office/drawing/2014/main" id="{D2E2442A-53DB-9ED1-A537-B0EAFC650E42}"/>
              </a:ext>
            </a:extLst>
          </p:cNvPr>
          <p:cNvSpPr txBox="1"/>
          <p:nvPr>
            <p:custDataLst>
              <p:tags r:id="rId3"/>
            </p:custDataLst>
          </p:nvPr>
        </p:nvSpPr>
        <p:spPr>
          <a:xfrm>
            <a:off x="2681605" y="2880000"/>
            <a:ext cx="6828790" cy="720090"/>
          </a:xfrm>
          <a:prstGeom prst="rect">
            <a:avLst/>
          </a:prstGeom>
          <a:noFill/>
        </p:spPr>
        <p:txBody>
          <a:bodyPr wrap="square" rtlCol="0">
            <a:noAutofit/>
          </a:bodyPr>
          <a:lstStyle/>
          <a:p>
            <a:pPr algn="ctr"/>
            <a:r>
              <a:rPr lang="zh-CN" altLang="en-US" sz="4400" dirty="0">
                <a:solidFill>
                  <a:srgbClr val="142DA8"/>
                </a:solidFill>
                <a:latin typeface="微软雅黑" panose="020B0503020204020204" pitchFamily="34" charset="-122"/>
                <a:ea typeface="微软雅黑" panose="020B0503020204020204" pitchFamily="34" charset="-122"/>
              </a:rPr>
              <a:t>软件部分</a:t>
            </a:r>
          </a:p>
        </p:txBody>
      </p:sp>
      <p:sp>
        <p:nvSpPr>
          <p:cNvPr id="17" name="文本框 16">
            <a:extLst>
              <a:ext uri="{FF2B5EF4-FFF2-40B4-BE49-F238E27FC236}">
                <a16:creationId xmlns:a16="http://schemas.microsoft.com/office/drawing/2014/main" id="{ACAB89EF-3AF6-1BC1-E748-34B831FBF848}"/>
              </a:ext>
            </a:extLst>
          </p:cNvPr>
          <p:cNvSpPr txBox="1"/>
          <p:nvPr>
            <p:custDataLst>
              <p:tags r:id="rId4"/>
            </p:custDataLst>
          </p:nvPr>
        </p:nvSpPr>
        <p:spPr>
          <a:xfrm>
            <a:off x="3473768" y="3780000"/>
            <a:ext cx="5244465" cy="521970"/>
          </a:xfrm>
          <a:prstGeom prst="rect">
            <a:avLst/>
          </a:prstGeom>
          <a:noFill/>
        </p:spPr>
        <p:txBody>
          <a:bodyPr wrap="square" rtlCol="0">
            <a:spAutoFit/>
          </a:bodyPr>
          <a:lstStyle/>
          <a:p>
            <a:pPr algn="ctr"/>
            <a:r>
              <a:rPr lang="zh-CN" altLang="en-US" sz="2800" dirty="0">
                <a:solidFill>
                  <a:srgbClr val="666666"/>
                </a:solidFill>
                <a:latin typeface="微软雅黑" panose="020B0503020204020204" pitchFamily="34" charset="-122"/>
                <a:ea typeface="微软雅黑" panose="020B0503020204020204" pitchFamily="34" charset="-122"/>
              </a:rPr>
              <a:t>模型介绍</a:t>
            </a:r>
          </a:p>
        </p:txBody>
      </p:sp>
    </p:spTree>
    <p:custDataLst>
      <p:tags r:id="rId1"/>
    </p:custDataLst>
    <p:extLst>
      <p:ext uri="{BB962C8B-B14F-4D97-AF65-F5344CB8AC3E}">
        <p14:creationId xmlns:p14="http://schemas.microsoft.com/office/powerpoint/2010/main" val="2440891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6C897-8291-36B0-E07E-3C491C874DBD}"/>
            </a:ext>
          </a:extLst>
        </p:cNvPr>
        <p:cNvGrpSpPr/>
        <p:nvPr/>
      </p:nvGrpSpPr>
      <p:grpSpPr>
        <a:xfrm>
          <a:off x="0" y="0"/>
          <a:ext cx="0" cy="0"/>
          <a:chOff x="0" y="0"/>
          <a:chExt cx="0" cy="0"/>
        </a:xfrm>
      </p:grpSpPr>
      <p:pic>
        <p:nvPicPr>
          <p:cNvPr id="36" name="图片 35" descr="内容页" hidden="1">
            <a:extLst>
              <a:ext uri="{FF2B5EF4-FFF2-40B4-BE49-F238E27FC236}">
                <a16:creationId xmlns:a16="http://schemas.microsoft.com/office/drawing/2014/main" id="{791568F1-8907-2517-99C4-2871317C001F}"/>
              </a:ext>
            </a:extLst>
          </p:cNvPr>
          <p:cNvPicPr>
            <a:picLocks noChangeAspect="1"/>
          </p:cNvPicPr>
          <p:nvPr/>
        </p:nvPicPr>
        <p:blipFill>
          <a:blip r:embed="rId15"/>
          <a:stretch>
            <a:fillRect/>
          </a:stretch>
        </p:blipFill>
        <p:spPr>
          <a:xfrm>
            <a:off x="-635" y="0"/>
            <a:ext cx="12192635" cy="6858635"/>
          </a:xfrm>
          <a:prstGeom prst="rect">
            <a:avLst/>
          </a:prstGeom>
        </p:spPr>
      </p:pic>
      <p:pic>
        <p:nvPicPr>
          <p:cNvPr id="3" name="图片 2" descr="集创赛1">
            <a:extLst>
              <a:ext uri="{FF2B5EF4-FFF2-40B4-BE49-F238E27FC236}">
                <a16:creationId xmlns:a16="http://schemas.microsoft.com/office/drawing/2014/main" id="{85EBB3E1-AA2A-B766-7393-878164F06294}"/>
              </a:ext>
            </a:extLst>
          </p:cNvPr>
          <p:cNvPicPr>
            <a:picLocks noChangeAspect="1"/>
          </p:cNvPicPr>
          <p:nvPr/>
        </p:nvPicPr>
        <p:blipFill>
          <a:blip r:embed="rId16"/>
          <a:stretch>
            <a:fillRect/>
          </a:stretch>
        </p:blipFill>
        <p:spPr>
          <a:xfrm>
            <a:off x="900000" y="0"/>
            <a:ext cx="2016000" cy="1260000"/>
          </a:xfrm>
          <a:prstGeom prst="rect">
            <a:avLst/>
          </a:prstGeom>
        </p:spPr>
      </p:pic>
      <p:sp>
        <p:nvSpPr>
          <p:cNvPr id="10" name="组合 33">
            <a:extLst>
              <a:ext uri="{FF2B5EF4-FFF2-40B4-BE49-F238E27FC236}">
                <a16:creationId xmlns:a16="http://schemas.microsoft.com/office/drawing/2014/main" id="{FF892B73-F44C-5F31-F6BB-371E072D88D3}"/>
              </a:ext>
            </a:extLst>
          </p:cNvPr>
          <p:cNvSpPr/>
          <p:nvPr/>
        </p:nvSpPr>
        <p:spPr>
          <a:xfrm>
            <a:off x="4014355" y="720000"/>
            <a:ext cx="416329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en-US" altLang="zh-CN" dirty="0">
                <a:latin typeface="微软雅黑" panose="020B0503020204020204" pitchFamily="34" charset="-122"/>
                <a:ea typeface="微软雅黑" panose="020B0503020204020204" pitchFamily="34" charset="-122"/>
              </a:rPr>
              <a:t>YOLO</a:t>
            </a:r>
            <a:r>
              <a:rPr lang="zh-CN" altLang="en-US" dirty="0">
                <a:latin typeface="微软雅黑" panose="020B0503020204020204" pitchFamily="34" charset="-122"/>
                <a:ea typeface="微软雅黑" panose="020B0503020204020204" pitchFamily="34" charset="-122"/>
              </a:rPr>
              <a:t>车牌目标检测模型</a:t>
            </a:r>
            <a:endParaRPr lang="zh-CN" dirty="0">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37946F2C-162D-2396-0B66-F87AFBA1B11F}"/>
              </a:ext>
            </a:extLst>
          </p:cNvPr>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594B9DB2-8AB2-2414-A5FB-471976DD8FC4}"/>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7591519" y="990000"/>
            <a:ext cx="3829776" cy="5372576"/>
          </a:xfrm>
          <a:prstGeom prst="rect">
            <a:avLst/>
          </a:prstGeom>
        </p:spPr>
      </p:pic>
      <p:sp>
        <p:nvSpPr>
          <p:cNvPr id="5" name="矩形: 圆角 19">
            <a:extLst>
              <a:ext uri="{FF2B5EF4-FFF2-40B4-BE49-F238E27FC236}">
                <a16:creationId xmlns:a16="http://schemas.microsoft.com/office/drawing/2014/main" id="{8A65516B-7D3F-7BB0-FE46-C5D745E4F1FC}"/>
              </a:ext>
            </a:extLst>
          </p:cNvPr>
          <p:cNvSpPr/>
          <p:nvPr>
            <p:custDataLst>
              <p:tags r:id="rId2"/>
            </p:custDataLst>
          </p:nvPr>
        </p:nvSpPr>
        <p:spPr>
          <a:xfrm>
            <a:off x="1121385" y="1722243"/>
            <a:ext cx="5762741" cy="836122"/>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6" name="文本框 17">
            <a:extLst>
              <a:ext uri="{FF2B5EF4-FFF2-40B4-BE49-F238E27FC236}">
                <a16:creationId xmlns:a16="http://schemas.microsoft.com/office/drawing/2014/main" id="{E9C7CD29-2B86-CFEF-C4D4-588E5FC8B9C4}"/>
              </a:ext>
            </a:extLst>
          </p:cNvPr>
          <p:cNvSpPr txBox="1"/>
          <p:nvPr>
            <p:custDataLst>
              <p:tags r:id="rId3"/>
            </p:custDataLst>
          </p:nvPr>
        </p:nvSpPr>
        <p:spPr>
          <a:xfrm>
            <a:off x="1634875" y="1807186"/>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端到端单头检测</a:t>
            </a:r>
            <a:endParaRPr lang="zh-CN" dirty="0">
              <a:latin typeface="微软雅黑" panose="020B0503020204020204" pitchFamily="34" charset="-122"/>
              <a:ea typeface="微软雅黑" panose="020B0503020204020204" pitchFamily="34" charset="-122"/>
            </a:endParaRPr>
          </a:p>
        </p:txBody>
      </p:sp>
      <p:sp>
        <p:nvSpPr>
          <p:cNvPr id="7" name="文本框 18">
            <a:extLst>
              <a:ext uri="{FF2B5EF4-FFF2-40B4-BE49-F238E27FC236}">
                <a16:creationId xmlns:a16="http://schemas.microsoft.com/office/drawing/2014/main" id="{75987D6B-16DC-6E2E-26D8-C363029369FE}"/>
              </a:ext>
            </a:extLst>
          </p:cNvPr>
          <p:cNvSpPr txBox="1"/>
          <p:nvPr>
            <p:custDataLst>
              <p:tags r:id="rId4"/>
            </p:custDataLst>
          </p:nvPr>
        </p:nvSpPr>
        <p:spPr>
          <a:xfrm>
            <a:off x="1373386" y="2146721"/>
            <a:ext cx="5509384" cy="339837"/>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简化传统</a:t>
            </a:r>
            <a:r>
              <a:rPr lang="en-US" altLang="zh-CN" sz="1200" dirty="0">
                <a:solidFill>
                  <a:schemeClr val="tx2"/>
                </a:solidFill>
              </a:rPr>
              <a:t>YOLO</a:t>
            </a:r>
            <a:r>
              <a:rPr lang="zh-CN" altLang="en-US" sz="1200" dirty="0">
                <a:solidFill>
                  <a:schemeClr val="tx2"/>
                </a:solidFill>
              </a:rPr>
              <a:t>复杂结构，仅保留卷积和池化层，专为</a:t>
            </a:r>
            <a:r>
              <a:rPr lang="en-US" altLang="zh-CN" sz="1200" dirty="0">
                <a:solidFill>
                  <a:schemeClr val="tx2"/>
                </a:solidFill>
              </a:rPr>
              <a:t>FPGA</a:t>
            </a:r>
            <a:r>
              <a:rPr lang="zh-CN" altLang="en-US" sz="1200" dirty="0">
                <a:solidFill>
                  <a:schemeClr val="tx2"/>
                </a:solidFill>
              </a:rPr>
              <a:t>部署优化。</a:t>
            </a:r>
            <a:endParaRPr sz="1200" dirty="0">
              <a:solidFill>
                <a:schemeClr val="tx2"/>
              </a:solidFill>
              <a:latin typeface="微软雅黑" panose="020B0503020204020204" pitchFamily="34" charset="-122"/>
              <a:ea typeface="微软雅黑" panose="020B0503020204020204" pitchFamily="34" charset="-122"/>
            </a:endParaRPr>
          </a:p>
        </p:txBody>
      </p:sp>
      <p:sp>
        <p:nvSpPr>
          <p:cNvPr id="14" name="椭圆 14">
            <a:extLst>
              <a:ext uri="{FF2B5EF4-FFF2-40B4-BE49-F238E27FC236}">
                <a16:creationId xmlns:a16="http://schemas.microsoft.com/office/drawing/2014/main" id="{6EEEE08D-2615-3C6E-53B8-BA3559A48F68}"/>
              </a:ext>
            </a:extLst>
          </p:cNvPr>
          <p:cNvSpPr/>
          <p:nvPr/>
        </p:nvSpPr>
        <p:spPr>
          <a:xfrm>
            <a:off x="1436971" y="191377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15" name="矩形: 圆角 19">
            <a:extLst>
              <a:ext uri="{FF2B5EF4-FFF2-40B4-BE49-F238E27FC236}">
                <a16:creationId xmlns:a16="http://schemas.microsoft.com/office/drawing/2014/main" id="{7CAFB3AC-D126-B675-39FF-96B6208C69A9}"/>
              </a:ext>
            </a:extLst>
          </p:cNvPr>
          <p:cNvSpPr/>
          <p:nvPr>
            <p:custDataLst>
              <p:tags r:id="rId5"/>
            </p:custDataLst>
          </p:nvPr>
        </p:nvSpPr>
        <p:spPr>
          <a:xfrm>
            <a:off x="1120029" y="2827177"/>
            <a:ext cx="5762741" cy="1081393"/>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16" name="文本框 17">
            <a:extLst>
              <a:ext uri="{FF2B5EF4-FFF2-40B4-BE49-F238E27FC236}">
                <a16:creationId xmlns:a16="http://schemas.microsoft.com/office/drawing/2014/main" id="{DE886BCF-D262-7BEB-C709-B2F83051CD16}"/>
              </a:ext>
            </a:extLst>
          </p:cNvPr>
          <p:cNvSpPr txBox="1"/>
          <p:nvPr>
            <p:custDataLst>
              <p:tags r:id="rId6"/>
            </p:custDataLst>
          </p:nvPr>
        </p:nvSpPr>
        <p:spPr>
          <a:xfrm>
            <a:off x="1633518" y="2912120"/>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轻量化骨干网络</a:t>
            </a:r>
            <a:endParaRPr lang="zh-CN" dirty="0">
              <a:latin typeface="微软雅黑" panose="020B0503020204020204" pitchFamily="34" charset="-122"/>
              <a:ea typeface="微软雅黑" panose="020B0503020204020204" pitchFamily="34" charset="-122"/>
            </a:endParaRPr>
          </a:p>
        </p:txBody>
      </p:sp>
      <p:sp>
        <p:nvSpPr>
          <p:cNvPr id="17" name="文本框 18">
            <a:extLst>
              <a:ext uri="{FF2B5EF4-FFF2-40B4-BE49-F238E27FC236}">
                <a16:creationId xmlns:a16="http://schemas.microsoft.com/office/drawing/2014/main" id="{5C2AA695-38B0-8261-2A73-3FF0F60128BA}"/>
              </a:ext>
            </a:extLst>
          </p:cNvPr>
          <p:cNvSpPr txBox="1"/>
          <p:nvPr>
            <p:custDataLst>
              <p:tags r:id="rId7"/>
            </p:custDataLst>
          </p:nvPr>
        </p:nvSpPr>
        <p:spPr>
          <a:xfrm>
            <a:off x="1373386" y="3248312"/>
            <a:ext cx="5509384" cy="85087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采用 </a:t>
            </a:r>
            <a:r>
              <a:rPr lang="en-US" altLang="zh-CN" sz="1200" dirty="0">
                <a:solidFill>
                  <a:schemeClr val="tx2"/>
                </a:solidFill>
              </a:rPr>
              <a:t>5</a:t>
            </a:r>
            <a:r>
              <a:rPr lang="zh-CN" altLang="en-US" sz="1200" dirty="0">
                <a:solidFill>
                  <a:schemeClr val="tx2"/>
                </a:solidFill>
              </a:rPr>
              <a:t>层</a:t>
            </a:r>
            <a:r>
              <a:rPr lang="en-US" altLang="zh-CN" sz="1200" dirty="0">
                <a:solidFill>
                  <a:schemeClr val="tx2"/>
                </a:solidFill>
              </a:rPr>
              <a:t>Conv</a:t>
            </a:r>
            <a:r>
              <a:rPr lang="zh-CN" altLang="en-US" sz="1200" dirty="0">
                <a:solidFill>
                  <a:schemeClr val="tx2"/>
                </a:solidFill>
              </a:rPr>
              <a:t>卷积块 </a:t>
            </a:r>
            <a:r>
              <a:rPr lang="en-US" altLang="zh-CN" sz="1200" dirty="0">
                <a:solidFill>
                  <a:schemeClr val="tx2"/>
                </a:solidFill>
              </a:rPr>
              <a:t>(Conv + BN + </a:t>
            </a:r>
            <a:r>
              <a:rPr lang="en-US" altLang="zh-CN" sz="1200" dirty="0" err="1">
                <a:solidFill>
                  <a:schemeClr val="tx2"/>
                </a:solidFill>
              </a:rPr>
              <a:t>ReLU</a:t>
            </a:r>
            <a:r>
              <a:rPr lang="en-US" altLang="zh-CN" sz="1200" dirty="0">
                <a:solidFill>
                  <a:schemeClr val="tx2"/>
                </a:solidFill>
              </a:rPr>
              <a:t>) </a:t>
            </a:r>
            <a:r>
              <a:rPr lang="zh-CN" altLang="en-US" sz="1200" dirty="0">
                <a:solidFill>
                  <a:schemeClr val="tx2"/>
                </a:solidFill>
              </a:rPr>
              <a:t>级联堆叠；舍弃残差连接与特征融合模块，大幅降低硬件资源消耗。</a:t>
            </a:r>
            <a:endParaRPr lang="en-US" altLang="zh-CN" sz="1200" dirty="0">
              <a:solidFill>
                <a:schemeClr val="tx2"/>
              </a:solidFill>
            </a:endParaRPr>
          </a:p>
          <a:p>
            <a:endParaRPr dirty="0">
              <a:solidFill>
                <a:schemeClr val="tx2"/>
              </a:solidFill>
              <a:latin typeface="微软雅黑" panose="020B0503020204020204" pitchFamily="34" charset="-122"/>
              <a:ea typeface="微软雅黑" panose="020B0503020204020204" pitchFamily="34" charset="-122"/>
            </a:endParaRPr>
          </a:p>
        </p:txBody>
      </p:sp>
      <p:sp>
        <p:nvSpPr>
          <p:cNvPr id="18" name="椭圆 14">
            <a:extLst>
              <a:ext uri="{FF2B5EF4-FFF2-40B4-BE49-F238E27FC236}">
                <a16:creationId xmlns:a16="http://schemas.microsoft.com/office/drawing/2014/main" id="{EAB48DEE-B093-5589-F03D-A89A6DD6B146}"/>
              </a:ext>
            </a:extLst>
          </p:cNvPr>
          <p:cNvSpPr/>
          <p:nvPr/>
        </p:nvSpPr>
        <p:spPr>
          <a:xfrm>
            <a:off x="1435614" y="3018705"/>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19" name="矩形: 圆角 19">
            <a:extLst>
              <a:ext uri="{FF2B5EF4-FFF2-40B4-BE49-F238E27FC236}">
                <a16:creationId xmlns:a16="http://schemas.microsoft.com/office/drawing/2014/main" id="{F844CA2B-AD0B-26EB-36BF-F1931058D3A4}"/>
              </a:ext>
            </a:extLst>
          </p:cNvPr>
          <p:cNvSpPr/>
          <p:nvPr>
            <p:custDataLst>
              <p:tags r:id="rId8"/>
            </p:custDataLst>
          </p:nvPr>
        </p:nvSpPr>
        <p:spPr>
          <a:xfrm>
            <a:off x="1120707" y="4133668"/>
            <a:ext cx="5762063" cy="1080002"/>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20" name="文本框 17">
            <a:extLst>
              <a:ext uri="{FF2B5EF4-FFF2-40B4-BE49-F238E27FC236}">
                <a16:creationId xmlns:a16="http://schemas.microsoft.com/office/drawing/2014/main" id="{5BF69914-556D-7A82-8D24-415ACE52570B}"/>
              </a:ext>
            </a:extLst>
          </p:cNvPr>
          <p:cNvSpPr txBox="1"/>
          <p:nvPr>
            <p:custDataLst>
              <p:tags r:id="rId9"/>
            </p:custDataLst>
          </p:nvPr>
        </p:nvSpPr>
        <p:spPr>
          <a:xfrm>
            <a:off x="1634196" y="4218610"/>
            <a:ext cx="1943698" cy="369332"/>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自定义检测头 </a:t>
            </a:r>
            <a:endParaRPr lang="zh-CN" dirty="0">
              <a:latin typeface="微软雅黑" panose="020B0503020204020204" pitchFamily="34" charset="-122"/>
              <a:ea typeface="微软雅黑" panose="020B0503020204020204" pitchFamily="34" charset="-122"/>
            </a:endParaRPr>
          </a:p>
        </p:txBody>
      </p:sp>
      <p:sp>
        <p:nvSpPr>
          <p:cNvPr id="21" name="文本框 18">
            <a:extLst>
              <a:ext uri="{FF2B5EF4-FFF2-40B4-BE49-F238E27FC236}">
                <a16:creationId xmlns:a16="http://schemas.microsoft.com/office/drawing/2014/main" id="{DD543191-489E-12DD-A1C9-533F8BAEB668}"/>
              </a:ext>
            </a:extLst>
          </p:cNvPr>
          <p:cNvSpPr txBox="1"/>
          <p:nvPr>
            <p:custDataLst>
              <p:tags r:id="rId10"/>
            </p:custDataLst>
          </p:nvPr>
        </p:nvSpPr>
        <p:spPr>
          <a:xfrm>
            <a:off x="1372707" y="4558145"/>
            <a:ext cx="5510063" cy="616836"/>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针对仅有的</a:t>
            </a:r>
            <a:r>
              <a:rPr lang="en-US" altLang="zh-CN" sz="1200" dirty="0">
                <a:solidFill>
                  <a:schemeClr val="tx2"/>
                </a:solidFill>
              </a:rPr>
              <a:t>5</a:t>
            </a:r>
            <a:r>
              <a:rPr lang="zh-CN" altLang="en-US" sz="1200" dirty="0">
                <a:solidFill>
                  <a:schemeClr val="tx2"/>
                </a:solidFill>
              </a:rPr>
              <a:t>类车牌（蓝、绿、单层黄、黑、白）定制；将检测头中</a:t>
            </a:r>
            <a:r>
              <a:rPr lang="en-US" altLang="zh-CN" sz="1200" dirty="0" err="1">
                <a:solidFill>
                  <a:schemeClr val="tx2"/>
                </a:solidFill>
              </a:rPr>
              <a:t>cls</a:t>
            </a:r>
            <a:r>
              <a:rPr lang="en-US" altLang="zh-CN" sz="1200" dirty="0">
                <a:solidFill>
                  <a:schemeClr val="tx2"/>
                </a:solidFill>
              </a:rPr>
              <a:t> (</a:t>
            </a:r>
            <a:r>
              <a:rPr lang="zh-CN" altLang="en-US" sz="1200" dirty="0">
                <a:solidFill>
                  <a:schemeClr val="tx2"/>
                </a:solidFill>
              </a:rPr>
              <a:t>分类</a:t>
            </a:r>
            <a:r>
              <a:rPr lang="en-US" altLang="zh-CN" sz="1200" dirty="0">
                <a:solidFill>
                  <a:schemeClr val="tx2"/>
                </a:solidFill>
              </a:rPr>
              <a:t>) </a:t>
            </a:r>
            <a:r>
              <a:rPr lang="zh-CN" altLang="en-US" sz="1200" dirty="0">
                <a:solidFill>
                  <a:schemeClr val="tx2"/>
                </a:solidFill>
              </a:rPr>
              <a:t>和 </a:t>
            </a:r>
            <a:r>
              <a:rPr lang="en-US" altLang="zh-CN" sz="1200" dirty="0" err="1">
                <a:solidFill>
                  <a:schemeClr val="tx2"/>
                </a:solidFill>
              </a:rPr>
              <a:t>bbox</a:t>
            </a:r>
            <a:r>
              <a:rPr lang="en-US" altLang="zh-CN" sz="1200" dirty="0">
                <a:solidFill>
                  <a:schemeClr val="tx2"/>
                </a:solidFill>
              </a:rPr>
              <a:t> (</a:t>
            </a:r>
            <a:r>
              <a:rPr lang="zh-CN" altLang="en-US" sz="1200" dirty="0">
                <a:solidFill>
                  <a:schemeClr val="tx2"/>
                </a:solidFill>
              </a:rPr>
              <a:t>边界框</a:t>
            </a:r>
            <a:r>
              <a:rPr lang="en-US" altLang="zh-CN" sz="1200" dirty="0">
                <a:solidFill>
                  <a:schemeClr val="tx2"/>
                </a:solidFill>
              </a:rPr>
              <a:t>) </a:t>
            </a:r>
            <a:r>
              <a:rPr lang="zh-CN" altLang="en-US" sz="1200" dirty="0">
                <a:solidFill>
                  <a:schemeClr val="tx2"/>
                </a:solidFill>
              </a:rPr>
              <a:t>分支的隐藏层卷积改为外部指定。</a:t>
            </a:r>
            <a:endParaRPr sz="1200" dirty="0">
              <a:solidFill>
                <a:schemeClr val="tx2"/>
              </a:solidFill>
              <a:latin typeface="微软雅黑" panose="020B0503020204020204" pitchFamily="34" charset="-122"/>
              <a:ea typeface="微软雅黑" panose="020B0503020204020204" pitchFamily="34" charset="-122"/>
            </a:endParaRPr>
          </a:p>
        </p:txBody>
      </p:sp>
      <p:sp>
        <p:nvSpPr>
          <p:cNvPr id="22" name="椭圆 14">
            <a:extLst>
              <a:ext uri="{FF2B5EF4-FFF2-40B4-BE49-F238E27FC236}">
                <a16:creationId xmlns:a16="http://schemas.microsoft.com/office/drawing/2014/main" id="{B6E8068D-A410-F780-B2DF-DD37FFFAF98B}"/>
              </a:ext>
            </a:extLst>
          </p:cNvPr>
          <p:cNvSpPr/>
          <p:nvPr/>
        </p:nvSpPr>
        <p:spPr>
          <a:xfrm>
            <a:off x="1436292" y="4325195"/>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25" name="矩形: 圆角 19">
            <a:extLst>
              <a:ext uri="{FF2B5EF4-FFF2-40B4-BE49-F238E27FC236}">
                <a16:creationId xmlns:a16="http://schemas.microsoft.com/office/drawing/2014/main" id="{2C5BA4B4-F4FE-5BFE-2AA4-B2E235B2ABDB}"/>
              </a:ext>
            </a:extLst>
          </p:cNvPr>
          <p:cNvSpPr/>
          <p:nvPr>
            <p:custDataLst>
              <p:tags r:id="rId11"/>
            </p:custDataLst>
          </p:nvPr>
        </p:nvSpPr>
        <p:spPr>
          <a:xfrm>
            <a:off x="1120029" y="5404286"/>
            <a:ext cx="5762063" cy="813634"/>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26" name="文本框 17">
            <a:extLst>
              <a:ext uri="{FF2B5EF4-FFF2-40B4-BE49-F238E27FC236}">
                <a16:creationId xmlns:a16="http://schemas.microsoft.com/office/drawing/2014/main" id="{B3B73B49-5B5A-0652-31C4-39733242DAAB}"/>
              </a:ext>
            </a:extLst>
          </p:cNvPr>
          <p:cNvSpPr txBox="1"/>
          <p:nvPr>
            <p:custDataLst>
              <p:tags r:id="rId12"/>
            </p:custDataLst>
          </p:nvPr>
        </p:nvSpPr>
        <p:spPr>
          <a:xfrm>
            <a:off x="1634873" y="5489227"/>
            <a:ext cx="2976315"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硬件友好的激活函数</a:t>
            </a:r>
            <a:endParaRPr lang="zh-CN" dirty="0">
              <a:latin typeface="微软雅黑" panose="020B0503020204020204" pitchFamily="34" charset="-122"/>
              <a:ea typeface="微软雅黑" panose="020B0503020204020204" pitchFamily="34" charset="-122"/>
            </a:endParaRPr>
          </a:p>
        </p:txBody>
      </p:sp>
      <p:sp>
        <p:nvSpPr>
          <p:cNvPr id="27" name="文本框 18">
            <a:extLst>
              <a:ext uri="{FF2B5EF4-FFF2-40B4-BE49-F238E27FC236}">
                <a16:creationId xmlns:a16="http://schemas.microsoft.com/office/drawing/2014/main" id="{8CB2E73B-C820-ABAC-8191-5DD339767C08}"/>
              </a:ext>
            </a:extLst>
          </p:cNvPr>
          <p:cNvSpPr txBox="1"/>
          <p:nvPr>
            <p:custDataLst>
              <p:tags r:id="rId13"/>
            </p:custDataLst>
          </p:nvPr>
        </p:nvSpPr>
        <p:spPr>
          <a:xfrm>
            <a:off x="1373384" y="5828762"/>
            <a:ext cx="5508707" cy="339837"/>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将</a:t>
            </a:r>
            <a:r>
              <a:rPr lang="en-US" altLang="zh-CN" sz="1200" dirty="0" err="1">
                <a:solidFill>
                  <a:schemeClr val="tx2"/>
                </a:solidFill>
              </a:rPr>
              <a:t>SiLU</a:t>
            </a:r>
            <a:r>
              <a:rPr lang="zh-CN" altLang="en-US" sz="1200" dirty="0">
                <a:solidFill>
                  <a:schemeClr val="tx2"/>
                </a:solidFill>
              </a:rPr>
              <a:t>替换为 </a:t>
            </a:r>
            <a:r>
              <a:rPr lang="en-US" altLang="zh-CN" sz="1200" dirty="0" err="1">
                <a:solidFill>
                  <a:schemeClr val="tx2"/>
                </a:solidFill>
              </a:rPr>
              <a:t>ReLU</a:t>
            </a:r>
            <a:r>
              <a:rPr lang="zh-CN" altLang="en-US" sz="1200" dirty="0">
                <a:solidFill>
                  <a:schemeClr val="tx2"/>
                </a:solidFill>
              </a:rPr>
              <a:t>，便于硬件实现。</a:t>
            </a:r>
            <a:endParaRPr sz="1200" dirty="0">
              <a:solidFill>
                <a:schemeClr val="tx2"/>
              </a:solidFill>
              <a:latin typeface="微软雅黑" panose="020B0503020204020204" pitchFamily="34" charset="-122"/>
              <a:ea typeface="微软雅黑" panose="020B0503020204020204" pitchFamily="34" charset="-122"/>
            </a:endParaRPr>
          </a:p>
        </p:txBody>
      </p:sp>
      <p:sp>
        <p:nvSpPr>
          <p:cNvPr id="28" name="椭圆 14">
            <a:extLst>
              <a:ext uri="{FF2B5EF4-FFF2-40B4-BE49-F238E27FC236}">
                <a16:creationId xmlns:a16="http://schemas.microsoft.com/office/drawing/2014/main" id="{0F338F1B-1315-E65E-6989-CC5975F679B7}"/>
              </a:ext>
            </a:extLst>
          </p:cNvPr>
          <p:cNvSpPr/>
          <p:nvPr/>
        </p:nvSpPr>
        <p:spPr>
          <a:xfrm>
            <a:off x="1436970" y="5595812"/>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Tree>
    <p:custDataLst>
      <p:tags r:id="rId1"/>
    </p:custDataLst>
    <p:extLst>
      <p:ext uri="{BB962C8B-B14F-4D97-AF65-F5344CB8AC3E}">
        <p14:creationId xmlns:p14="http://schemas.microsoft.com/office/powerpoint/2010/main" val="2815338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56926-5E82-DB4C-C99C-106B35981F00}"/>
            </a:ext>
          </a:extLst>
        </p:cNvPr>
        <p:cNvGrpSpPr/>
        <p:nvPr/>
      </p:nvGrpSpPr>
      <p:grpSpPr>
        <a:xfrm>
          <a:off x="0" y="0"/>
          <a:ext cx="0" cy="0"/>
          <a:chOff x="0" y="0"/>
          <a:chExt cx="0" cy="0"/>
        </a:xfrm>
      </p:grpSpPr>
      <p:pic>
        <p:nvPicPr>
          <p:cNvPr id="36" name="图片 35" descr="内容页" hidden="1">
            <a:extLst>
              <a:ext uri="{FF2B5EF4-FFF2-40B4-BE49-F238E27FC236}">
                <a16:creationId xmlns:a16="http://schemas.microsoft.com/office/drawing/2014/main" id="{4D6F1D3C-8066-5FEA-BEF8-211E598833EA}"/>
              </a:ext>
            </a:extLst>
          </p:cNvPr>
          <p:cNvPicPr>
            <a:picLocks noChangeAspect="1"/>
          </p:cNvPicPr>
          <p:nvPr/>
        </p:nvPicPr>
        <p:blipFill>
          <a:blip r:embed="rId12"/>
          <a:stretch>
            <a:fillRect/>
          </a:stretch>
        </p:blipFill>
        <p:spPr>
          <a:xfrm>
            <a:off x="-635" y="-635"/>
            <a:ext cx="12192635" cy="6858635"/>
          </a:xfrm>
          <a:prstGeom prst="rect">
            <a:avLst/>
          </a:prstGeom>
        </p:spPr>
      </p:pic>
      <p:pic>
        <p:nvPicPr>
          <p:cNvPr id="3" name="图片 2" descr="集创赛1">
            <a:extLst>
              <a:ext uri="{FF2B5EF4-FFF2-40B4-BE49-F238E27FC236}">
                <a16:creationId xmlns:a16="http://schemas.microsoft.com/office/drawing/2014/main" id="{B12629FF-3119-D2AD-B5CB-03489A4FE0A6}"/>
              </a:ext>
            </a:extLst>
          </p:cNvPr>
          <p:cNvPicPr>
            <a:picLocks noChangeAspect="1"/>
          </p:cNvPicPr>
          <p:nvPr/>
        </p:nvPicPr>
        <p:blipFill>
          <a:blip r:embed="rId13"/>
          <a:stretch>
            <a:fillRect/>
          </a:stretch>
        </p:blipFill>
        <p:spPr>
          <a:xfrm>
            <a:off x="900000" y="0"/>
            <a:ext cx="2016000" cy="1260000"/>
          </a:xfrm>
          <a:prstGeom prst="rect">
            <a:avLst/>
          </a:prstGeom>
        </p:spPr>
      </p:pic>
      <p:sp>
        <p:nvSpPr>
          <p:cNvPr id="10" name="组合 33">
            <a:extLst>
              <a:ext uri="{FF2B5EF4-FFF2-40B4-BE49-F238E27FC236}">
                <a16:creationId xmlns:a16="http://schemas.microsoft.com/office/drawing/2014/main" id="{C7D0C884-9B5E-F02C-F581-2EB4E108C844}"/>
              </a:ext>
            </a:extLst>
          </p:cNvPr>
          <p:cNvSpPr/>
          <p:nvPr/>
        </p:nvSpPr>
        <p:spPr>
          <a:xfrm>
            <a:off x="4014355" y="720000"/>
            <a:ext cx="416329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en-US" altLang="zh-CN" dirty="0" err="1">
                <a:latin typeface="微软雅黑" panose="020B0503020204020204" pitchFamily="34" charset="-122"/>
                <a:ea typeface="微软雅黑" panose="020B0503020204020204" pitchFamily="34" charset="-122"/>
              </a:rPr>
              <a:t>LPRNet</a:t>
            </a:r>
            <a:r>
              <a:rPr lang="zh-CN" altLang="en-US" dirty="0">
                <a:latin typeface="微软雅黑" panose="020B0503020204020204" pitchFamily="34" charset="-122"/>
                <a:ea typeface="微软雅黑" panose="020B0503020204020204" pitchFamily="34" charset="-122"/>
              </a:rPr>
              <a:t>车牌号识别模型</a:t>
            </a:r>
            <a:endParaRPr lang="zh-CN" dirty="0">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CD4AAA29-673D-32DF-4F79-ABF48FACD45D}"/>
              </a:ext>
            </a:extLst>
          </p:cNvPr>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B2F00973-F1DB-7D31-2BA6-8AF5900E0F93}"/>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746394" y="1125118"/>
            <a:ext cx="3624431" cy="5383862"/>
          </a:xfrm>
          <a:prstGeom prst="rect">
            <a:avLst/>
          </a:prstGeom>
        </p:spPr>
      </p:pic>
      <p:sp>
        <p:nvSpPr>
          <p:cNvPr id="2" name="文本框 1">
            <a:extLst>
              <a:ext uri="{FF2B5EF4-FFF2-40B4-BE49-F238E27FC236}">
                <a16:creationId xmlns:a16="http://schemas.microsoft.com/office/drawing/2014/main" id="{F1F352A3-55A0-D0C8-8B02-CE1A1E2410FB}"/>
              </a:ext>
            </a:extLst>
          </p:cNvPr>
          <p:cNvSpPr txBox="1"/>
          <p:nvPr/>
        </p:nvSpPr>
        <p:spPr>
          <a:xfrm>
            <a:off x="1054608" y="2471056"/>
            <a:ext cx="2852928" cy="1487424"/>
          </a:xfrm>
          <a:prstGeom prst="rect">
            <a:avLst/>
          </a:prstGeom>
          <a:noFill/>
        </p:spPr>
        <p:txBody>
          <a:bodyPr wrap="square" rtlCol="0">
            <a:spAutoFit/>
          </a:bodyPr>
          <a:lstStyle/>
          <a:p>
            <a:endParaRPr lang="zh-CN" altLang="en-US" dirty="0"/>
          </a:p>
        </p:txBody>
      </p:sp>
      <p:sp>
        <p:nvSpPr>
          <p:cNvPr id="4" name="矩形: 圆角 19">
            <a:extLst>
              <a:ext uri="{FF2B5EF4-FFF2-40B4-BE49-F238E27FC236}">
                <a16:creationId xmlns:a16="http://schemas.microsoft.com/office/drawing/2014/main" id="{98309335-C6FE-1A28-1558-0AEFCB4E8D8A}"/>
              </a:ext>
            </a:extLst>
          </p:cNvPr>
          <p:cNvSpPr/>
          <p:nvPr>
            <p:custDataLst>
              <p:tags r:id="rId2"/>
            </p:custDataLst>
          </p:nvPr>
        </p:nvSpPr>
        <p:spPr>
          <a:xfrm>
            <a:off x="1121385" y="2303539"/>
            <a:ext cx="5553058" cy="783570"/>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5" name="文本框 17">
            <a:extLst>
              <a:ext uri="{FF2B5EF4-FFF2-40B4-BE49-F238E27FC236}">
                <a16:creationId xmlns:a16="http://schemas.microsoft.com/office/drawing/2014/main" id="{1CC2F8F0-459A-61B7-B815-9A373AFA0405}"/>
              </a:ext>
            </a:extLst>
          </p:cNvPr>
          <p:cNvSpPr txBox="1"/>
          <p:nvPr>
            <p:custDataLst>
              <p:tags r:id="rId3"/>
            </p:custDataLst>
          </p:nvPr>
        </p:nvSpPr>
        <p:spPr>
          <a:xfrm>
            <a:off x="1634875" y="2388482"/>
            <a:ext cx="2379480"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极简架构与高效识别</a:t>
            </a:r>
            <a:endParaRPr lang="zh-CN" dirty="0">
              <a:latin typeface="微软雅黑" panose="020B0503020204020204" pitchFamily="34" charset="-122"/>
              <a:ea typeface="微软雅黑" panose="020B0503020204020204" pitchFamily="34" charset="-122"/>
            </a:endParaRPr>
          </a:p>
        </p:txBody>
      </p:sp>
      <p:sp>
        <p:nvSpPr>
          <p:cNvPr id="6" name="文本框 18">
            <a:extLst>
              <a:ext uri="{FF2B5EF4-FFF2-40B4-BE49-F238E27FC236}">
                <a16:creationId xmlns:a16="http://schemas.microsoft.com/office/drawing/2014/main" id="{FB18A8C8-6F36-728B-1068-83868EE112CF}"/>
              </a:ext>
            </a:extLst>
          </p:cNvPr>
          <p:cNvSpPr txBox="1"/>
          <p:nvPr>
            <p:custDataLst>
              <p:tags r:id="rId4"/>
            </p:custDataLst>
          </p:nvPr>
        </p:nvSpPr>
        <p:spPr>
          <a:xfrm>
            <a:off x="1373386" y="2728017"/>
            <a:ext cx="5301734" cy="339837"/>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基于开源</a:t>
            </a:r>
            <a:r>
              <a:rPr lang="en-US" altLang="zh-CN" sz="1200" dirty="0" err="1">
                <a:solidFill>
                  <a:schemeClr val="tx2"/>
                </a:solidFill>
              </a:rPr>
              <a:t>STNet_LPRNet</a:t>
            </a:r>
            <a:r>
              <a:rPr lang="zh-CN" altLang="en-US" sz="1200" dirty="0">
                <a:solidFill>
                  <a:schemeClr val="tx2"/>
                </a:solidFill>
              </a:rPr>
              <a:t>深度定制，去除冗余模块，追求</a:t>
            </a:r>
            <a:r>
              <a:rPr lang="en-US" altLang="zh-CN" sz="1200" dirty="0">
                <a:solidFill>
                  <a:schemeClr val="tx2"/>
                </a:solidFill>
              </a:rPr>
              <a:t>FPGA</a:t>
            </a:r>
            <a:r>
              <a:rPr lang="zh-CN" altLang="en-US" sz="1200" dirty="0">
                <a:solidFill>
                  <a:schemeClr val="tx2"/>
                </a:solidFill>
              </a:rPr>
              <a:t>上的极致性能。</a:t>
            </a:r>
            <a:endParaRPr sz="1200" dirty="0">
              <a:solidFill>
                <a:schemeClr val="tx2"/>
              </a:solidFill>
              <a:latin typeface="微软雅黑" panose="020B0503020204020204" pitchFamily="34" charset="-122"/>
              <a:ea typeface="微软雅黑" panose="020B0503020204020204" pitchFamily="34" charset="-122"/>
            </a:endParaRPr>
          </a:p>
        </p:txBody>
      </p:sp>
      <p:sp>
        <p:nvSpPr>
          <p:cNvPr id="7" name="椭圆 14">
            <a:extLst>
              <a:ext uri="{FF2B5EF4-FFF2-40B4-BE49-F238E27FC236}">
                <a16:creationId xmlns:a16="http://schemas.microsoft.com/office/drawing/2014/main" id="{7950F7EE-4742-815A-B568-EB3B76AFF92B}"/>
              </a:ext>
            </a:extLst>
          </p:cNvPr>
          <p:cNvSpPr/>
          <p:nvPr/>
        </p:nvSpPr>
        <p:spPr>
          <a:xfrm>
            <a:off x="1436971" y="2495067"/>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8" name="矩形: 圆角 19">
            <a:extLst>
              <a:ext uri="{FF2B5EF4-FFF2-40B4-BE49-F238E27FC236}">
                <a16:creationId xmlns:a16="http://schemas.microsoft.com/office/drawing/2014/main" id="{5EB845D5-A8F8-7656-C275-038C34F81730}"/>
              </a:ext>
            </a:extLst>
          </p:cNvPr>
          <p:cNvSpPr/>
          <p:nvPr>
            <p:custDataLst>
              <p:tags r:id="rId5"/>
            </p:custDataLst>
          </p:nvPr>
        </p:nvSpPr>
        <p:spPr>
          <a:xfrm>
            <a:off x="1120029" y="3408473"/>
            <a:ext cx="5554414" cy="1072087"/>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9" name="文本框 17">
            <a:extLst>
              <a:ext uri="{FF2B5EF4-FFF2-40B4-BE49-F238E27FC236}">
                <a16:creationId xmlns:a16="http://schemas.microsoft.com/office/drawing/2014/main" id="{B82D7B62-182F-E2D9-5079-BDDE056341EE}"/>
              </a:ext>
            </a:extLst>
          </p:cNvPr>
          <p:cNvSpPr txBox="1"/>
          <p:nvPr>
            <p:custDataLst>
              <p:tags r:id="rId6"/>
            </p:custDataLst>
          </p:nvPr>
        </p:nvSpPr>
        <p:spPr>
          <a:xfrm>
            <a:off x="1633518" y="3493416"/>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网络瘦身策略</a:t>
            </a:r>
            <a:endParaRPr lang="zh-CN" dirty="0">
              <a:latin typeface="微软雅黑" panose="020B0503020204020204" pitchFamily="34" charset="-122"/>
              <a:ea typeface="微软雅黑" panose="020B0503020204020204" pitchFamily="34" charset="-122"/>
            </a:endParaRPr>
          </a:p>
        </p:txBody>
      </p:sp>
      <p:sp>
        <p:nvSpPr>
          <p:cNvPr id="11" name="文本框 18">
            <a:extLst>
              <a:ext uri="{FF2B5EF4-FFF2-40B4-BE49-F238E27FC236}">
                <a16:creationId xmlns:a16="http://schemas.microsoft.com/office/drawing/2014/main" id="{8EFECF74-D2FD-0ED4-D36D-D76DAFDF2C2F}"/>
              </a:ext>
            </a:extLst>
          </p:cNvPr>
          <p:cNvSpPr txBox="1"/>
          <p:nvPr>
            <p:custDataLst>
              <p:tags r:id="rId7"/>
            </p:custDataLst>
          </p:nvPr>
        </p:nvSpPr>
        <p:spPr>
          <a:xfrm>
            <a:off x="1373385" y="3829608"/>
            <a:ext cx="5301058" cy="85087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移除复杂模块：去除 </a:t>
            </a:r>
            <a:r>
              <a:rPr lang="en-US" altLang="zh-CN" sz="1200" dirty="0" err="1">
                <a:solidFill>
                  <a:schemeClr val="tx2"/>
                </a:solidFill>
              </a:rPr>
              <a:t>small_basic_block</a:t>
            </a:r>
            <a:r>
              <a:rPr lang="zh-CN" altLang="en-US" sz="1200" dirty="0">
                <a:solidFill>
                  <a:schemeClr val="tx2"/>
                </a:solidFill>
              </a:rPr>
              <a:t>、多尺度特征融合及特殊</a:t>
            </a:r>
            <a:r>
              <a:rPr lang="en-US" altLang="zh-CN" sz="1200" dirty="0">
                <a:solidFill>
                  <a:schemeClr val="tx2"/>
                </a:solidFill>
              </a:rPr>
              <a:t>Padding</a:t>
            </a:r>
            <a:r>
              <a:rPr lang="zh-CN" altLang="en-US" sz="1200" dirty="0">
                <a:solidFill>
                  <a:schemeClr val="tx2"/>
                </a:solidFill>
              </a:rPr>
              <a:t>策略。</a:t>
            </a:r>
            <a:endParaRPr lang="en-US" altLang="zh-CN" sz="1200" dirty="0">
              <a:solidFill>
                <a:schemeClr val="tx2"/>
              </a:solidFill>
            </a:endParaRPr>
          </a:p>
          <a:p>
            <a:r>
              <a:rPr lang="zh-CN" altLang="en-US" sz="1200" dirty="0">
                <a:solidFill>
                  <a:schemeClr val="tx2"/>
                </a:solidFill>
              </a:rPr>
              <a:t>保留基础算子：仅使用标准 </a:t>
            </a:r>
            <a:r>
              <a:rPr lang="en-US" altLang="zh-CN" sz="1200" dirty="0">
                <a:solidFill>
                  <a:schemeClr val="tx2"/>
                </a:solidFill>
              </a:rPr>
              <a:t>Conv</a:t>
            </a:r>
            <a:r>
              <a:rPr lang="zh-CN" altLang="en-US" sz="1200" dirty="0">
                <a:solidFill>
                  <a:schemeClr val="tx2"/>
                </a:solidFill>
              </a:rPr>
              <a:t>、</a:t>
            </a:r>
            <a:r>
              <a:rPr lang="en-US" altLang="zh-CN" sz="1200" dirty="0" err="1">
                <a:solidFill>
                  <a:schemeClr val="tx2"/>
                </a:solidFill>
              </a:rPr>
              <a:t>MaxPool</a:t>
            </a:r>
            <a:r>
              <a:rPr lang="zh-CN" altLang="en-US" sz="1200" dirty="0">
                <a:solidFill>
                  <a:schemeClr val="tx2"/>
                </a:solidFill>
              </a:rPr>
              <a:t>、</a:t>
            </a:r>
            <a:r>
              <a:rPr lang="en-US" altLang="zh-CN" sz="1200" dirty="0">
                <a:solidFill>
                  <a:schemeClr val="tx2"/>
                </a:solidFill>
              </a:rPr>
              <a:t>nn.Conv2d </a:t>
            </a:r>
            <a:r>
              <a:rPr lang="zh-CN" altLang="en-US" sz="1200" dirty="0">
                <a:solidFill>
                  <a:schemeClr val="tx2"/>
                </a:solidFill>
              </a:rPr>
              <a:t>及 </a:t>
            </a:r>
            <a:r>
              <a:rPr lang="en-US" altLang="zh-CN" sz="1200" dirty="0" err="1">
                <a:solidFill>
                  <a:schemeClr val="tx2"/>
                </a:solidFill>
              </a:rPr>
              <a:t>torch.mean</a:t>
            </a:r>
            <a:r>
              <a:rPr lang="zh-CN" altLang="en-US" sz="1200" dirty="0">
                <a:solidFill>
                  <a:schemeClr val="tx2"/>
                </a:solidFill>
              </a:rPr>
              <a:t>。</a:t>
            </a:r>
            <a:endParaRPr lang="en-US" altLang="zh-CN" sz="1200" dirty="0">
              <a:solidFill>
                <a:schemeClr val="tx2"/>
              </a:solidFill>
            </a:endParaRPr>
          </a:p>
          <a:p>
            <a:endParaRPr dirty="0">
              <a:solidFill>
                <a:schemeClr val="tx2"/>
              </a:solidFill>
              <a:latin typeface="微软雅黑" panose="020B0503020204020204" pitchFamily="34" charset="-122"/>
              <a:ea typeface="微软雅黑" panose="020B0503020204020204" pitchFamily="34" charset="-122"/>
            </a:endParaRPr>
          </a:p>
        </p:txBody>
      </p:sp>
      <p:sp>
        <p:nvSpPr>
          <p:cNvPr id="12" name="椭圆 14">
            <a:extLst>
              <a:ext uri="{FF2B5EF4-FFF2-40B4-BE49-F238E27FC236}">
                <a16:creationId xmlns:a16="http://schemas.microsoft.com/office/drawing/2014/main" id="{3AE9204A-81DF-DC29-618E-3BEC57DDB702}"/>
              </a:ext>
            </a:extLst>
          </p:cNvPr>
          <p:cNvSpPr/>
          <p:nvPr/>
        </p:nvSpPr>
        <p:spPr>
          <a:xfrm>
            <a:off x="1435614" y="360000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13" name="矩形: 圆角 19">
            <a:extLst>
              <a:ext uri="{FF2B5EF4-FFF2-40B4-BE49-F238E27FC236}">
                <a16:creationId xmlns:a16="http://schemas.microsoft.com/office/drawing/2014/main" id="{74B264EF-5048-0F39-FD10-C523B8B640DB}"/>
              </a:ext>
            </a:extLst>
          </p:cNvPr>
          <p:cNvSpPr/>
          <p:nvPr>
            <p:custDataLst>
              <p:tags r:id="rId8"/>
            </p:custDataLst>
          </p:nvPr>
        </p:nvSpPr>
        <p:spPr>
          <a:xfrm>
            <a:off x="1120706" y="4714963"/>
            <a:ext cx="5554414" cy="1072087"/>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14" name="文本框 17">
            <a:extLst>
              <a:ext uri="{FF2B5EF4-FFF2-40B4-BE49-F238E27FC236}">
                <a16:creationId xmlns:a16="http://schemas.microsoft.com/office/drawing/2014/main" id="{59B7310D-EA0D-6BA3-D362-E8CD3FD3BBB2}"/>
              </a:ext>
            </a:extLst>
          </p:cNvPr>
          <p:cNvSpPr txBox="1"/>
          <p:nvPr>
            <p:custDataLst>
              <p:tags r:id="rId9"/>
            </p:custDataLst>
          </p:nvPr>
        </p:nvSpPr>
        <p:spPr>
          <a:xfrm>
            <a:off x="1634196" y="4799906"/>
            <a:ext cx="1943698" cy="369332"/>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特征图尺寸控制</a:t>
            </a:r>
            <a:endParaRPr lang="zh-CN" dirty="0">
              <a:latin typeface="微软雅黑" panose="020B0503020204020204" pitchFamily="34" charset="-122"/>
              <a:ea typeface="微软雅黑" panose="020B0503020204020204" pitchFamily="34" charset="-122"/>
            </a:endParaRPr>
          </a:p>
        </p:txBody>
      </p:sp>
      <p:sp>
        <p:nvSpPr>
          <p:cNvPr id="15" name="文本框 18">
            <a:extLst>
              <a:ext uri="{FF2B5EF4-FFF2-40B4-BE49-F238E27FC236}">
                <a16:creationId xmlns:a16="http://schemas.microsoft.com/office/drawing/2014/main" id="{593D2766-C22E-50C3-A8CE-2A886B78F456}"/>
              </a:ext>
            </a:extLst>
          </p:cNvPr>
          <p:cNvSpPr txBox="1"/>
          <p:nvPr>
            <p:custDataLst>
              <p:tags r:id="rId10"/>
            </p:custDataLst>
          </p:nvPr>
        </p:nvSpPr>
        <p:spPr>
          <a:xfrm>
            <a:off x="1372706" y="5139441"/>
            <a:ext cx="5302413" cy="616836"/>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通过精心设计输入尺寸（</a:t>
            </a:r>
            <a:r>
              <a:rPr lang="en-US" altLang="zh-CN" sz="1200" dirty="0">
                <a:solidFill>
                  <a:schemeClr val="tx2"/>
                </a:solidFill>
              </a:rPr>
              <a:t>3×20×80</a:t>
            </a:r>
            <a:r>
              <a:rPr lang="zh-CN" altLang="en-US" sz="1200" dirty="0">
                <a:solidFill>
                  <a:schemeClr val="tx2"/>
                </a:solidFill>
              </a:rPr>
              <a:t>）与卷积 </a:t>
            </a:r>
            <a:r>
              <a:rPr lang="en-US" altLang="zh-CN" sz="1200" dirty="0">
                <a:solidFill>
                  <a:schemeClr val="tx2"/>
                </a:solidFill>
              </a:rPr>
              <a:t>stride </a:t>
            </a:r>
            <a:r>
              <a:rPr lang="zh-CN" altLang="en-US" sz="1200" dirty="0">
                <a:solidFill>
                  <a:schemeClr val="tx2"/>
                </a:solidFill>
              </a:rPr>
              <a:t>步长，实现特征图逐级降维</a:t>
            </a:r>
            <a:endParaRPr lang="en-US" altLang="zh-CN" sz="1200" dirty="0">
              <a:solidFill>
                <a:schemeClr val="tx2"/>
              </a:solidFill>
            </a:endParaRPr>
          </a:p>
          <a:p>
            <a:r>
              <a:rPr lang="zh-CN" altLang="en-US" sz="1200" dirty="0">
                <a:solidFill>
                  <a:schemeClr val="tx2"/>
                </a:solidFill>
              </a:rPr>
              <a:t>最终输出 </a:t>
            </a:r>
            <a:r>
              <a:rPr lang="en-US" altLang="zh-CN" sz="1200" dirty="0">
                <a:solidFill>
                  <a:schemeClr val="tx2"/>
                </a:solidFill>
              </a:rPr>
              <a:t>76×20 </a:t>
            </a:r>
            <a:r>
              <a:rPr lang="zh-CN" altLang="en-US" sz="1200" dirty="0">
                <a:solidFill>
                  <a:schemeClr val="tx2"/>
                </a:solidFill>
              </a:rPr>
              <a:t>的特征序列，直接用于车牌字符识别。</a:t>
            </a:r>
            <a:endParaRPr sz="1200" dirty="0">
              <a:solidFill>
                <a:schemeClr val="tx2"/>
              </a:solidFill>
              <a:latin typeface="微软雅黑" panose="020B0503020204020204" pitchFamily="34" charset="-122"/>
              <a:ea typeface="微软雅黑" panose="020B0503020204020204" pitchFamily="34" charset="-122"/>
            </a:endParaRPr>
          </a:p>
        </p:txBody>
      </p:sp>
      <p:sp>
        <p:nvSpPr>
          <p:cNvPr id="17" name="椭圆 14">
            <a:extLst>
              <a:ext uri="{FF2B5EF4-FFF2-40B4-BE49-F238E27FC236}">
                <a16:creationId xmlns:a16="http://schemas.microsoft.com/office/drawing/2014/main" id="{3508904C-E845-2A54-FD06-C15C430C50DB}"/>
              </a:ext>
            </a:extLst>
          </p:cNvPr>
          <p:cNvSpPr/>
          <p:nvPr/>
        </p:nvSpPr>
        <p:spPr>
          <a:xfrm>
            <a:off x="1436292" y="490649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Tree>
    <p:custDataLst>
      <p:tags r:id="rId1"/>
    </p:custDataLst>
    <p:extLst>
      <p:ext uri="{BB962C8B-B14F-4D97-AF65-F5344CB8AC3E}">
        <p14:creationId xmlns:p14="http://schemas.microsoft.com/office/powerpoint/2010/main" val="1103166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首页"/>
          <p:cNvPicPr>
            <a:picLocks noChangeAspect="1"/>
          </p:cNvPicPr>
          <p:nvPr/>
        </p:nvPicPr>
        <p:blipFill>
          <a:blip r:embed="rId6"/>
          <a:stretch>
            <a:fillRect/>
          </a:stretch>
        </p:blipFill>
        <p:spPr>
          <a:xfrm>
            <a:off x="0" y="0"/>
            <a:ext cx="12192000" cy="6858000"/>
          </a:xfrm>
          <a:prstGeom prst="rect">
            <a:avLst/>
          </a:prstGeom>
        </p:spPr>
      </p:pic>
      <p:sp>
        <p:nvSpPr>
          <p:cNvPr id="3" name="矩形 2"/>
          <p:cNvSpPr/>
          <p:nvPr>
            <p:custDataLst>
              <p:tags r:id="rId2"/>
            </p:custDataLst>
          </p:nvPr>
        </p:nvSpPr>
        <p:spPr>
          <a:xfrm>
            <a:off x="5646000" y="1800000"/>
            <a:ext cx="900000" cy="900000"/>
          </a:xfrm>
          <a:prstGeom prst="rect">
            <a:avLst/>
          </a:prstGeom>
          <a:solidFill>
            <a:srgbClr val="55CBF8"/>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000" dirty="0">
                <a:latin typeface="微软雅黑" panose="020B0503020204020204" pitchFamily="34" charset="-122"/>
                <a:ea typeface="微软雅黑" panose="020B0503020204020204" pitchFamily="34" charset="-122"/>
              </a:rPr>
              <a:t>1</a:t>
            </a:r>
          </a:p>
        </p:txBody>
      </p:sp>
      <p:sp>
        <p:nvSpPr>
          <p:cNvPr id="7" name="文本框 6"/>
          <p:cNvSpPr txBox="1"/>
          <p:nvPr>
            <p:custDataLst>
              <p:tags r:id="rId3"/>
            </p:custDataLst>
          </p:nvPr>
        </p:nvSpPr>
        <p:spPr>
          <a:xfrm>
            <a:off x="2681605" y="2880000"/>
            <a:ext cx="6828790" cy="720090"/>
          </a:xfrm>
          <a:prstGeom prst="rect">
            <a:avLst/>
          </a:prstGeom>
          <a:noFill/>
        </p:spPr>
        <p:txBody>
          <a:bodyPr wrap="square" rtlCol="0">
            <a:noAutofit/>
          </a:bodyPr>
          <a:lstStyle/>
          <a:p>
            <a:pPr algn="ctr"/>
            <a:r>
              <a:rPr lang="zh-CN" altLang="en-US" sz="4400" dirty="0">
                <a:solidFill>
                  <a:srgbClr val="142DA8"/>
                </a:solidFill>
                <a:latin typeface="微软雅黑" panose="020B0503020204020204" pitchFamily="34" charset="-122"/>
                <a:ea typeface="微软雅黑" panose="020B0503020204020204" pitchFamily="34" charset="-122"/>
              </a:rPr>
              <a:t>软件部分</a:t>
            </a:r>
          </a:p>
        </p:txBody>
      </p:sp>
      <p:sp>
        <p:nvSpPr>
          <p:cNvPr id="17" name="文本框 16"/>
          <p:cNvSpPr txBox="1"/>
          <p:nvPr>
            <p:custDataLst>
              <p:tags r:id="rId4"/>
            </p:custDataLst>
          </p:nvPr>
        </p:nvSpPr>
        <p:spPr>
          <a:xfrm>
            <a:off x="3473768" y="3780000"/>
            <a:ext cx="5244465" cy="521970"/>
          </a:xfrm>
          <a:prstGeom prst="rect">
            <a:avLst/>
          </a:prstGeom>
          <a:noFill/>
        </p:spPr>
        <p:txBody>
          <a:bodyPr wrap="square" rtlCol="0">
            <a:spAutoFit/>
          </a:bodyPr>
          <a:lstStyle/>
          <a:p>
            <a:pPr algn="ctr"/>
            <a:r>
              <a:rPr lang="zh-CN" altLang="en-US" sz="2800" dirty="0">
                <a:solidFill>
                  <a:srgbClr val="666666"/>
                </a:solidFill>
                <a:latin typeface="微软雅黑" panose="020B0503020204020204" pitchFamily="34" charset="-122"/>
                <a:ea typeface="微软雅黑" panose="020B0503020204020204" pitchFamily="34" charset="-122"/>
              </a:rPr>
              <a:t>数据集构建</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9A2B9-FE81-7114-2FCF-4E1F5CC928F9}"/>
            </a:ext>
          </a:extLst>
        </p:cNvPr>
        <p:cNvGrpSpPr/>
        <p:nvPr/>
      </p:nvGrpSpPr>
      <p:grpSpPr>
        <a:xfrm>
          <a:off x="0" y="0"/>
          <a:ext cx="0" cy="0"/>
          <a:chOff x="0" y="0"/>
          <a:chExt cx="0" cy="0"/>
        </a:xfrm>
      </p:grpSpPr>
      <p:pic>
        <p:nvPicPr>
          <p:cNvPr id="36" name="图片 35" descr="内容页" hidden="1">
            <a:extLst>
              <a:ext uri="{FF2B5EF4-FFF2-40B4-BE49-F238E27FC236}">
                <a16:creationId xmlns:a16="http://schemas.microsoft.com/office/drawing/2014/main" id="{CE20B9E4-B055-360A-21C2-B82E438CB993}"/>
              </a:ext>
            </a:extLst>
          </p:cNvPr>
          <p:cNvPicPr>
            <a:picLocks noChangeAspect="1"/>
          </p:cNvPicPr>
          <p:nvPr/>
        </p:nvPicPr>
        <p:blipFill>
          <a:blip r:embed="rId15"/>
          <a:stretch>
            <a:fillRect/>
          </a:stretch>
        </p:blipFill>
        <p:spPr>
          <a:xfrm>
            <a:off x="-635" y="0"/>
            <a:ext cx="12192635" cy="6858635"/>
          </a:xfrm>
          <a:prstGeom prst="rect">
            <a:avLst/>
          </a:prstGeom>
        </p:spPr>
      </p:pic>
      <p:pic>
        <p:nvPicPr>
          <p:cNvPr id="3" name="图片 2" descr="集创赛1">
            <a:extLst>
              <a:ext uri="{FF2B5EF4-FFF2-40B4-BE49-F238E27FC236}">
                <a16:creationId xmlns:a16="http://schemas.microsoft.com/office/drawing/2014/main" id="{302DF4F1-D489-24C2-94CF-22BAD0D00D4C}"/>
              </a:ext>
            </a:extLst>
          </p:cNvPr>
          <p:cNvPicPr>
            <a:picLocks noChangeAspect="1"/>
          </p:cNvPicPr>
          <p:nvPr/>
        </p:nvPicPr>
        <p:blipFill>
          <a:blip r:embed="rId16"/>
          <a:stretch>
            <a:fillRect/>
          </a:stretch>
        </p:blipFill>
        <p:spPr>
          <a:xfrm>
            <a:off x="900000" y="0"/>
            <a:ext cx="2016000" cy="1260000"/>
          </a:xfrm>
          <a:prstGeom prst="rect">
            <a:avLst/>
          </a:prstGeom>
        </p:spPr>
      </p:pic>
      <p:sp>
        <p:nvSpPr>
          <p:cNvPr id="10" name="组合 33">
            <a:extLst>
              <a:ext uri="{FF2B5EF4-FFF2-40B4-BE49-F238E27FC236}">
                <a16:creationId xmlns:a16="http://schemas.microsoft.com/office/drawing/2014/main" id="{F22C3512-761B-5E5E-3DE5-6FA12BFE6B93}"/>
              </a:ext>
            </a:extLst>
          </p:cNvPr>
          <p:cNvSpPr/>
          <p:nvPr/>
        </p:nvSpPr>
        <p:spPr>
          <a:xfrm>
            <a:off x="4014355" y="720000"/>
            <a:ext cx="416329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en-US" altLang="zh-CN" dirty="0">
                <a:latin typeface="微软雅黑" panose="020B0503020204020204" pitchFamily="34" charset="-122"/>
                <a:ea typeface="微软雅黑" panose="020B0503020204020204" pitchFamily="34" charset="-122"/>
              </a:rPr>
              <a:t>YOLO</a:t>
            </a:r>
            <a:r>
              <a:rPr lang="zh-CN" altLang="en-US" dirty="0">
                <a:latin typeface="微软雅黑" panose="020B0503020204020204" pitchFamily="34" charset="-122"/>
                <a:ea typeface="微软雅黑" panose="020B0503020204020204" pitchFamily="34" charset="-122"/>
              </a:rPr>
              <a:t>模型数据集构建</a:t>
            </a:r>
            <a:endParaRPr lang="zh-CN" dirty="0">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8ACDA980-6229-3B42-F466-B3023D0F99BC}"/>
              </a:ext>
            </a:extLst>
          </p:cNvPr>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矩形: 圆角 19">
            <a:extLst>
              <a:ext uri="{FF2B5EF4-FFF2-40B4-BE49-F238E27FC236}">
                <a16:creationId xmlns:a16="http://schemas.microsoft.com/office/drawing/2014/main" id="{2C992948-B6A6-F4BC-4A7E-37C1785A702B}"/>
              </a:ext>
            </a:extLst>
          </p:cNvPr>
          <p:cNvSpPr/>
          <p:nvPr>
            <p:custDataLst>
              <p:tags r:id="rId2"/>
            </p:custDataLst>
          </p:nvPr>
        </p:nvSpPr>
        <p:spPr>
          <a:xfrm>
            <a:off x="1121384" y="1721159"/>
            <a:ext cx="5244613" cy="795978"/>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6" name="文本框 17">
            <a:extLst>
              <a:ext uri="{FF2B5EF4-FFF2-40B4-BE49-F238E27FC236}">
                <a16:creationId xmlns:a16="http://schemas.microsoft.com/office/drawing/2014/main" id="{14AC905F-6AC4-460E-7726-6FBF70D4B9C7}"/>
              </a:ext>
            </a:extLst>
          </p:cNvPr>
          <p:cNvSpPr txBox="1"/>
          <p:nvPr>
            <p:custDataLst>
              <p:tags r:id="rId3"/>
            </p:custDataLst>
          </p:nvPr>
        </p:nvSpPr>
        <p:spPr>
          <a:xfrm>
            <a:off x="1634875" y="1807186"/>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真实数据来源</a:t>
            </a:r>
            <a:endParaRPr lang="zh-CN" dirty="0">
              <a:latin typeface="微软雅黑" panose="020B0503020204020204" pitchFamily="34" charset="-122"/>
              <a:ea typeface="微软雅黑" panose="020B0503020204020204" pitchFamily="34" charset="-122"/>
            </a:endParaRPr>
          </a:p>
        </p:txBody>
      </p:sp>
      <p:sp>
        <p:nvSpPr>
          <p:cNvPr id="7" name="文本框 18">
            <a:extLst>
              <a:ext uri="{FF2B5EF4-FFF2-40B4-BE49-F238E27FC236}">
                <a16:creationId xmlns:a16="http://schemas.microsoft.com/office/drawing/2014/main" id="{5A350FBC-00AC-FAAF-3C89-C20429A47388}"/>
              </a:ext>
            </a:extLst>
          </p:cNvPr>
          <p:cNvSpPr txBox="1"/>
          <p:nvPr>
            <p:custDataLst>
              <p:tags r:id="rId4"/>
            </p:custDataLst>
          </p:nvPr>
        </p:nvSpPr>
        <p:spPr>
          <a:xfrm>
            <a:off x="1373386" y="2146721"/>
            <a:ext cx="4992612" cy="339837"/>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en-US" altLang="zh-CN" sz="1200" dirty="0">
                <a:solidFill>
                  <a:schemeClr val="tx2"/>
                </a:solidFill>
              </a:rPr>
              <a:t>CCPD2019</a:t>
            </a:r>
            <a:r>
              <a:rPr lang="zh-CN" altLang="en-US" sz="1200" dirty="0">
                <a:solidFill>
                  <a:schemeClr val="tx2"/>
                </a:solidFill>
              </a:rPr>
              <a:t>及</a:t>
            </a:r>
            <a:r>
              <a:rPr lang="en-US" altLang="zh-CN" sz="1200" dirty="0">
                <a:solidFill>
                  <a:schemeClr val="tx2"/>
                </a:solidFill>
              </a:rPr>
              <a:t>CCPD2020</a:t>
            </a:r>
            <a:r>
              <a:rPr lang="zh-CN" altLang="en-US" sz="1200" dirty="0">
                <a:solidFill>
                  <a:schemeClr val="tx2"/>
                </a:solidFill>
              </a:rPr>
              <a:t>各随机抽取</a:t>
            </a:r>
            <a:r>
              <a:rPr lang="en-US" altLang="zh-CN" sz="1200" dirty="0">
                <a:solidFill>
                  <a:schemeClr val="tx2"/>
                </a:solidFill>
              </a:rPr>
              <a:t>3,750</a:t>
            </a:r>
            <a:r>
              <a:rPr lang="zh-CN" altLang="en-US" sz="1200" dirty="0">
                <a:solidFill>
                  <a:schemeClr val="tx2"/>
                </a:solidFill>
              </a:rPr>
              <a:t>个样本（蓝牌、绿牌）。</a:t>
            </a:r>
            <a:endParaRPr sz="1200" dirty="0">
              <a:solidFill>
                <a:schemeClr val="tx2"/>
              </a:solidFill>
              <a:latin typeface="微软雅黑" panose="020B0503020204020204" pitchFamily="34" charset="-122"/>
              <a:ea typeface="微软雅黑" panose="020B0503020204020204" pitchFamily="34" charset="-122"/>
            </a:endParaRPr>
          </a:p>
        </p:txBody>
      </p:sp>
      <p:sp>
        <p:nvSpPr>
          <p:cNvPr id="14" name="椭圆 14">
            <a:extLst>
              <a:ext uri="{FF2B5EF4-FFF2-40B4-BE49-F238E27FC236}">
                <a16:creationId xmlns:a16="http://schemas.microsoft.com/office/drawing/2014/main" id="{A71FF5A2-0E27-7A82-A573-A7B5565F8118}"/>
              </a:ext>
            </a:extLst>
          </p:cNvPr>
          <p:cNvSpPr/>
          <p:nvPr/>
        </p:nvSpPr>
        <p:spPr>
          <a:xfrm>
            <a:off x="1436971" y="191377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15" name="矩形: 圆角 19">
            <a:extLst>
              <a:ext uri="{FF2B5EF4-FFF2-40B4-BE49-F238E27FC236}">
                <a16:creationId xmlns:a16="http://schemas.microsoft.com/office/drawing/2014/main" id="{CBC81E87-B639-F3A9-6B9B-FB17EEE11735}"/>
              </a:ext>
            </a:extLst>
          </p:cNvPr>
          <p:cNvSpPr/>
          <p:nvPr>
            <p:custDataLst>
              <p:tags r:id="rId5"/>
            </p:custDataLst>
          </p:nvPr>
        </p:nvSpPr>
        <p:spPr>
          <a:xfrm>
            <a:off x="1120028" y="2827176"/>
            <a:ext cx="5245971" cy="1081393"/>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16" name="文本框 17">
            <a:extLst>
              <a:ext uri="{FF2B5EF4-FFF2-40B4-BE49-F238E27FC236}">
                <a16:creationId xmlns:a16="http://schemas.microsoft.com/office/drawing/2014/main" id="{CC87EE01-A4F5-B308-0CE8-7E0A053E34A5}"/>
              </a:ext>
            </a:extLst>
          </p:cNvPr>
          <p:cNvSpPr txBox="1"/>
          <p:nvPr>
            <p:custDataLst>
              <p:tags r:id="rId6"/>
            </p:custDataLst>
          </p:nvPr>
        </p:nvSpPr>
        <p:spPr>
          <a:xfrm>
            <a:off x="1633518" y="2912120"/>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合成数据生成</a:t>
            </a:r>
            <a:endParaRPr lang="zh-CN" dirty="0">
              <a:latin typeface="微软雅黑" panose="020B0503020204020204" pitchFamily="34" charset="-122"/>
              <a:ea typeface="微软雅黑" panose="020B0503020204020204" pitchFamily="34" charset="-122"/>
            </a:endParaRPr>
          </a:p>
        </p:txBody>
      </p:sp>
      <p:sp>
        <p:nvSpPr>
          <p:cNvPr id="17" name="文本框 18">
            <a:extLst>
              <a:ext uri="{FF2B5EF4-FFF2-40B4-BE49-F238E27FC236}">
                <a16:creationId xmlns:a16="http://schemas.microsoft.com/office/drawing/2014/main" id="{7903D2BA-273F-6BEC-058E-9F61D75F8F8C}"/>
              </a:ext>
            </a:extLst>
          </p:cNvPr>
          <p:cNvSpPr txBox="1"/>
          <p:nvPr>
            <p:custDataLst>
              <p:tags r:id="rId7"/>
            </p:custDataLst>
          </p:nvPr>
        </p:nvSpPr>
        <p:spPr>
          <a:xfrm>
            <a:off x="1373385" y="3248312"/>
            <a:ext cx="4992613" cy="616836"/>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利用开源库 </a:t>
            </a:r>
            <a:r>
              <a:rPr lang="en-US" altLang="zh-CN" sz="1200" dirty="0" err="1">
                <a:solidFill>
                  <a:schemeClr val="tx2"/>
                </a:solidFill>
              </a:rPr>
              <a:t>chinese_license_plate_generator</a:t>
            </a:r>
            <a:r>
              <a:rPr lang="en-US" altLang="zh-CN" sz="1200" dirty="0">
                <a:solidFill>
                  <a:schemeClr val="tx2"/>
                </a:solidFill>
              </a:rPr>
              <a:t> </a:t>
            </a:r>
            <a:r>
              <a:rPr lang="zh-CN" altLang="en-US" sz="1200" dirty="0">
                <a:solidFill>
                  <a:schemeClr val="tx2"/>
                </a:solidFill>
              </a:rPr>
              <a:t>配合</a:t>
            </a:r>
            <a:r>
              <a:rPr lang="en-US" altLang="zh-CN" sz="1200" dirty="0">
                <a:solidFill>
                  <a:schemeClr val="tx2"/>
                </a:solidFill>
              </a:rPr>
              <a:t>CCPD2019</a:t>
            </a:r>
            <a:r>
              <a:rPr lang="zh-CN" altLang="en-US" sz="1200" dirty="0">
                <a:solidFill>
                  <a:schemeClr val="tx2"/>
                </a:solidFill>
              </a:rPr>
              <a:t>生成稀缺类别；</a:t>
            </a:r>
            <a:endParaRPr lang="en-US" altLang="zh-CN" sz="1200" dirty="0">
              <a:solidFill>
                <a:schemeClr val="tx2"/>
              </a:solidFill>
            </a:endParaRPr>
          </a:p>
          <a:p>
            <a:r>
              <a:rPr lang="zh-CN" altLang="en-US" sz="1200" dirty="0">
                <a:solidFill>
                  <a:schemeClr val="tx2"/>
                </a:solidFill>
              </a:rPr>
              <a:t>生成数量：单层黄牌 </a:t>
            </a:r>
            <a:r>
              <a:rPr lang="en-US" altLang="zh-CN" sz="1200" dirty="0">
                <a:solidFill>
                  <a:schemeClr val="tx2"/>
                </a:solidFill>
              </a:rPr>
              <a:t>2,500</a:t>
            </a:r>
            <a:r>
              <a:rPr lang="zh-CN" altLang="en-US" sz="1200" dirty="0">
                <a:solidFill>
                  <a:schemeClr val="tx2"/>
                </a:solidFill>
              </a:rPr>
              <a:t>个、黑牌 </a:t>
            </a:r>
            <a:r>
              <a:rPr lang="en-US" altLang="zh-CN" sz="1200" dirty="0">
                <a:solidFill>
                  <a:schemeClr val="tx2"/>
                </a:solidFill>
              </a:rPr>
              <a:t>1,250</a:t>
            </a:r>
            <a:r>
              <a:rPr lang="zh-CN" altLang="en-US" sz="1200" dirty="0">
                <a:solidFill>
                  <a:schemeClr val="tx2"/>
                </a:solidFill>
              </a:rPr>
              <a:t>个、白牌 </a:t>
            </a:r>
            <a:r>
              <a:rPr lang="en-US" altLang="zh-CN" sz="1200" dirty="0">
                <a:solidFill>
                  <a:schemeClr val="tx2"/>
                </a:solidFill>
              </a:rPr>
              <a:t>1,250</a:t>
            </a:r>
            <a:r>
              <a:rPr lang="zh-CN" altLang="en-US" sz="1200" dirty="0">
                <a:solidFill>
                  <a:schemeClr val="tx2"/>
                </a:solidFill>
              </a:rPr>
              <a:t>个</a:t>
            </a:r>
            <a:r>
              <a:rPr lang="zh-CN" altLang="en-US" dirty="0">
                <a:solidFill>
                  <a:schemeClr val="tx2"/>
                </a:solidFill>
              </a:rPr>
              <a:t>。</a:t>
            </a:r>
            <a:endParaRPr dirty="0">
              <a:solidFill>
                <a:schemeClr val="tx2"/>
              </a:solidFill>
              <a:latin typeface="微软雅黑" panose="020B0503020204020204" pitchFamily="34" charset="-122"/>
              <a:ea typeface="微软雅黑" panose="020B0503020204020204" pitchFamily="34" charset="-122"/>
            </a:endParaRPr>
          </a:p>
        </p:txBody>
      </p:sp>
      <p:sp>
        <p:nvSpPr>
          <p:cNvPr id="18" name="椭圆 14">
            <a:extLst>
              <a:ext uri="{FF2B5EF4-FFF2-40B4-BE49-F238E27FC236}">
                <a16:creationId xmlns:a16="http://schemas.microsoft.com/office/drawing/2014/main" id="{A5653082-EB38-8A34-1496-A8110367B42C}"/>
              </a:ext>
            </a:extLst>
          </p:cNvPr>
          <p:cNvSpPr/>
          <p:nvPr/>
        </p:nvSpPr>
        <p:spPr>
          <a:xfrm>
            <a:off x="1435614" y="3018705"/>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19" name="矩形: 圆角 19">
            <a:extLst>
              <a:ext uri="{FF2B5EF4-FFF2-40B4-BE49-F238E27FC236}">
                <a16:creationId xmlns:a16="http://schemas.microsoft.com/office/drawing/2014/main" id="{7DB52CA0-28A2-26A5-4802-D5BF359C1F82}"/>
              </a:ext>
            </a:extLst>
          </p:cNvPr>
          <p:cNvSpPr/>
          <p:nvPr>
            <p:custDataLst>
              <p:tags r:id="rId8"/>
            </p:custDataLst>
          </p:nvPr>
        </p:nvSpPr>
        <p:spPr>
          <a:xfrm>
            <a:off x="1120706" y="4132980"/>
            <a:ext cx="5245291" cy="803828"/>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20" name="文本框 17">
            <a:extLst>
              <a:ext uri="{FF2B5EF4-FFF2-40B4-BE49-F238E27FC236}">
                <a16:creationId xmlns:a16="http://schemas.microsoft.com/office/drawing/2014/main" id="{A84A0ECE-BDD6-4F47-AED6-7F313B8F4F5B}"/>
              </a:ext>
            </a:extLst>
          </p:cNvPr>
          <p:cNvSpPr txBox="1"/>
          <p:nvPr>
            <p:custDataLst>
              <p:tags r:id="rId9"/>
            </p:custDataLst>
          </p:nvPr>
        </p:nvSpPr>
        <p:spPr>
          <a:xfrm>
            <a:off x="1634196" y="4218610"/>
            <a:ext cx="1943698" cy="369332"/>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数据合成策略</a:t>
            </a:r>
            <a:endParaRPr lang="zh-CN" dirty="0">
              <a:latin typeface="微软雅黑" panose="020B0503020204020204" pitchFamily="34" charset="-122"/>
              <a:ea typeface="微软雅黑" panose="020B0503020204020204" pitchFamily="34" charset="-122"/>
            </a:endParaRPr>
          </a:p>
        </p:txBody>
      </p:sp>
      <p:sp>
        <p:nvSpPr>
          <p:cNvPr id="21" name="文本框 18">
            <a:extLst>
              <a:ext uri="{FF2B5EF4-FFF2-40B4-BE49-F238E27FC236}">
                <a16:creationId xmlns:a16="http://schemas.microsoft.com/office/drawing/2014/main" id="{0EF893C9-79A6-780E-17D1-10860DDC5B52}"/>
              </a:ext>
            </a:extLst>
          </p:cNvPr>
          <p:cNvSpPr txBox="1"/>
          <p:nvPr>
            <p:custDataLst>
              <p:tags r:id="rId10"/>
            </p:custDataLst>
          </p:nvPr>
        </p:nvSpPr>
        <p:spPr>
          <a:xfrm>
            <a:off x="1372707" y="4558145"/>
            <a:ext cx="4663730" cy="339837"/>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流程：生成标准车牌 </a:t>
            </a:r>
            <a:r>
              <a:rPr lang="en-US" altLang="zh-CN" sz="1200" dirty="0">
                <a:solidFill>
                  <a:schemeClr val="tx2"/>
                </a:solidFill>
              </a:rPr>
              <a:t>-&gt; </a:t>
            </a:r>
            <a:r>
              <a:rPr lang="zh-CN" altLang="en-US" sz="1200" dirty="0">
                <a:solidFill>
                  <a:schemeClr val="tx2"/>
                </a:solidFill>
              </a:rPr>
              <a:t>随机数据增强 </a:t>
            </a:r>
            <a:r>
              <a:rPr lang="en-US" altLang="zh-CN" sz="1200" dirty="0">
                <a:solidFill>
                  <a:schemeClr val="tx2"/>
                </a:solidFill>
              </a:rPr>
              <a:t>-&gt; </a:t>
            </a:r>
            <a:r>
              <a:rPr lang="zh-CN" altLang="en-US" sz="1200" dirty="0">
                <a:solidFill>
                  <a:schemeClr val="tx2"/>
                </a:solidFill>
              </a:rPr>
              <a:t>透射变换 </a:t>
            </a:r>
            <a:r>
              <a:rPr lang="en-US" altLang="zh-CN" sz="1200" dirty="0">
                <a:solidFill>
                  <a:schemeClr val="tx2"/>
                </a:solidFill>
              </a:rPr>
              <a:t>-&gt; </a:t>
            </a:r>
            <a:r>
              <a:rPr lang="zh-CN" altLang="en-US" sz="1200" dirty="0">
                <a:solidFill>
                  <a:schemeClr val="tx2"/>
                </a:solidFill>
              </a:rPr>
              <a:t>贴回</a:t>
            </a:r>
            <a:r>
              <a:rPr lang="en-US" altLang="zh-CN" sz="1200" dirty="0">
                <a:solidFill>
                  <a:schemeClr val="tx2"/>
                </a:solidFill>
              </a:rPr>
              <a:t>CCPD</a:t>
            </a:r>
            <a:r>
              <a:rPr lang="zh-CN" altLang="en-US" sz="1200" dirty="0">
                <a:solidFill>
                  <a:schemeClr val="tx2"/>
                </a:solidFill>
              </a:rPr>
              <a:t>原图。</a:t>
            </a:r>
            <a:endParaRPr sz="1200" dirty="0">
              <a:solidFill>
                <a:schemeClr val="tx2"/>
              </a:solidFill>
              <a:latin typeface="微软雅黑" panose="020B0503020204020204" pitchFamily="34" charset="-122"/>
              <a:ea typeface="微软雅黑" panose="020B0503020204020204" pitchFamily="34" charset="-122"/>
            </a:endParaRPr>
          </a:p>
        </p:txBody>
      </p:sp>
      <p:sp>
        <p:nvSpPr>
          <p:cNvPr id="22" name="椭圆 14">
            <a:extLst>
              <a:ext uri="{FF2B5EF4-FFF2-40B4-BE49-F238E27FC236}">
                <a16:creationId xmlns:a16="http://schemas.microsoft.com/office/drawing/2014/main" id="{1B1F4329-BC08-EA20-C50B-34A6B2DC339D}"/>
              </a:ext>
            </a:extLst>
          </p:cNvPr>
          <p:cNvSpPr/>
          <p:nvPr/>
        </p:nvSpPr>
        <p:spPr>
          <a:xfrm>
            <a:off x="1436292" y="4325195"/>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25" name="矩形: 圆角 19">
            <a:extLst>
              <a:ext uri="{FF2B5EF4-FFF2-40B4-BE49-F238E27FC236}">
                <a16:creationId xmlns:a16="http://schemas.microsoft.com/office/drawing/2014/main" id="{3521A3D7-5F45-CC00-5BD4-BB4016BD65B4}"/>
              </a:ext>
            </a:extLst>
          </p:cNvPr>
          <p:cNvSpPr/>
          <p:nvPr>
            <p:custDataLst>
              <p:tags r:id="rId11"/>
            </p:custDataLst>
          </p:nvPr>
        </p:nvSpPr>
        <p:spPr>
          <a:xfrm>
            <a:off x="1121384" y="5247536"/>
            <a:ext cx="5244613" cy="803828"/>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26" name="文本框 17">
            <a:extLst>
              <a:ext uri="{FF2B5EF4-FFF2-40B4-BE49-F238E27FC236}">
                <a16:creationId xmlns:a16="http://schemas.microsoft.com/office/drawing/2014/main" id="{651218E1-F3F4-89F5-E1A4-5353D140DDBE}"/>
              </a:ext>
            </a:extLst>
          </p:cNvPr>
          <p:cNvSpPr txBox="1"/>
          <p:nvPr>
            <p:custDataLst>
              <p:tags r:id="rId12"/>
            </p:custDataLst>
          </p:nvPr>
        </p:nvSpPr>
        <p:spPr>
          <a:xfrm>
            <a:off x="1634873" y="5332478"/>
            <a:ext cx="2976315"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数据集划分</a:t>
            </a:r>
            <a:endParaRPr lang="zh-CN" dirty="0">
              <a:latin typeface="微软雅黑" panose="020B0503020204020204" pitchFamily="34" charset="-122"/>
              <a:ea typeface="微软雅黑" panose="020B0503020204020204" pitchFamily="34" charset="-122"/>
            </a:endParaRPr>
          </a:p>
        </p:txBody>
      </p:sp>
      <p:sp>
        <p:nvSpPr>
          <p:cNvPr id="27" name="文本框 18">
            <a:extLst>
              <a:ext uri="{FF2B5EF4-FFF2-40B4-BE49-F238E27FC236}">
                <a16:creationId xmlns:a16="http://schemas.microsoft.com/office/drawing/2014/main" id="{887AB27E-708D-4DAF-EFB7-C505AB5C4306}"/>
              </a:ext>
            </a:extLst>
          </p:cNvPr>
          <p:cNvSpPr txBox="1"/>
          <p:nvPr>
            <p:custDataLst>
              <p:tags r:id="rId13"/>
            </p:custDataLst>
          </p:nvPr>
        </p:nvSpPr>
        <p:spPr>
          <a:xfrm>
            <a:off x="1373385" y="5672013"/>
            <a:ext cx="4663728" cy="339837"/>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训练集 </a:t>
            </a:r>
            <a:r>
              <a:rPr lang="en-US" altLang="zh-CN" sz="1200" dirty="0">
                <a:solidFill>
                  <a:schemeClr val="tx2"/>
                </a:solidFill>
              </a:rPr>
              <a:t>: </a:t>
            </a:r>
            <a:r>
              <a:rPr lang="zh-CN" altLang="en-US" sz="1200" dirty="0">
                <a:solidFill>
                  <a:schemeClr val="tx2"/>
                </a:solidFill>
              </a:rPr>
              <a:t>验证集 </a:t>
            </a:r>
            <a:r>
              <a:rPr lang="en-US" altLang="zh-CN" sz="1200" dirty="0">
                <a:solidFill>
                  <a:schemeClr val="tx2"/>
                </a:solidFill>
              </a:rPr>
              <a:t>: </a:t>
            </a:r>
            <a:r>
              <a:rPr lang="zh-CN" altLang="en-US" sz="1200" dirty="0">
                <a:solidFill>
                  <a:schemeClr val="tx2"/>
                </a:solidFill>
              </a:rPr>
              <a:t>测试集 </a:t>
            </a:r>
            <a:r>
              <a:rPr lang="en-US" altLang="zh-CN" sz="1200" dirty="0">
                <a:solidFill>
                  <a:schemeClr val="tx2"/>
                </a:solidFill>
              </a:rPr>
              <a:t>= 8 : 1 : 1</a:t>
            </a:r>
            <a:r>
              <a:rPr lang="zh-CN" altLang="en-US" sz="1200" dirty="0">
                <a:solidFill>
                  <a:schemeClr val="tx2"/>
                </a:solidFill>
              </a:rPr>
              <a:t>。</a:t>
            </a:r>
            <a:endParaRPr sz="1200" dirty="0">
              <a:solidFill>
                <a:schemeClr val="tx2"/>
              </a:solidFill>
              <a:latin typeface="微软雅黑" panose="020B0503020204020204" pitchFamily="34" charset="-122"/>
              <a:ea typeface="微软雅黑" panose="020B0503020204020204" pitchFamily="34" charset="-122"/>
            </a:endParaRPr>
          </a:p>
        </p:txBody>
      </p:sp>
      <p:sp>
        <p:nvSpPr>
          <p:cNvPr id="28" name="椭圆 14">
            <a:extLst>
              <a:ext uri="{FF2B5EF4-FFF2-40B4-BE49-F238E27FC236}">
                <a16:creationId xmlns:a16="http://schemas.microsoft.com/office/drawing/2014/main" id="{3C97F33D-527D-CB65-4927-C003C99E6F25}"/>
              </a:ext>
            </a:extLst>
          </p:cNvPr>
          <p:cNvSpPr/>
          <p:nvPr/>
        </p:nvSpPr>
        <p:spPr>
          <a:xfrm>
            <a:off x="1436970" y="5439063"/>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pic>
        <p:nvPicPr>
          <p:cNvPr id="2" name="图片 1">
            <a:extLst>
              <a:ext uri="{FF2B5EF4-FFF2-40B4-BE49-F238E27FC236}">
                <a16:creationId xmlns:a16="http://schemas.microsoft.com/office/drawing/2014/main" id="{EE5416E7-8E92-50B4-19F3-60BD83A8E95B}"/>
              </a:ext>
            </a:extLst>
          </p:cNvPr>
          <p:cNvPicPr>
            <a:picLocks noChangeAspect="1"/>
          </p:cNvPicPr>
          <p:nvPr/>
        </p:nvPicPr>
        <p:blipFill>
          <a:blip r:embed="rId17"/>
          <a:stretch>
            <a:fillRect/>
          </a:stretch>
        </p:blipFill>
        <p:spPr>
          <a:xfrm>
            <a:off x="7365455" y="1600950"/>
            <a:ext cx="4227812" cy="4227812"/>
          </a:xfrm>
          <a:prstGeom prst="rect">
            <a:avLst/>
          </a:prstGeom>
        </p:spPr>
      </p:pic>
    </p:spTree>
    <p:custDataLst>
      <p:tags r:id="rId1"/>
    </p:custDataLst>
    <p:extLst>
      <p:ext uri="{BB962C8B-B14F-4D97-AF65-F5344CB8AC3E}">
        <p14:creationId xmlns:p14="http://schemas.microsoft.com/office/powerpoint/2010/main" val="2864347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4C549-77F2-5371-E294-858E28A37623}"/>
            </a:ext>
          </a:extLst>
        </p:cNvPr>
        <p:cNvGrpSpPr/>
        <p:nvPr/>
      </p:nvGrpSpPr>
      <p:grpSpPr>
        <a:xfrm>
          <a:off x="0" y="0"/>
          <a:ext cx="0" cy="0"/>
          <a:chOff x="0" y="0"/>
          <a:chExt cx="0" cy="0"/>
        </a:xfrm>
      </p:grpSpPr>
      <p:pic>
        <p:nvPicPr>
          <p:cNvPr id="36" name="图片 35" descr="内容页" hidden="1">
            <a:extLst>
              <a:ext uri="{FF2B5EF4-FFF2-40B4-BE49-F238E27FC236}">
                <a16:creationId xmlns:a16="http://schemas.microsoft.com/office/drawing/2014/main" id="{2FCB9187-9055-65F2-B33E-BA983027D213}"/>
              </a:ext>
            </a:extLst>
          </p:cNvPr>
          <p:cNvPicPr>
            <a:picLocks noChangeAspect="1"/>
          </p:cNvPicPr>
          <p:nvPr/>
        </p:nvPicPr>
        <p:blipFill>
          <a:blip r:embed="rId15"/>
          <a:stretch>
            <a:fillRect/>
          </a:stretch>
        </p:blipFill>
        <p:spPr>
          <a:xfrm>
            <a:off x="-635" y="0"/>
            <a:ext cx="12192635" cy="6858635"/>
          </a:xfrm>
          <a:prstGeom prst="rect">
            <a:avLst/>
          </a:prstGeom>
        </p:spPr>
      </p:pic>
      <p:pic>
        <p:nvPicPr>
          <p:cNvPr id="3" name="图片 2" descr="集创赛1">
            <a:extLst>
              <a:ext uri="{FF2B5EF4-FFF2-40B4-BE49-F238E27FC236}">
                <a16:creationId xmlns:a16="http://schemas.microsoft.com/office/drawing/2014/main" id="{E5FC92E6-6C61-5460-BAE1-C06A62047B1A}"/>
              </a:ext>
            </a:extLst>
          </p:cNvPr>
          <p:cNvPicPr>
            <a:picLocks noChangeAspect="1"/>
          </p:cNvPicPr>
          <p:nvPr/>
        </p:nvPicPr>
        <p:blipFill>
          <a:blip r:embed="rId16"/>
          <a:stretch>
            <a:fillRect/>
          </a:stretch>
        </p:blipFill>
        <p:spPr>
          <a:xfrm>
            <a:off x="900000" y="0"/>
            <a:ext cx="2016000" cy="1260000"/>
          </a:xfrm>
          <a:prstGeom prst="rect">
            <a:avLst/>
          </a:prstGeom>
        </p:spPr>
      </p:pic>
      <p:sp>
        <p:nvSpPr>
          <p:cNvPr id="10" name="组合 33">
            <a:extLst>
              <a:ext uri="{FF2B5EF4-FFF2-40B4-BE49-F238E27FC236}">
                <a16:creationId xmlns:a16="http://schemas.microsoft.com/office/drawing/2014/main" id="{5F91BF4F-380F-3BF8-E527-118BDEC56DA9}"/>
              </a:ext>
            </a:extLst>
          </p:cNvPr>
          <p:cNvSpPr/>
          <p:nvPr/>
        </p:nvSpPr>
        <p:spPr>
          <a:xfrm>
            <a:off x="4014355" y="720000"/>
            <a:ext cx="416329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en-US" altLang="zh-CN" dirty="0" err="1">
                <a:latin typeface="微软雅黑" panose="020B0503020204020204" pitchFamily="34" charset="-122"/>
                <a:ea typeface="微软雅黑" panose="020B0503020204020204" pitchFamily="34" charset="-122"/>
              </a:rPr>
              <a:t>LRPNet</a:t>
            </a:r>
            <a:r>
              <a:rPr lang="zh-CN" altLang="en-US" dirty="0">
                <a:latin typeface="微软雅黑" panose="020B0503020204020204" pitchFamily="34" charset="-122"/>
                <a:ea typeface="微软雅黑" panose="020B0503020204020204" pitchFamily="34" charset="-122"/>
              </a:rPr>
              <a:t>模型数据集构建</a:t>
            </a:r>
            <a:endParaRPr lang="zh-CN" dirty="0">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EA8C0926-9F2F-B02D-70B0-0FD1FC04609E}"/>
              </a:ext>
            </a:extLst>
          </p:cNvPr>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矩形: 圆角 19">
            <a:extLst>
              <a:ext uri="{FF2B5EF4-FFF2-40B4-BE49-F238E27FC236}">
                <a16:creationId xmlns:a16="http://schemas.microsoft.com/office/drawing/2014/main" id="{0709034C-05DD-E0D4-38E7-79E4468D0C4B}"/>
              </a:ext>
            </a:extLst>
          </p:cNvPr>
          <p:cNvSpPr/>
          <p:nvPr>
            <p:custDataLst>
              <p:tags r:id="rId2"/>
            </p:custDataLst>
          </p:nvPr>
        </p:nvSpPr>
        <p:spPr>
          <a:xfrm>
            <a:off x="900000" y="1797371"/>
            <a:ext cx="4915731" cy="797205"/>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6" name="文本框 17">
            <a:extLst>
              <a:ext uri="{FF2B5EF4-FFF2-40B4-BE49-F238E27FC236}">
                <a16:creationId xmlns:a16="http://schemas.microsoft.com/office/drawing/2014/main" id="{0C01836A-C424-4A18-7740-5D5D9B5DE58C}"/>
              </a:ext>
            </a:extLst>
          </p:cNvPr>
          <p:cNvSpPr txBox="1"/>
          <p:nvPr>
            <p:custDataLst>
              <p:tags r:id="rId3"/>
            </p:custDataLst>
          </p:nvPr>
        </p:nvSpPr>
        <p:spPr>
          <a:xfrm>
            <a:off x="1413490" y="1882314"/>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真实数据来源</a:t>
            </a:r>
            <a:endParaRPr lang="zh-CN" dirty="0">
              <a:latin typeface="微软雅黑" panose="020B0503020204020204" pitchFamily="34" charset="-122"/>
              <a:ea typeface="微软雅黑" panose="020B0503020204020204" pitchFamily="34" charset="-122"/>
            </a:endParaRPr>
          </a:p>
        </p:txBody>
      </p:sp>
      <p:sp>
        <p:nvSpPr>
          <p:cNvPr id="7" name="文本框 18">
            <a:extLst>
              <a:ext uri="{FF2B5EF4-FFF2-40B4-BE49-F238E27FC236}">
                <a16:creationId xmlns:a16="http://schemas.microsoft.com/office/drawing/2014/main" id="{83D7C800-A61A-D810-F341-DC0BD1164F30}"/>
              </a:ext>
            </a:extLst>
          </p:cNvPr>
          <p:cNvSpPr txBox="1"/>
          <p:nvPr>
            <p:custDataLst>
              <p:tags r:id="rId4"/>
            </p:custDataLst>
          </p:nvPr>
        </p:nvSpPr>
        <p:spPr>
          <a:xfrm>
            <a:off x="1152001" y="2221849"/>
            <a:ext cx="4663730" cy="339837"/>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en-US" altLang="zh-CN" sz="1200" dirty="0">
                <a:solidFill>
                  <a:schemeClr val="tx2"/>
                </a:solidFill>
              </a:rPr>
              <a:t>CCPD2019</a:t>
            </a:r>
            <a:r>
              <a:rPr lang="zh-CN" altLang="en-US" sz="1200" dirty="0">
                <a:solidFill>
                  <a:schemeClr val="tx2"/>
                </a:solidFill>
              </a:rPr>
              <a:t>及</a:t>
            </a:r>
            <a:r>
              <a:rPr lang="en-US" altLang="zh-CN" sz="1200" dirty="0">
                <a:solidFill>
                  <a:schemeClr val="tx2"/>
                </a:solidFill>
              </a:rPr>
              <a:t>CCPD2020</a:t>
            </a:r>
            <a:r>
              <a:rPr lang="zh-CN" altLang="en-US" sz="1200" dirty="0">
                <a:solidFill>
                  <a:schemeClr val="tx2"/>
                </a:solidFill>
              </a:rPr>
              <a:t>各抽取</a:t>
            </a:r>
            <a:r>
              <a:rPr lang="en-US" altLang="zh-CN" sz="1200" dirty="0">
                <a:solidFill>
                  <a:schemeClr val="tx2"/>
                </a:solidFill>
              </a:rPr>
              <a:t>100k</a:t>
            </a:r>
            <a:r>
              <a:rPr lang="zh-CN" altLang="en-US" sz="1200" dirty="0">
                <a:solidFill>
                  <a:schemeClr val="tx2"/>
                </a:solidFill>
              </a:rPr>
              <a:t>、</a:t>
            </a:r>
            <a:r>
              <a:rPr lang="en-US" altLang="zh-CN" sz="1200" dirty="0">
                <a:solidFill>
                  <a:schemeClr val="tx2"/>
                </a:solidFill>
              </a:rPr>
              <a:t>10k</a:t>
            </a:r>
            <a:r>
              <a:rPr lang="zh-CN" altLang="en-US" sz="1200" dirty="0">
                <a:solidFill>
                  <a:schemeClr val="tx2"/>
                </a:solidFill>
              </a:rPr>
              <a:t>个样本（蓝牌及绿牌）。</a:t>
            </a:r>
            <a:endParaRPr sz="1200" dirty="0">
              <a:solidFill>
                <a:schemeClr val="tx2"/>
              </a:solidFill>
              <a:latin typeface="微软雅黑" panose="020B0503020204020204" pitchFamily="34" charset="-122"/>
              <a:ea typeface="微软雅黑" panose="020B0503020204020204" pitchFamily="34" charset="-122"/>
            </a:endParaRPr>
          </a:p>
        </p:txBody>
      </p:sp>
      <p:sp>
        <p:nvSpPr>
          <p:cNvPr id="14" name="椭圆 14">
            <a:extLst>
              <a:ext uri="{FF2B5EF4-FFF2-40B4-BE49-F238E27FC236}">
                <a16:creationId xmlns:a16="http://schemas.microsoft.com/office/drawing/2014/main" id="{FB0468FC-F697-BC88-0720-523CB2AF3353}"/>
              </a:ext>
            </a:extLst>
          </p:cNvPr>
          <p:cNvSpPr/>
          <p:nvPr/>
        </p:nvSpPr>
        <p:spPr>
          <a:xfrm>
            <a:off x="1215586" y="1988899"/>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15" name="矩形: 圆角 19">
            <a:extLst>
              <a:ext uri="{FF2B5EF4-FFF2-40B4-BE49-F238E27FC236}">
                <a16:creationId xmlns:a16="http://schemas.microsoft.com/office/drawing/2014/main" id="{57993241-D2CD-C91D-32FB-81F177715788}"/>
              </a:ext>
            </a:extLst>
          </p:cNvPr>
          <p:cNvSpPr/>
          <p:nvPr>
            <p:custDataLst>
              <p:tags r:id="rId5"/>
            </p:custDataLst>
          </p:nvPr>
        </p:nvSpPr>
        <p:spPr>
          <a:xfrm>
            <a:off x="898644" y="2902306"/>
            <a:ext cx="4915730" cy="797206"/>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16" name="文本框 17">
            <a:extLst>
              <a:ext uri="{FF2B5EF4-FFF2-40B4-BE49-F238E27FC236}">
                <a16:creationId xmlns:a16="http://schemas.microsoft.com/office/drawing/2014/main" id="{130E95E2-3FF7-1F2D-7953-5253CB57FEF3}"/>
              </a:ext>
            </a:extLst>
          </p:cNvPr>
          <p:cNvSpPr txBox="1"/>
          <p:nvPr>
            <p:custDataLst>
              <p:tags r:id="rId6"/>
            </p:custDataLst>
          </p:nvPr>
        </p:nvSpPr>
        <p:spPr>
          <a:xfrm>
            <a:off x="1412133" y="2987248"/>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合成数据生成</a:t>
            </a:r>
            <a:endParaRPr lang="zh-CN" dirty="0">
              <a:latin typeface="微软雅黑" panose="020B0503020204020204" pitchFamily="34" charset="-122"/>
              <a:ea typeface="微软雅黑" panose="020B0503020204020204" pitchFamily="34" charset="-122"/>
            </a:endParaRPr>
          </a:p>
        </p:txBody>
      </p:sp>
      <p:sp>
        <p:nvSpPr>
          <p:cNvPr id="17" name="文本框 18">
            <a:extLst>
              <a:ext uri="{FF2B5EF4-FFF2-40B4-BE49-F238E27FC236}">
                <a16:creationId xmlns:a16="http://schemas.microsoft.com/office/drawing/2014/main" id="{6C422182-10F8-943B-D6F8-70FA9ED1DCD6}"/>
              </a:ext>
            </a:extLst>
          </p:cNvPr>
          <p:cNvSpPr txBox="1"/>
          <p:nvPr>
            <p:custDataLst>
              <p:tags r:id="rId7"/>
            </p:custDataLst>
          </p:nvPr>
        </p:nvSpPr>
        <p:spPr>
          <a:xfrm>
            <a:off x="1152001" y="3323440"/>
            <a:ext cx="4663730" cy="339837"/>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生成数量：绿牌 </a:t>
            </a:r>
            <a:r>
              <a:rPr lang="en-US" altLang="zh-CN" sz="1200" dirty="0">
                <a:solidFill>
                  <a:schemeClr val="tx2"/>
                </a:solidFill>
              </a:rPr>
              <a:t>90k</a:t>
            </a:r>
            <a:r>
              <a:rPr lang="zh-CN" altLang="en-US" sz="1200" dirty="0">
                <a:solidFill>
                  <a:schemeClr val="tx2"/>
                </a:solidFill>
              </a:rPr>
              <a:t>、单层黄牌 </a:t>
            </a:r>
            <a:r>
              <a:rPr lang="en-US" altLang="zh-CN" sz="1200" dirty="0">
                <a:solidFill>
                  <a:schemeClr val="tx2"/>
                </a:solidFill>
              </a:rPr>
              <a:t>100k</a:t>
            </a:r>
            <a:r>
              <a:rPr lang="zh-CN" altLang="en-US" sz="1200" dirty="0">
                <a:solidFill>
                  <a:schemeClr val="tx2"/>
                </a:solidFill>
              </a:rPr>
              <a:t>、黑牌 </a:t>
            </a:r>
            <a:r>
              <a:rPr lang="en-US" altLang="zh-CN" sz="1200" dirty="0">
                <a:solidFill>
                  <a:schemeClr val="tx2"/>
                </a:solidFill>
              </a:rPr>
              <a:t>100k</a:t>
            </a:r>
            <a:r>
              <a:rPr lang="zh-CN" altLang="en-US" sz="1200" dirty="0">
                <a:solidFill>
                  <a:schemeClr val="tx2"/>
                </a:solidFill>
              </a:rPr>
              <a:t>、白牌 </a:t>
            </a:r>
            <a:r>
              <a:rPr lang="en-US" altLang="zh-CN" sz="1200" dirty="0">
                <a:solidFill>
                  <a:schemeClr val="tx2"/>
                </a:solidFill>
              </a:rPr>
              <a:t>100k</a:t>
            </a:r>
            <a:r>
              <a:rPr lang="zh-CN" altLang="en-US" sz="1200" dirty="0">
                <a:solidFill>
                  <a:schemeClr val="tx2"/>
                </a:solidFill>
              </a:rPr>
              <a:t>。</a:t>
            </a:r>
            <a:endParaRPr sz="1200" dirty="0">
              <a:solidFill>
                <a:schemeClr val="tx2"/>
              </a:solidFill>
              <a:latin typeface="微软雅黑" panose="020B0503020204020204" pitchFamily="34" charset="-122"/>
              <a:ea typeface="微软雅黑" panose="020B0503020204020204" pitchFamily="34" charset="-122"/>
            </a:endParaRPr>
          </a:p>
        </p:txBody>
      </p:sp>
      <p:sp>
        <p:nvSpPr>
          <p:cNvPr id="18" name="椭圆 14">
            <a:extLst>
              <a:ext uri="{FF2B5EF4-FFF2-40B4-BE49-F238E27FC236}">
                <a16:creationId xmlns:a16="http://schemas.microsoft.com/office/drawing/2014/main" id="{2FE66047-32D7-B3F0-40FA-CE94ABC6E109}"/>
              </a:ext>
            </a:extLst>
          </p:cNvPr>
          <p:cNvSpPr/>
          <p:nvPr/>
        </p:nvSpPr>
        <p:spPr>
          <a:xfrm>
            <a:off x="1214229" y="3093833"/>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pic>
        <p:nvPicPr>
          <p:cNvPr id="2" name="图片 1">
            <a:extLst>
              <a:ext uri="{FF2B5EF4-FFF2-40B4-BE49-F238E27FC236}">
                <a16:creationId xmlns:a16="http://schemas.microsoft.com/office/drawing/2014/main" id="{9DED4AEE-CEC3-4FF3-B404-0E8B14CD695E}"/>
              </a:ext>
            </a:extLst>
          </p:cNvPr>
          <p:cNvPicPr>
            <a:picLocks noChangeAspect="1"/>
          </p:cNvPicPr>
          <p:nvPr/>
        </p:nvPicPr>
        <p:blipFill rotWithShape="1">
          <a:blip r:embed="rId17">
            <a:extLst>
              <a:ext uri="{28A0092B-C50C-407E-A947-70E740481C1C}">
                <a14:useLocalDpi xmlns:a14="http://schemas.microsoft.com/office/drawing/2010/main" val="0"/>
              </a:ext>
            </a:extLst>
          </a:blip>
          <a:srcRect r="7775"/>
          <a:stretch>
            <a:fillRect/>
          </a:stretch>
        </p:blipFill>
        <p:spPr bwMode="auto">
          <a:xfrm>
            <a:off x="2182553" y="4120646"/>
            <a:ext cx="8287906" cy="2246887"/>
          </a:xfrm>
          <a:prstGeom prst="rect">
            <a:avLst/>
          </a:prstGeom>
          <a:noFill/>
          <a:ln>
            <a:noFill/>
          </a:ln>
          <a:extLst>
            <a:ext uri="{53640926-AAD7-44D8-BBD7-CCE9431645EC}">
              <a14:shadowObscured xmlns:a14="http://schemas.microsoft.com/office/drawing/2010/main"/>
            </a:ext>
          </a:extLst>
        </p:spPr>
      </p:pic>
      <p:sp>
        <p:nvSpPr>
          <p:cNvPr id="4" name="矩形: 圆角 19">
            <a:extLst>
              <a:ext uri="{FF2B5EF4-FFF2-40B4-BE49-F238E27FC236}">
                <a16:creationId xmlns:a16="http://schemas.microsoft.com/office/drawing/2014/main" id="{388B6208-9EB1-82FA-6A52-DBECD3A5EE8F}"/>
              </a:ext>
            </a:extLst>
          </p:cNvPr>
          <p:cNvSpPr/>
          <p:nvPr>
            <p:custDataLst>
              <p:tags r:id="rId8"/>
            </p:custDataLst>
          </p:nvPr>
        </p:nvSpPr>
        <p:spPr>
          <a:xfrm>
            <a:off x="6326506" y="1590541"/>
            <a:ext cx="4964137" cy="1102210"/>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8" name="文本框 17">
            <a:extLst>
              <a:ext uri="{FF2B5EF4-FFF2-40B4-BE49-F238E27FC236}">
                <a16:creationId xmlns:a16="http://schemas.microsoft.com/office/drawing/2014/main" id="{8A9CBA9A-DB49-07C0-1F37-AC49FAF1DB17}"/>
              </a:ext>
            </a:extLst>
          </p:cNvPr>
          <p:cNvSpPr txBox="1"/>
          <p:nvPr>
            <p:custDataLst>
              <p:tags r:id="rId9"/>
            </p:custDataLst>
          </p:nvPr>
        </p:nvSpPr>
        <p:spPr>
          <a:xfrm>
            <a:off x="6841353" y="1738624"/>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数据合成策略</a:t>
            </a:r>
            <a:endParaRPr lang="zh-CN" dirty="0">
              <a:latin typeface="微软雅黑" panose="020B0503020204020204" pitchFamily="34" charset="-122"/>
              <a:ea typeface="微软雅黑" panose="020B0503020204020204" pitchFamily="34" charset="-122"/>
            </a:endParaRPr>
          </a:p>
        </p:txBody>
      </p:sp>
      <p:sp>
        <p:nvSpPr>
          <p:cNvPr id="11" name="文本框 18">
            <a:extLst>
              <a:ext uri="{FF2B5EF4-FFF2-40B4-BE49-F238E27FC236}">
                <a16:creationId xmlns:a16="http://schemas.microsoft.com/office/drawing/2014/main" id="{38BE5777-828C-627C-F419-A67CDE6B2661}"/>
              </a:ext>
            </a:extLst>
          </p:cNvPr>
          <p:cNvSpPr txBox="1"/>
          <p:nvPr>
            <p:custDataLst>
              <p:tags r:id="rId10"/>
            </p:custDataLst>
          </p:nvPr>
        </p:nvSpPr>
        <p:spPr>
          <a:xfrm>
            <a:off x="6579864" y="2078159"/>
            <a:ext cx="4710780" cy="614592"/>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在</a:t>
            </a:r>
            <a:r>
              <a:rPr lang="en-US" altLang="zh-CN" sz="1200" dirty="0">
                <a:solidFill>
                  <a:schemeClr val="tx2"/>
                </a:solidFill>
              </a:rPr>
              <a:t>YOLO</a:t>
            </a:r>
            <a:r>
              <a:rPr lang="zh-CN" altLang="en-US" sz="1200" dirty="0">
                <a:solidFill>
                  <a:schemeClr val="tx2"/>
                </a:solidFill>
              </a:rPr>
              <a:t>合成流程基础上，增加“裁剪出矩形区域”步骤，并放缩至</a:t>
            </a:r>
            <a:r>
              <a:rPr lang="en-US" altLang="zh-CN" sz="1200" dirty="0">
                <a:solidFill>
                  <a:schemeClr val="tx2"/>
                </a:solidFill>
              </a:rPr>
              <a:t>20x80</a:t>
            </a:r>
            <a:r>
              <a:rPr lang="zh-CN" altLang="en-US" sz="1200" dirty="0">
                <a:solidFill>
                  <a:schemeClr val="tx2"/>
                </a:solidFill>
              </a:rPr>
              <a:t>大小，适配识别输入。</a:t>
            </a:r>
            <a:endParaRPr sz="1200" dirty="0">
              <a:solidFill>
                <a:schemeClr val="tx2"/>
              </a:solidFill>
              <a:latin typeface="微软雅黑" panose="020B0503020204020204" pitchFamily="34" charset="-122"/>
              <a:ea typeface="微软雅黑" panose="020B0503020204020204" pitchFamily="34" charset="-122"/>
            </a:endParaRPr>
          </a:p>
        </p:txBody>
      </p:sp>
      <p:sp>
        <p:nvSpPr>
          <p:cNvPr id="12" name="椭圆 14">
            <a:extLst>
              <a:ext uri="{FF2B5EF4-FFF2-40B4-BE49-F238E27FC236}">
                <a16:creationId xmlns:a16="http://schemas.microsoft.com/office/drawing/2014/main" id="{F9DE3FFA-DE1D-85C9-808B-7C5FD7DD55F3}"/>
              </a:ext>
            </a:extLst>
          </p:cNvPr>
          <p:cNvSpPr/>
          <p:nvPr/>
        </p:nvSpPr>
        <p:spPr>
          <a:xfrm>
            <a:off x="6643449" y="1845209"/>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13" name="矩形: 圆角 19">
            <a:extLst>
              <a:ext uri="{FF2B5EF4-FFF2-40B4-BE49-F238E27FC236}">
                <a16:creationId xmlns:a16="http://schemas.microsoft.com/office/drawing/2014/main" id="{9D773180-303B-DE00-0705-219FD81ADBED}"/>
              </a:ext>
            </a:extLst>
          </p:cNvPr>
          <p:cNvSpPr/>
          <p:nvPr>
            <p:custDataLst>
              <p:tags r:id="rId11"/>
            </p:custDataLst>
          </p:nvPr>
        </p:nvSpPr>
        <p:spPr>
          <a:xfrm>
            <a:off x="6326506" y="2902306"/>
            <a:ext cx="4964137" cy="797206"/>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23" name="文本框 17">
            <a:extLst>
              <a:ext uri="{FF2B5EF4-FFF2-40B4-BE49-F238E27FC236}">
                <a16:creationId xmlns:a16="http://schemas.microsoft.com/office/drawing/2014/main" id="{56456241-8D70-F402-758C-B043E5D2FEED}"/>
              </a:ext>
            </a:extLst>
          </p:cNvPr>
          <p:cNvSpPr txBox="1"/>
          <p:nvPr>
            <p:custDataLst>
              <p:tags r:id="rId12"/>
            </p:custDataLst>
          </p:nvPr>
        </p:nvSpPr>
        <p:spPr>
          <a:xfrm>
            <a:off x="6839996" y="2987248"/>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数据集划分</a:t>
            </a:r>
            <a:endParaRPr lang="zh-CN" dirty="0">
              <a:latin typeface="微软雅黑" panose="020B0503020204020204" pitchFamily="34" charset="-122"/>
              <a:ea typeface="微软雅黑" panose="020B0503020204020204" pitchFamily="34" charset="-122"/>
            </a:endParaRPr>
          </a:p>
        </p:txBody>
      </p:sp>
      <p:sp>
        <p:nvSpPr>
          <p:cNvPr id="24" name="文本框 18">
            <a:extLst>
              <a:ext uri="{FF2B5EF4-FFF2-40B4-BE49-F238E27FC236}">
                <a16:creationId xmlns:a16="http://schemas.microsoft.com/office/drawing/2014/main" id="{11A2A706-D721-FC1C-839A-57B2C6CF5997}"/>
              </a:ext>
            </a:extLst>
          </p:cNvPr>
          <p:cNvSpPr txBox="1"/>
          <p:nvPr>
            <p:custDataLst>
              <p:tags r:id="rId13"/>
            </p:custDataLst>
          </p:nvPr>
        </p:nvSpPr>
        <p:spPr>
          <a:xfrm>
            <a:off x="6579864" y="3323440"/>
            <a:ext cx="4663730" cy="339837"/>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训练集 </a:t>
            </a:r>
            <a:r>
              <a:rPr lang="en-US" altLang="zh-CN" sz="1200" dirty="0">
                <a:solidFill>
                  <a:schemeClr val="tx2"/>
                </a:solidFill>
              </a:rPr>
              <a:t>: </a:t>
            </a:r>
            <a:r>
              <a:rPr lang="zh-CN" altLang="en-US" sz="1200" dirty="0">
                <a:solidFill>
                  <a:schemeClr val="tx2"/>
                </a:solidFill>
              </a:rPr>
              <a:t>验证集 </a:t>
            </a:r>
            <a:r>
              <a:rPr lang="en-US" altLang="zh-CN" sz="1200" dirty="0">
                <a:solidFill>
                  <a:schemeClr val="tx2"/>
                </a:solidFill>
              </a:rPr>
              <a:t>: </a:t>
            </a:r>
            <a:r>
              <a:rPr lang="zh-CN" altLang="en-US" sz="1200" dirty="0">
                <a:solidFill>
                  <a:schemeClr val="tx2"/>
                </a:solidFill>
              </a:rPr>
              <a:t>测试集 </a:t>
            </a:r>
            <a:r>
              <a:rPr lang="en-US" altLang="zh-CN" sz="1200" dirty="0">
                <a:solidFill>
                  <a:schemeClr val="tx2"/>
                </a:solidFill>
              </a:rPr>
              <a:t>= 8 : 1 : 1</a:t>
            </a:r>
            <a:r>
              <a:rPr lang="zh-CN" altLang="en-US" sz="1200" dirty="0">
                <a:solidFill>
                  <a:schemeClr val="tx2"/>
                </a:solidFill>
              </a:rPr>
              <a:t>。</a:t>
            </a:r>
            <a:endParaRPr lang="zh-CN" altLang="en-US" sz="1200" dirty="0">
              <a:solidFill>
                <a:schemeClr val="tx2"/>
              </a:solidFill>
              <a:latin typeface="微软雅黑" panose="020B0503020204020204" pitchFamily="34" charset="-122"/>
              <a:ea typeface="微软雅黑" panose="020B0503020204020204" pitchFamily="34" charset="-122"/>
            </a:endParaRPr>
          </a:p>
        </p:txBody>
      </p:sp>
      <p:sp>
        <p:nvSpPr>
          <p:cNvPr id="29" name="椭圆 14">
            <a:extLst>
              <a:ext uri="{FF2B5EF4-FFF2-40B4-BE49-F238E27FC236}">
                <a16:creationId xmlns:a16="http://schemas.microsoft.com/office/drawing/2014/main" id="{F507CF68-B24E-3A38-F41D-4C49CB712732}"/>
              </a:ext>
            </a:extLst>
          </p:cNvPr>
          <p:cNvSpPr/>
          <p:nvPr/>
        </p:nvSpPr>
        <p:spPr>
          <a:xfrm>
            <a:off x="6642092" y="3093833"/>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Tree>
    <p:custDataLst>
      <p:tags r:id="rId1"/>
    </p:custDataLst>
    <p:extLst>
      <p:ext uri="{BB962C8B-B14F-4D97-AF65-F5344CB8AC3E}">
        <p14:creationId xmlns:p14="http://schemas.microsoft.com/office/powerpoint/2010/main" val="1944632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F4507-6D82-DFD4-D8C0-F8D3C68673FD}"/>
            </a:ext>
          </a:extLst>
        </p:cNvPr>
        <p:cNvGrpSpPr/>
        <p:nvPr/>
      </p:nvGrpSpPr>
      <p:grpSpPr>
        <a:xfrm>
          <a:off x="0" y="0"/>
          <a:ext cx="0" cy="0"/>
          <a:chOff x="0" y="0"/>
          <a:chExt cx="0" cy="0"/>
        </a:xfrm>
      </p:grpSpPr>
      <p:pic>
        <p:nvPicPr>
          <p:cNvPr id="13" name="图片 12" descr="首页">
            <a:extLst>
              <a:ext uri="{FF2B5EF4-FFF2-40B4-BE49-F238E27FC236}">
                <a16:creationId xmlns:a16="http://schemas.microsoft.com/office/drawing/2014/main" id="{D7021D0F-2358-7179-159D-42F977246935}"/>
              </a:ext>
            </a:extLst>
          </p:cNvPr>
          <p:cNvPicPr>
            <a:picLocks noChangeAspect="1"/>
          </p:cNvPicPr>
          <p:nvPr/>
        </p:nvPicPr>
        <p:blipFill>
          <a:blip r:embed="rId6"/>
          <a:stretch>
            <a:fillRect/>
          </a:stretch>
        </p:blipFill>
        <p:spPr>
          <a:xfrm>
            <a:off x="0" y="0"/>
            <a:ext cx="12192000" cy="6858000"/>
          </a:xfrm>
          <a:prstGeom prst="rect">
            <a:avLst/>
          </a:prstGeom>
        </p:spPr>
      </p:pic>
      <p:sp>
        <p:nvSpPr>
          <p:cNvPr id="3" name="矩形 2">
            <a:extLst>
              <a:ext uri="{FF2B5EF4-FFF2-40B4-BE49-F238E27FC236}">
                <a16:creationId xmlns:a16="http://schemas.microsoft.com/office/drawing/2014/main" id="{8D02A720-86EE-45FF-41D2-337496F5D7B3}"/>
              </a:ext>
            </a:extLst>
          </p:cNvPr>
          <p:cNvSpPr/>
          <p:nvPr>
            <p:custDataLst>
              <p:tags r:id="rId2"/>
            </p:custDataLst>
          </p:nvPr>
        </p:nvSpPr>
        <p:spPr>
          <a:xfrm>
            <a:off x="5646000" y="1800000"/>
            <a:ext cx="900000" cy="900000"/>
          </a:xfrm>
          <a:prstGeom prst="rect">
            <a:avLst/>
          </a:prstGeom>
          <a:solidFill>
            <a:srgbClr val="55CBF8"/>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000" dirty="0">
                <a:latin typeface="微软雅黑" panose="020B0503020204020204" pitchFamily="34" charset="-122"/>
                <a:ea typeface="微软雅黑" panose="020B0503020204020204" pitchFamily="34" charset="-122"/>
              </a:rPr>
              <a:t>1</a:t>
            </a:r>
          </a:p>
        </p:txBody>
      </p:sp>
      <p:sp>
        <p:nvSpPr>
          <p:cNvPr id="7" name="文本框 6">
            <a:extLst>
              <a:ext uri="{FF2B5EF4-FFF2-40B4-BE49-F238E27FC236}">
                <a16:creationId xmlns:a16="http://schemas.microsoft.com/office/drawing/2014/main" id="{D48C5CB8-8312-38DA-A6E2-ABD2584FD6F5}"/>
              </a:ext>
            </a:extLst>
          </p:cNvPr>
          <p:cNvSpPr txBox="1"/>
          <p:nvPr>
            <p:custDataLst>
              <p:tags r:id="rId3"/>
            </p:custDataLst>
          </p:nvPr>
        </p:nvSpPr>
        <p:spPr>
          <a:xfrm>
            <a:off x="2681605" y="2880000"/>
            <a:ext cx="6828790" cy="720090"/>
          </a:xfrm>
          <a:prstGeom prst="rect">
            <a:avLst/>
          </a:prstGeom>
          <a:noFill/>
        </p:spPr>
        <p:txBody>
          <a:bodyPr wrap="square" rtlCol="0">
            <a:noAutofit/>
          </a:bodyPr>
          <a:lstStyle/>
          <a:p>
            <a:pPr algn="ctr"/>
            <a:r>
              <a:rPr lang="zh-CN" altLang="en-US" sz="4400" dirty="0">
                <a:solidFill>
                  <a:srgbClr val="142DA8"/>
                </a:solidFill>
                <a:latin typeface="微软雅黑" panose="020B0503020204020204" pitchFamily="34" charset="-122"/>
                <a:ea typeface="微软雅黑" panose="020B0503020204020204" pitchFamily="34" charset="-122"/>
              </a:rPr>
              <a:t>软件部分</a:t>
            </a:r>
          </a:p>
        </p:txBody>
      </p:sp>
      <p:sp>
        <p:nvSpPr>
          <p:cNvPr id="17" name="文本框 16">
            <a:extLst>
              <a:ext uri="{FF2B5EF4-FFF2-40B4-BE49-F238E27FC236}">
                <a16:creationId xmlns:a16="http://schemas.microsoft.com/office/drawing/2014/main" id="{EC2B8348-E021-2008-B119-AD815E8B7CE0}"/>
              </a:ext>
            </a:extLst>
          </p:cNvPr>
          <p:cNvSpPr txBox="1"/>
          <p:nvPr>
            <p:custDataLst>
              <p:tags r:id="rId4"/>
            </p:custDataLst>
          </p:nvPr>
        </p:nvSpPr>
        <p:spPr>
          <a:xfrm>
            <a:off x="3473768" y="3780000"/>
            <a:ext cx="5244465" cy="521970"/>
          </a:xfrm>
          <a:prstGeom prst="rect">
            <a:avLst/>
          </a:prstGeom>
          <a:noFill/>
        </p:spPr>
        <p:txBody>
          <a:bodyPr wrap="square" rtlCol="0">
            <a:spAutoFit/>
          </a:bodyPr>
          <a:lstStyle/>
          <a:p>
            <a:pPr algn="ctr"/>
            <a:r>
              <a:rPr lang="zh-CN" altLang="en-US" sz="2800" dirty="0">
                <a:solidFill>
                  <a:srgbClr val="666666"/>
                </a:solidFill>
                <a:latin typeface="微软雅黑" panose="020B0503020204020204" pitchFamily="34" charset="-122"/>
                <a:ea typeface="微软雅黑" panose="020B0503020204020204" pitchFamily="34" charset="-122"/>
              </a:rPr>
              <a:t>量化配置</a:t>
            </a:r>
          </a:p>
        </p:txBody>
      </p:sp>
    </p:spTree>
    <p:custDataLst>
      <p:tags r:id="rId1"/>
    </p:custDataLst>
    <p:extLst>
      <p:ext uri="{BB962C8B-B14F-4D97-AF65-F5344CB8AC3E}">
        <p14:creationId xmlns:p14="http://schemas.microsoft.com/office/powerpoint/2010/main" val="3181731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D3BEA-FAB1-DCA6-9209-B16CF80C2847}"/>
            </a:ext>
          </a:extLst>
        </p:cNvPr>
        <p:cNvGrpSpPr/>
        <p:nvPr/>
      </p:nvGrpSpPr>
      <p:grpSpPr>
        <a:xfrm>
          <a:off x="0" y="0"/>
          <a:ext cx="0" cy="0"/>
          <a:chOff x="0" y="0"/>
          <a:chExt cx="0" cy="0"/>
        </a:xfrm>
      </p:grpSpPr>
      <p:pic>
        <p:nvPicPr>
          <p:cNvPr id="36" name="图片 35" descr="内容页" hidden="1">
            <a:extLst>
              <a:ext uri="{FF2B5EF4-FFF2-40B4-BE49-F238E27FC236}">
                <a16:creationId xmlns:a16="http://schemas.microsoft.com/office/drawing/2014/main" id="{740D277C-7831-4E3F-0BA7-35B93E585671}"/>
              </a:ext>
            </a:extLst>
          </p:cNvPr>
          <p:cNvPicPr>
            <a:picLocks noChangeAspect="1"/>
          </p:cNvPicPr>
          <p:nvPr/>
        </p:nvPicPr>
        <p:blipFill>
          <a:blip r:embed="rId12"/>
          <a:stretch>
            <a:fillRect/>
          </a:stretch>
        </p:blipFill>
        <p:spPr>
          <a:xfrm>
            <a:off x="-635" y="0"/>
            <a:ext cx="12192635" cy="6858635"/>
          </a:xfrm>
          <a:prstGeom prst="rect">
            <a:avLst/>
          </a:prstGeom>
        </p:spPr>
      </p:pic>
      <p:pic>
        <p:nvPicPr>
          <p:cNvPr id="3" name="图片 2" descr="集创赛1">
            <a:extLst>
              <a:ext uri="{FF2B5EF4-FFF2-40B4-BE49-F238E27FC236}">
                <a16:creationId xmlns:a16="http://schemas.microsoft.com/office/drawing/2014/main" id="{BAF2A5E2-2EFB-C7DE-0B73-F7C5AF79D829}"/>
              </a:ext>
            </a:extLst>
          </p:cNvPr>
          <p:cNvPicPr>
            <a:picLocks noChangeAspect="1"/>
          </p:cNvPicPr>
          <p:nvPr/>
        </p:nvPicPr>
        <p:blipFill>
          <a:blip r:embed="rId13"/>
          <a:stretch>
            <a:fillRect/>
          </a:stretch>
        </p:blipFill>
        <p:spPr>
          <a:xfrm>
            <a:off x="900000" y="0"/>
            <a:ext cx="2016000" cy="1260000"/>
          </a:xfrm>
          <a:prstGeom prst="rect">
            <a:avLst/>
          </a:prstGeom>
        </p:spPr>
      </p:pic>
      <p:sp>
        <p:nvSpPr>
          <p:cNvPr id="10" name="组合 33">
            <a:extLst>
              <a:ext uri="{FF2B5EF4-FFF2-40B4-BE49-F238E27FC236}">
                <a16:creationId xmlns:a16="http://schemas.microsoft.com/office/drawing/2014/main" id="{F298333D-CDBA-F879-2D30-09E68B07ED0A}"/>
              </a:ext>
            </a:extLst>
          </p:cNvPr>
          <p:cNvSpPr/>
          <p:nvPr/>
        </p:nvSpPr>
        <p:spPr>
          <a:xfrm>
            <a:off x="4014355" y="720000"/>
            <a:ext cx="416329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en-US" altLang="zh-CN" dirty="0">
                <a:latin typeface="微软雅黑" panose="020B0503020204020204" pitchFamily="34" charset="-122"/>
                <a:ea typeface="微软雅黑" panose="020B0503020204020204" pitchFamily="34" charset="-122"/>
              </a:rPr>
              <a:t>YOLO</a:t>
            </a:r>
            <a:r>
              <a:rPr lang="zh-CN" altLang="en-US" dirty="0">
                <a:latin typeface="微软雅黑" panose="020B0503020204020204" pitchFamily="34" charset="-122"/>
                <a:ea typeface="微软雅黑" panose="020B0503020204020204" pitchFamily="34" charset="-122"/>
              </a:rPr>
              <a:t>模型量化</a:t>
            </a:r>
            <a:endParaRPr lang="zh-CN" dirty="0">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E9537E58-11DB-FF3C-EB7C-AF1F61F06824}"/>
              </a:ext>
            </a:extLst>
          </p:cNvPr>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矩形: 圆角 19">
            <a:extLst>
              <a:ext uri="{FF2B5EF4-FFF2-40B4-BE49-F238E27FC236}">
                <a16:creationId xmlns:a16="http://schemas.microsoft.com/office/drawing/2014/main" id="{A1B3FA62-0265-D3E5-0F7F-767CF705BC86}"/>
              </a:ext>
            </a:extLst>
          </p:cNvPr>
          <p:cNvSpPr/>
          <p:nvPr>
            <p:custDataLst>
              <p:tags r:id="rId2"/>
            </p:custDataLst>
          </p:nvPr>
        </p:nvSpPr>
        <p:spPr>
          <a:xfrm>
            <a:off x="1118671" y="1518093"/>
            <a:ext cx="4915731" cy="1098867"/>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6" name="文本框 17">
            <a:extLst>
              <a:ext uri="{FF2B5EF4-FFF2-40B4-BE49-F238E27FC236}">
                <a16:creationId xmlns:a16="http://schemas.microsoft.com/office/drawing/2014/main" id="{887C69F3-B3A4-C63F-B62E-CC76F591569A}"/>
              </a:ext>
            </a:extLst>
          </p:cNvPr>
          <p:cNvSpPr txBox="1"/>
          <p:nvPr>
            <p:custDataLst>
              <p:tags r:id="rId3"/>
            </p:custDataLst>
          </p:nvPr>
        </p:nvSpPr>
        <p:spPr>
          <a:xfrm>
            <a:off x="1632161" y="1603036"/>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量化框架与策略</a:t>
            </a:r>
            <a:endParaRPr lang="zh-CN" dirty="0">
              <a:latin typeface="微软雅黑" panose="020B0503020204020204" pitchFamily="34" charset="-122"/>
              <a:ea typeface="微软雅黑" panose="020B0503020204020204" pitchFamily="34" charset="-122"/>
            </a:endParaRPr>
          </a:p>
        </p:txBody>
      </p:sp>
      <p:sp>
        <p:nvSpPr>
          <p:cNvPr id="7" name="文本框 18">
            <a:extLst>
              <a:ext uri="{FF2B5EF4-FFF2-40B4-BE49-F238E27FC236}">
                <a16:creationId xmlns:a16="http://schemas.microsoft.com/office/drawing/2014/main" id="{3F77A330-288E-B2B3-98EE-26E1A6BF9DBF}"/>
              </a:ext>
            </a:extLst>
          </p:cNvPr>
          <p:cNvSpPr txBox="1"/>
          <p:nvPr>
            <p:custDataLst>
              <p:tags r:id="rId4"/>
            </p:custDataLst>
          </p:nvPr>
        </p:nvSpPr>
        <p:spPr>
          <a:xfrm>
            <a:off x="1370672" y="1975227"/>
            <a:ext cx="4663730" cy="891783"/>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框架：开源量化框架 </a:t>
            </a:r>
            <a:r>
              <a:rPr lang="en-US" altLang="zh-CN" sz="1200" dirty="0">
                <a:solidFill>
                  <a:schemeClr val="tx2"/>
                </a:solidFill>
              </a:rPr>
              <a:t>PPQ</a:t>
            </a:r>
            <a:r>
              <a:rPr lang="zh-CN" altLang="en-US" sz="1200" dirty="0">
                <a:solidFill>
                  <a:schemeClr val="tx2"/>
                </a:solidFill>
              </a:rPr>
              <a:t>。策略：对称量化 </a:t>
            </a:r>
            <a:r>
              <a:rPr lang="en-US" altLang="zh-CN" sz="1200" dirty="0">
                <a:solidFill>
                  <a:schemeClr val="tx2"/>
                </a:solidFill>
              </a:rPr>
              <a:t>+ Power Of Two</a:t>
            </a:r>
            <a:r>
              <a:rPr lang="zh-CN" altLang="en-US" sz="1200" dirty="0">
                <a:solidFill>
                  <a:schemeClr val="tx2"/>
                </a:solidFill>
              </a:rPr>
              <a:t>（支持</a:t>
            </a:r>
            <a:r>
              <a:rPr lang="en-US" altLang="zh-CN" sz="1200" dirty="0">
                <a:solidFill>
                  <a:schemeClr val="tx2"/>
                </a:solidFill>
              </a:rPr>
              <a:t>FPGA</a:t>
            </a:r>
            <a:r>
              <a:rPr lang="zh-CN" altLang="en-US" sz="1200" dirty="0">
                <a:solidFill>
                  <a:schemeClr val="tx2"/>
                </a:solidFill>
              </a:rPr>
              <a:t>移位实现反量化，降低资源消耗，提高运行频率）。</a:t>
            </a:r>
            <a:endParaRPr lang="en-US" altLang="zh-CN" sz="1200" dirty="0">
              <a:solidFill>
                <a:schemeClr val="tx2"/>
              </a:solidFill>
            </a:endParaRPr>
          </a:p>
          <a:p>
            <a:endParaRPr sz="1200" dirty="0">
              <a:solidFill>
                <a:schemeClr val="tx2"/>
              </a:solidFill>
              <a:latin typeface="微软雅黑" panose="020B0503020204020204" pitchFamily="34" charset="-122"/>
              <a:ea typeface="微软雅黑" panose="020B0503020204020204" pitchFamily="34" charset="-122"/>
            </a:endParaRPr>
          </a:p>
        </p:txBody>
      </p:sp>
      <p:sp>
        <p:nvSpPr>
          <p:cNvPr id="14" name="椭圆 14">
            <a:extLst>
              <a:ext uri="{FF2B5EF4-FFF2-40B4-BE49-F238E27FC236}">
                <a16:creationId xmlns:a16="http://schemas.microsoft.com/office/drawing/2014/main" id="{E86E51D9-E9E0-E3A2-BDE6-95ECDEB3DE49}"/>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15" name="矩形: 圆角 19">
            <a:extLst>
              <a:ext uri="{FF2B5EF4-FFF2-40B4-BE49-F238E27FC236}">
                <a16:creationId xmlns:a16="http://schemas.microsoft.com/office/drawing/2014/main" id="{EDFE3D01-CDE7-9633-AA4C-2E16BE833EBF}"/>
              </a:ext>
            </a:extLst>
          </p:cNvPr>
          <p:cNvSpPr/>
          <p:nvPr>
            <p:custDataLst>
              <p:tags r:id="rId5"/>
            </p:custDataLst>
          </p:nvPr>
        </p:nvSpPr>
        <p:spPr>
          <a:xfrm>
            <a:off x="1117315" y="2769043"/>
            <a:ext cx="4915730" cy="1194760"/>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16" name="文本框 17">
            <a:extLst>
              <a:ext uri="{FF2B5EF4-FFF2-40B4-BE49-F238E27FC236}">
                <a16:creationId xmlns:a16="http://schemas.microsoft.com/office/drawing/2014/main" id="{FB5650DF-340D-E663-7148-512DD25908DB}"/>
              </a:ext>
            </a:extLst>
          </p:cNvPr>
          <p:cNvSpPr txBox="1"/>
          <p:nvPr>
            <p:custDataLst>
              <p:tags r:id="rId6"/>
            </p:custDataLst>
          </p:nvPr>
        </p:nvSpPr>
        <p:spPr>
          <a:xfrm>
            <a:off x="1630804" y="2853987"/>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量化比特配置</a:t>
            </a:r>
            <a:endParaRPr lang="zh-CN" dirty="0">
              <a:latin typeface="微软雅黑" panose="020B0503020204020204" pitchFamily="34" charset="-122"/>
              <a:ea typeface="微软雅黑" panose="020B0503020204020204" pitchFamily="34" charset="-122"/>
            </a:endParaRPr>
          </a:p>
        </p:txBody>
      </p:sp>
      <p:sp>
        <p:nvSpPr>
          <p:cNvPr id="17" name="文本框 18">
            <a:extLst>
              <a:ext uri="{FF2B5EF4-FFF2-40B4-BE49-F238E27FC236}">
                <a16:creationId xmlns:a16="http://schemas.microsoft.com/office/drawing/2014/main" id="{14B60791-8E41-150D-6AF5-C22F8CB52247}"/>
              </a:ext>
            </a:extLst>
          </p:cNvPr>
          <p:cNvSpPr txBox="1"/>
          <p:nvPr>
            <p:custDataLst>
              <p:tags r:id="rId7"/>
            </p:custDataLst>
          </p:nvPr>
        </p:nvSpPr>
        <p:spPr>
          <a:xfrm>
            <a:off x="1370672" y="3288146"/>
            <a:ext cx="4663730" cy="891783"/>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输入层：</a:t>
            </a:r>
            <a:r>
              <a:rPr lang="en-US" altLang="zh-CN" sz="1200" dirty="0">
                <a:solidFill>
                  <a:schemeClr val="tx2"/>
                </a:solidFill>
              </a:rPr>
              <a:t>9</a:t>
            </a:r>
            <a:r>
              <a:rPr lang="zh-CN" altLang="en-US" sz="1200" dirty="0">
                <a:solidFill>
                  <a:schemeClr val="tx2"/>
                </a:solidFill>
              </a:rPr>
              <a:t>比特对称量化。适配</a:t>
            </a:r>
            <a:r>
              <a:rPr lang="en-US" altLang="zh-CN" sz="1200" dirty="0">
                <a:solidFill>
                  <a:schemeClr val="tx2"/>
                </a:solidFill>
              </a:rPr>
              <a:t>FPGA RGB888</a:t>
            </a:r>
            <a:r>
              <a:rPr lang="zh-CN" altLang="en-US" sz="1200" dirty="0">
                <a:solidFill>
                  <a:schemeClr val="tx2"/>
                </a:solidFill>
              </a:rPr>
              <a:t>输入格式，无需额外操作。其它张量：</a:t>
            </a:r>
            <a:r>
              <a:rPr lang="en-US" altLang="zh-CN" sz="1200" dirty="0">
                <a:solidFill>
                  <a:schemeClr val="tx2"/>
                </a:solidFill>
              </a:rPr>
              <a:t>9</a:t>
            </a:r>
            <a:r>
              <a:rPr lang="zh-CN" altLang="en-US" sz="1200" dirty="0">
                <a:solidFill>
                  <a:schemeClr val="tx2"/>
                </a:solidFill>
              </a:rPr>
              <a:t>比特对称量化，保证量化误差足够小。</a:t>
            </a:r>
            <a:endParaRPr lang="en-US" altLang="zh-CN" sz="1200" dirty="0">
              <a:solidFill>
                <a:schemeClr val="tx2"/>
              </a:solidFill>
            </a:endParaRPr>
          </a:p>
          <a:p>
            <a:endParaRPr sz="1200" dirty="0">
              <a:solidFill>
                <a:schemeClr val="tx2"/>
              </a:solidFill>
              <a:latin typeface="微软雅黑" panose="020B0503020204020204" pitchFamily="34" charset="-122"/>
              <a:ea typeface="微软雅黑" panose="020B0503020204020204" pitchFamily="34" charset="-122"/>
            </a:endParaRPr>
          </a:p>
        </p:txBody>
      </p:sp>
      <p:sp>
        <p:nvSpPr>
          <p:cNvPr id="18" name="椭圆 14">
            <a:extLst>
              <a:ext uri="{FF2B5EF4-FFF2-40B4-BE49-F238E27FC236}">
                <a16:creationId xmlns:a16="http://schemas.microsoft.com/office/drawing/2014/main" id="{D8792A63-1B01-5E58-AA16-B5118BAD9D33}"/>
              </a:ext>
            </a:extLst>
          </p:cNvPr>
          <p:cNvSpPr/>
          <p:nvPr/>
        </p:nvSpPr>
        <p:spPr>
          <a:xfrm>
            <a:off x="1432900" y="2960572"/>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19" name="矩形: 圆角 19">
            <a:extLst>
              <a:ext uri="{FF2B5EF4-FFF2-40B4-BE49-F238E27FC236}">
                <a16:creationId xmlns:a16="http://schemas.microsoft.com/office/drawing/2014/main" id="{9B63ABEB-F79E-083C-79C9-96D8B248B7B3}"/>
              </a:ext>
            </a:extLst>
          </p:cNvPr>
          <p:cNvSpPr/>
          <p:nvPr>
            <p:custDataLst>
              <p:tags r:id="rId8"/>
            </p:custDataLst>
          </p:nvPr>
        </p:nvSpPr>
        <p:spPr>
          <a:xfrm>
            <a:off x="6653292" y="1524625"/>
            <a:ext cx="4915730" cy="1098867"/>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20" name="文本框 17">
            <a:extLst>
              <a:ext uri="{FF2B5EF4-FFF2-40B4-BE49-F238E27FC236}">
                <a16:creationId xmlns:a16="http://schemas.microsoft.com/office/drawing/2014/main" id="{D6B19228-011B-8363-0B39-6ED353AE4FC6}"/>
              </a:ext>
            </a:extLst>
          </p:cNvPr>
          <p:cNvSpPr txBox="1"/>
          <p:nvPr>
            <p:custDataLst>
              <p:tags r:id="rId9"/>
            </p:custDataLst>
          </p:nvPr>
        </p:nvSpPr>
        <p:spPr>
          <a:xfrm>
            <a:off x="7166781" y="1609568"/>
            <a:ext cx="1943698" cy="369332"/>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误差分析结果</a:t>
            </a:r>
            <a:endParaRPr lang="zh-CN" dirty="0">
              <a:latin typeface="微软雅黑" panose="020B0503020204020204" pitchFamily="34" charset="-122"/>
              <a:ea typeface="微软雅黑" panose="020B0503020204020204" pitchFamily="34" charset="-122"/>
            </a:endParaRPr>
          </a:p>
        </p:txBody>
      </p:sp>
      <p:sp>
        <p:nvSpPr>
          <p:cNvPr id="21" name="文本框 18">
            <a:extLst>
              <a:ext uri="{FF2B5EF4-FFF2-40B4-BE49-F238E27FC236}">
                <a16:creationId xmlns:a16="http://schemas.microsoft.com/office/drawing/2014/main" id="{01308915-B65B-B781-2F86-D9D139B84162}"/>
              </a:ext>
            </a:extLst>
          </p:cNvPr>
          <p:cNvSpPr txBox="1"/>
          <p:nvPr>
            <p:custDataLst>
              <p:tags r:id="rId10"/>
            </p:custDataLst>
          </p:nvPr>
        </p:nvSpPr>
        <p:spPr>
          <a:xfrm>
            <a:off x="6905292" y="1949103"/>
            <a:ext cx="4663730" cy="891783"/>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en-US" altLang="zh-CN" sz="1200" dirty="0" err="1">
                <a:solidFill>
                  <a:schemeClr val="tx2"/>
                </a:solidFill>
              </a:rPr>
              <a:t>Bbox</a:t>
            </a:r>
            <a:r>
              <a:rPr lang="zh-CN" altLang="en-US" sz="1200" dirty="0">
                <a:solidFill>
                  <a:schemeClr val="tx2"/>
                </a:solidFill>
              </a:rPr>
              <a:t>分支输出 </a:t>
            </a:r>
            <a:r>
              <a:rPr lang="en-US" altLang="zh-CN" sz="1200" dirty="0">
                <a:solidFill>
                  <a:schemeClr val="tx2"/>
                </a:solidFill>
              </a:rPr>
              <a:t>(node_conv2d_7)</a:t>
            </a:r>
            <a:r>
              <a:rPr lang="zh-CN" altLang="en-US" sz="1200" dirty="0">
                <a:solidFill>
                  <a:schemeClr val="tx2"/>
                </a:solidFill>
              </a:rPr>
              <a:t>：累计误差 </a:t>
            </a:r>
            <a:r>
              <a:rPr lang="en-US" altLang="zh-CN" sz="1200" dirty="0">
                <a:solidFill>
                  <a:schemeClr val="tx2"/>
                </a:solidFill>
              </a:rPr>
              <a:t>&lt; 0.05%</a:t>
            </a:r>
            <a:r>
              <a:rPr lang="zh-CN" altLang="en-US" sz="1200" dirty="0">
                <a:solidFill>
                  <a:schemeClr val="tx2"/>
                </a:solidFill>
              </a:rPr>
              <a:t>；</a:t>
            </a:r>
            <a:endParaRPr lang="en-US" altLang="zh-CN" sz="1200" dirty="0">
              <a:solidFill>
                <a:schemeClr val="tx2"/>
              </a:solidFill>
            </a:endParaRPr>
          </a:p>
          <a:p>
            <a:r>
              <a:rPr lang="en-US" altLang="zh-CN" sz="1200" dirty="0" err="1">
                <a:solidFill>
                  <a:schemeClr val="tx2"/>
                </a:solidFill>
              </a:rPr>
              <a:t>Cls</a:t>
            </a:r>
            <a:r>
              <a:rPr lang="zh-CN" altLang="en-US" sz="1200" dirty="0">
                <a:solidFill>
                  <a:schemeClr val="tx2"/>
                </a:solidFill>
              </a:rPr>
              <a:t>分支输出 </a:t>
            </a:r>
            <a:r>
              <a:rPr lang="en-US" altLang="zh-CN" sz="1200" dirty="0">
                <a:solidFill>
                  <a:schemeClr val="tx2"/>
                </a:solidFill>
              </a:rPr>
              <a:t>(node_conv2d_10)</a:t>
            </a:r>
            <a:r>
              <a:rPr lang="zh-CN" altLang="en-US" sz="1200" dirty="0">
                <a:solidFill>
                  <a:schemeClr val="tx2"/>
                </a:solidFill>
              </a:rPr>
              <a:t>：累计误差 </a:t>
            </a:r>
            <a:r>
              <a:rPr lang="en-US" altLang="zh-CN" sz="1200" dirty="0">
                <a:solidFill>
                  <a:schemeClr val="tx2"/>
                </a:solidFill>
              </a:rPr>
              <a:t>&lt; 0.05%</a:t>
            </a:r>
            <a:r>
              <a:rPr lang="zh-CN" altLang="en-US" sz="1200" dirty="0">
                <a:solidFill>
                  <a:schemeClr val="tx2"/>
                </a:solidFill>
              </a:rPr>
              <a:t>。</a:t>
            </a:r>
            <a:endParaRPr lang="en-US" altLang="zh-CN" sz="1200" dirty="0">
              <a:solidFill>
                <a:schemeClr val="tx2"/>
              </a:solidFill>
            </a:endParaRPr>
          </a:p>
          <a:p>
            <a:endParaRPr sz="1200" dirty="0">
              <a:solidFill>
                <a:schemeClr val="tx2"/>
              </a:solidFill>
              <a:latin typeface="微软雅黑" panose="020B0503020204020204" pitchFamily="34" charset="-122"/>
              <a:ea typeface="微软雅黑" panose="020B0503020204020204" pitchFamily="34" charset="-122"/>
            </a:endParaRPr>
          </a:p>
        </p:txBody>
      </p:sp>
      <p:sp>
        <p:nvSpPr>
          <p:cNvPr id="22" name="椭圆 14">
            <a:extLst>
              <a:ext uri="{FF2B5EF4-FFF2-40B4-BE49-F238E27FC236}">
                <a16:creationId xmlns:a16="http://schemas.microsoft.com/office/drawing/2014/main" id="{0592477A-14EE-4BB6-A600-D9F477B53C0C}"/>
              </a:ext>
            </a:extLst>
          </p:cNvPr>
          <p:cNvSpPr/>
          <p:nvPr/>
        </p:nvSpPr>
        <p:spPr>
          <a:xfrm>
            <a:off x="6968877" y="1716153"/>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aphicFrame>
        <p:nvGraphicFramePr>
          <p:cNvPr id="8" name="表格 7">
            <a:extLst>
              <a:ext uri="{FF2B5EF4-FFF2-40B4-BE49-F238E27FC236}">
                <a16:creationId xmlns:a16="http://schemas.microsoft.com/office/drawing/2014/main" id="{A11D9F99-C451-7695-A26C-5992EA8B0994}"/>
              </a:ext>
            </a:extLst>
          </p:cNvPr>
          <p:cNvGraphicFramePr>
            <a:graphicFrameLocks noGrp="1"/>
          </p:cNvGraphicFramePr>
          <p:nvPr>
            <p:extLst>
              <p:ext uri="{D42A27DB-BD31-4B8C-83A1-F6EECF244321}">
                <p14:modId xmlns:p14="http://schemas.microsoft.com/office/powerpoint/2010/main" val="492858776"/>
              </p:ext>
            </p:extLst>
          </p:nvPr>
        </p:nvGraphicFramePr>
        <p:xfrm>
          <a:off x="1062051" y="4213853"/>
          <a:ext cx="5024902" cy="2082222"/>
        </p:xfrm>
        <a:graphic>
          <a:graphicData uri="http://schemas.openxmlformats.org/drawingml/2006/table">
            <a:tbl>
              <a:tblPr firstRow="1" bandRow="1">
                <a:tableStyleId>{5C22544A-7EE6-4342-B048-85BDC9FD1C3A}</a:tableStyleId>
              </a:tblPr>
              <a:tblGrid>
                <a:gridCol w="1053794">
                  <a:extLst>
                    <a:ext uri="{9D8B030D-6E8A-4147-A177-3AD203B41FA5}">
                      <a16:colId xmlns:a16="http://schemas.microsoft.com/office/drawing/2014/main" val="4229767990"/>
                    </a:ext>
                  </a:extLst>
                </a:gridCol>
                <a:gridCol w="809897">
                  <a:extLst>
                    <a:ext uri="{9D8B030D-6E8A-4147-A177-3AD203B41FA5}">
                      <a16:colId xmlns:a16="http://schemas.microsoft.com/office/drawing/2014/main" val="654018807"/>
                    </a:ext>
                  </a:extLst>
                </a:gridCol>
                <a:gridCol w="705394">
                  <a:extLst>
                    <a:ext uri="{9D8B030D-6E8A-4147-A177-3AD203B41FA5}">
                      <a16:colId xmlns:a16="http://schemas.microsoft.com/office/drawing/2014/main" val="3340436884"/>
                    </a:ext>
                  </a:extLst>
                </a:gridCol>
                <a:gridCol w="574766">
                  <a:extLst>
                    <a:ext uri="{9D8B030D-6E8A-4147-A177-3AD203B41FA5}">
                      <a16:colId xmlns:a16="http://schemas.microsoft.com/office/drawing/2014/main" val="3296745883"/>
                    </a:ext>
                  </a:extLst>
                </a:gridCol>
                <a:gridCol w="796834">
                  <a:extLst>
                    <a:ext uri="{9D8B030D-6E8A-4147-A177-3AD203B41FA5}">
                      <a16:colId xmlns:a16="http://schemas.microsoft.com/office/drawing/2014/main" val="4020511340"/>
                    </a:ext>
                  </a:extLst>
                </a:gridCol>
                <a:gridCol w="1084217">
                  <a:extLst>
                    <a:ext uri="{9D8B030D-6E8A-4147-A177-3AD203B41FA5}">
                      <a16:colId xmlns:a16="http://schemas.microsoft.com/office/drawing/2014/main" val="2518334765"/>
                    </a:ext>
                  </a:extLst>
                </a:gridCol>
              </a:tblGrid>
              <a:tr h="342014">
                <a:tc>
                  <a:txBody>
                    <a:bodyPr/>
                    <a:lstStyle/>
                    <a:p>
                      <a:pPr algn="ctr"/>
                      <a:r>
                        <a:rPr lang="en-US" altLang="zh-CN" sz="1400" dirty="0"/>
                        <a:t>Class</a:t>
                      </a:r>
                      <a:endParaRPr lang="zh-CN" altLang="en-US" sz="1400" dirty="0"/>
                    </a:p>
                  </a:txBody>
                  <a:tcPr/>
                </a:tc>
                <a:tc>
                  <a:txBody>
                    <a:bodyPr/>
                    <a:lstStyle/>
                    <a:p>
                      <a:pPr algn="ctr"/>
                      <a:r>
                        <a:rPr lang="en-US" altLang="zh-CN" sz="1400" dirty="0"/>
                        <a:t>Images</a:t>
                      </a:r>
                      <a:endParaRPr lang="zh-CN" altLang="en-US" sz="1400" dirty="0"/>
                    </a:p>
                  </a:txBody>
                  <a:tcPr/>
                </a:tc>
                <a:tc>
                  <a:txBody>
                    <a:bodyPr/>
                    <a:lstStyle/>
                    <a:p>
                      <a:pPr algn="ctr"/>
                      <a:r>
                        <a:rPr lang="en-US" altLang="zh-CN" sz="1400" dirty="0"/>
                        <a:t>Box(P</a:t>
                      </a:r>
                      <a:endParaRPr lang="zh-CN" altLang="en-US" sz="1400" dirty="0"/>
                    </a:p>
                  </a:txBody>
                  <a:tcPr/>
                </a:tc>
                <a:tc>
                  <a:txBody>
                    <a:bodyPr/>
                    <a:lstStyle/>
                    <a:p>
                      <a:pPr algn="ctr"/>
                      <a:r>
                        <a:rPr lang="en-US" altLang="zh-CN" sz="1400" dirty="0"/>
                        <a:t>R</a:t>
                      </a:r>
                      <a:endParaRPr lang="zh-CN" altLang="en-US" sz="1400" dirty="0"/>
                    </a:p>
                  </a:txBody>
                  <a:tcPr/>
                </a:tc>
                <a:tc>
                  <a:txBody>
                    <a:bodyPr/>
                    <a:lstStyle/>
                    <a:p>
                      <a:pPr algn="ctr"/>
                      <a:r>
                        <a:rPr lang="en-US" altLang="zh-CN" sz="1400" dirty="0"/>
                        <a:t>mAP50</a:t>
                      </a:r>
                      <a:endParaRPr lang="zh-CN" altLang="en-US" sz="1400" dirty="0"/>
                    </a:p>
                  </a:txBody>
                  <a:tcPr/>
                </a:tc>
                <a:tc>
                  <a:txBody>
                    <a:bodyPr/>
                    <a:lstStyle/>
                    <a:p>
                      <a:pPr algn="ctr"/>
                      <a:r>
                        <a:rPr lang="en-US" altLang="zh-CN" sz="1400" dirty="0"/>
                        <a:t>mAP50-95)</a:t>
                      </a:r>
                      <a:endParaRPr lang="zh-CN" altLang="en-US" sz="1400" dirty="0"/>
                    </a:p>
                  </a:txBody>
                  <a:tcPr/>
                </a:tc>
                <a:extLst>
                  <a:ext uri="{0D108BD9-81ED-4DB2-BD59-A6C34878D82A}">
                    <a16:rowId xmlns:a16="http://schemas.microsoft.com/office/drawing/2014/main" val="1243863983"/>
                  </a:ext>
                </a:extLst>
              </a:tr>
              <a:tr h="288370">
                <a:tc>
                  <a:txBody>
                    <a:bodyPr/>
                    <a:lstStyle/>
                    <a:p>
                      <a:pPr algn="ctr"/>
                      <a:r>
                        <a:rPr lang="en-US" altLang="zh-CN" sz="1200" dirty="0"/>
                        <a:t>all</a:t>
                      </a:r>
                      <a:endParaRPr lang="zh-CN" altLang="en-US" sz="1200" dirty="0"/>
                    </a:p>
                  </a:txBody>
                  <a:tcPr/>
                </a:tc>
                <a:tc>
                  <a:txBody>
                    <a:bodyPr/>
                    <a:lstStyle/>
                    <a:p>
                      <a:pPr algn="ctr"/>
                      <a:r>
                        <a:rPr lang="en-US" altLang="zh-CN" sz="1200" dirty="0"/>
                        <a:t>1250</a:t>
                      </a:r>
                      <a:endParaRPr lang="zh-CN" altLang="en-US" sz="1200" dirty="0"/>
                    </a:p>
                  </a:txBody>
                  <a:tcPr/>
                </a:tc>
                <a:tc>
                  <a:txBody>
                    <a:bodyPr/>
                    <a:lstStyle/>
                    <a:p>
                      <a:pPr algn="ctr"/>
                      <a:r>
                        <a:rPr lang="en-US" altLang="zh-CN" sz="1200" dirty="0"/>
                        <a:t>0.962</a:t>
                      </a:r>
                      <a:endParaRPr lang="zh-CN" altLang="en-US" sz="1200" dirty="0"/>
                    </a:p>
                  </a:txBody>
                  <a:tcPr/>
                </a:tc>
                <a:tc>
                  <a:txBody>
                    <a:bodyPr/>
                    <a:lstStyle/>
                    <a:p>
                      <a:pPr algn="ctr"/>
                      <a:r>
                        <a:rPr lang="en-US" altLang="zh-CN" sz="1200" dirty="0"/>
                        <a:t>0.968</a:t>
                      </a:r>
                      <a:endParaRPr lang="zh-CN" altLang="en-US" sz="1200" dirty="0"/>
                    </a:p>
                  </a:txBody>
                  <a:tcPr/>
                </a:tc>
                <a:tc>
                  <a:txBody>
                    <a:bodyPr/>
                    <a:lstStyle/>
                    <a:p>
                      <a:pPr algn="ctr"/>
                      <a:r>
                        <a:rPr lang="en-US" altLang="zh-CN" sz="1200" dirty="0"/>
                        <a:t>0.99</a:t>
                      </a:r>
                      <a:endParaRPr lang="zh-CN" altLang="en-US" sz="1200" dirty="0"/>
                    </a:p>
                  </a:txBody>
                  <a:tcPr/>
                </a:tc>
                <a:tc>
                  <a:txBody>
                    <a:bodyPr/>
                    <a:lstStyle/>
                    <a:p>
                      <a:pPr algn="ctr"/>
                      <a:r>
                        <a:rPr lang="en-US" altLang="zh-CN" sz="1200" dirty="0"/>
                        <a:t>0.695</a:t>
                      </a:r>
                      <a:endParaRPr lang="zh-CN" altLang="en-US" sz="1200" dirty="0"/>
                    </a:p>
                  </a:txBody>
                  <a:tcPr/>
                </a:tc>
                <a:extLst>
                  <a:ext uri="{0D108BD9-81ED-4DB2-BD59-A6C34878D82A}">
                    <a16:rowId xmlns:a16="http://schemas.microsoft.com/office/drawing/2014/main" val="1148006958"/>
                  </a:ext>
                </a:extLst>
              </a:tr>
              <a:tr h="267789">
                <a:tc>
                  <a:txBody>
                    <a:bodyPr/>
                    <a:lstStyle/>
                    <a:p>
                      <a:pPr algn="ctr"/>
                      <a:r>
                        <a:rPr lang="en-US" altLang="zh-CN" sz="1200" dirty="0" err="1"/>
                        <a:t>blue_plate</a:t>
                      </a:r>
                      <a:endParaRPr lang="zh-CN" altLang="en-US" sz="1200" dirty="0"/>
                    </a:p>
                  </a:txBody>
                  <a:tcPr/>
                </a:tc>
                <a:tc>
                  <a:txBody>
                    <a:bodyPr/>
                    <a:lstStyle/>
                    <a:p>
                      <a:pPr algn="ctr"/>
                      <a:r>
                        <a:rPr lang="en-US" altLang="zh-CN" sz="1200" dirty="0"/>
                        <a:t>375</a:t>
                      </a:r>
                      <a:endParaRPr lang="zh-CN" altLang="en-US" sz="1200" dirty="0"/>
                    </a:p>
                  </a:txBody>
                  <a:tcPr/>
                </a:tc>
                <a:tc>
                  <a:txBody>
                    <a:bodyPr/>
                    <a:lstStyle/>
                    <a:p>
                      <a:pPr algn="ctr"/>
                      <a:r>
                        <a:rPr lang="en-US" altLang="zh-CN" sz="1200" dirty="0"/>
                        <a:t>0.936</a:t>
                      </a:r>
                      <a:endParaRPr lang="zh-CN" altLang="en-US" sz="1200" dirty="0"/>
                    </a:p>
                  </a:txBody>
                  <a:tcPr/>
                </a:tc>
                <a:tc>
                  <a:txBody>
                    <a:bodyPr/>
                    <a:lstStyle/>
                    <a:p>
                      <a:pPr algn="ctr"/>
                      <a:r>
                        <a:rPr lang="en-US" altLang="zh-CN" sz="1200" dirty="0"/>
                        <a:t>0.949</a:t>
                      </a:r>
                      <a:endParaRPr lang="zh-CN" altLang="en-US" sz="1200" dirty="0"/>
                    </a:p>
                  </a:txBody>
                  <a:tcPr/>
                </a:tc>
                <a:tc>
                  <a:txBody>
                    <a:bodyPr/>
                    <a:lstStyle/>
                    <a:p>
                      <a:pPr algn="ctr"/>
                      <a:r>
                        <a:rPr lang="en-US" altLang="zh-CN" sz="1200" dirty="0"/>
                        <a:t>0.982</a:t>
                      </a:r>
                      <a:endParaRPr lang="zh-CN" altLang="en-US" sz="1200" dirty="0"/>
                    </a:p>
                  </a:txBody>
                  <a:tcPr/>
                </a:tc>
                <a:tc>
                  <a:txBody>
                    <a:bodyPr/>
                    <a:lstStyle/>
                    <a:p>
                      <a:pPr algn="ctr"/>
                      <a:r>
                        <a:rPr lang="en-US" altLang="zh-CN" sz="1200" dirty="0"/>
                        <a:t>0.669</a:t>
                      </a:r>
                      <a:endParaRPr lang="zh-CN" altLang="en-US" sz="1200" dirty="0"/>
                    </a:p>
                  </a:txBody>
                  <a:tcPr/>
                </a:tc>
                <a:extLst>
                  <a:ext uri="{0D108BD9-81ED-4DB2-BD59-A6C34878D82A}">
                    <a16:rowId xmlns:a16="http://schemas.microsoft.com/office/drawing/2014/main" val="4100020177"/>
                  </a:ext>
                </a:extLst>
              </a:tr>
              <a:tr h="300446">
                <a:tc>
                  <a:txBody>
                    <a:bodyPr/>
                    <a:lstStyle/>
                    <a:p>
                      <a:pPr algn="ctr"/>
                      <a:r>
                        <a:rPr lang="en-US" altLang="zh-CN" sz="1200" dirty="0" err="1"/>
                        <a:t>green_plate</a:t>
                      </a:r>
                      <a:endParaRPr lang="zh-CN" altLang="en-US" sz="1200" dirty="0"/>
                    </a:p>
                  </a:txBody>
                  <a:tcPr/>
                </a:tc>
                <a:tc>
                  <a:txBody>
                    <a:bodyPr/>
                    <a:lstStyle/>
                    <a:p>
                      <a:pPr algn="ctr"/>
                      <a:r>
                        <a:rPr lang="en-US" altLang="zh-CN" sz="1200" dirty="0"/>
                        <a:t>375</a:t>
                      </a:r>
                      <a:endParaRPr lang="zh-CN" altLang="en-US" sz="1200" dirty="0"/>
                    </a:p>
                  </a:txBody>
                  <a:tcPr/>
                </a:tc>
                <a:tc>
                  <a:txBody>
                    <a:bodyPr/>
                    <a:lstStyle/>
                    <a:p>
                      <a:pPr algn="ctr"/>
                      <a:r>
                        <a:rPr lang="en-US" altLang="zh-CN" sz="1200" dirty="0"/>
                        <a:t>0.981</a:t>
                      </a:r>
                      <a:endParaRPr lang="zh-CN" altLang="en-US" sz="1200" dirty="0"/>
                    </a:p>
                  </a:txBody>
                  <a:tcPr/>
                </a:tc>
                <a:tc>
                  <a:txBody>
                    <a:bodyPr/>
                    <a:lstStyle/>
                    <a:p>
                      <a:pPr algn="ctr"/>
                      <a:r>
                        <a:rPr lang="en-US" altLang="zh-CN" sz="1200" dirty="0"/>
                        <a:t>0.983</a:t>
                      </a:r>
                      <a:endParaRPr lang="zh-CN" altLang="en-US" sz="1200" dirty="0"/>
                    </a:p>
                  </a:txBody>
                  <a:tcPr/>
                </a:tc>
                <a:tc>
                  <a:txBody>
                    <a:bodyPr/>
                    <a:lstStyle/>
                    <a:p>
                      <a:pPr algn="ctr"/>
                      <a:r>
                        <a:rPr lang="en-US" altLang="zh-CN" sz="1200" dirty="0"/>
                        <a:t>0.994</a:t>
                      </a:r>
                      <a:endParaRPr lang="zh-CN" altLang="en-US" sz="1200" dirty="0"/>
                    </a:p>
                  </a:txBody>
                  <a:tcPr/>
                </a:tc>
                <a:tc>
                  <a:txBody>
                    <a:bodyPr/>
                    <a:lstStyle/>
                    <a:p>
                      <a:pPr algn="ctr"/>
                      <a:r>
                        <a:rPr lang="en-US" altLang="zh-CN" sz="1200" dirty="0"/>
                        <a:t>0.836</a:t>
                      </a:r>
                      <a:endParaRPr lang="zh-CN" altLang="en-US" sz="1200" dirty="0"/>
                    </a:p>
                  </a:txBody>
                  <a:tcPr/>
                </a:tc>
                <a:extLst>
                  <a:ext uri="{0D108BD9-81ED-4DB2-BD59-A6C34878D82A}">
                    <a16:rowId xmlns:a16="http://schemas.microsoft.com/office/drawing/2014/main" val="1727104025"/>
                  </a:ext>
                </a:extLst>
              </a:tr>
              <a:tr h="293914">
                <a:tc>
                  <a:txBody>
                    <a:bodyPr/>
                    <a:lstStyle/>
                    <a:p>
                      <a:pPr algn="ctr"/>
                      <a:r>
                        <a:rPr lang="en-US" altLang="zh-CN" sz="1200" dirty="0" err="1"/>
                        <a:t>yellow_plate</a:t>
                      </a:r>
                      <a:endParaRPr lang="zh-CN" altLang="en-US" sz="1200" dirty="0"/>
                    </a:p>
                  </a:txBody>
                  <a:tcPr/>
                </a:tc>
                <a:tc>
                  <a:txBody>
                    <a:bodyPr/>
                    <a:lstStyle/>
                    <a:p>
                      <a:pPr algn="ctr"/>
                      <a:r>
                        <a:rPr lang="en-US" altLang="zh-CN" sz="1200" dirty="0"/>
                        <a:t>250</a:t>
                      </a:r>
                      <a:endParaRPr lang="zh-CN" altLang="en-US" sz="1200" dirty="0"/>
                    </a:p>
                  </a:txBody>
                  <a:tcPr/>
                </a:tc>
                <a:tc>
                  <a:txBody>
                    <a:bodyPr/>
                    <a:lstStyle/>
                    <a:p>
                      <a:pPr algn="ctr"/>
                      <a:r>
                        <a:rPr lang="en-US" altLang="zh-CN" sz="1200" dirty="0"/>
                        <a:t>0.968</a:t>
                      </a:r>
                      <a:endParaRPr lang="zh-CN" altLang="en-US" sz="1200" dirty="0"/>
                    </a:p>
                  </a:txBody>
                  <a:tcPr/>
                </a:tc>
                <a:tc>
                  <a:txBody>
                    <a:bodyPr/>
                    <a:lstStyle/>
                    <a:p>
                      <a:pPr algn="ctr"/>
                      <a:r>
                        <a:rPr lang="en-US" altLang="zh-CN" sz="1200" dirty="0"/>
                        <a:t>0.984</a:t>
                      </a:r>
                      <a:endParaRPr lang="zh-CN" altLang="en-US" sz="1200" dirty="0"/>
                    </a:p>
                  </a:txBody>
                  <a:tcPr/>
                </a:tc>
                <a:tc>
                  <a:txBody>
                    <a:bodyPr/>
                    <a:lstStyle/>
                    <a:p>
                      <a:pPr algn="ctr"/>
                      <a:r>
                        <a:rPr lang="en-US" altLang="zh-CN" sz="1200" dirty="0"/>
                        <a:t>0.994</a:t>
                      </a:r>
                      <a:endParaRPr lang="zh-CN" altLang="en-US" sz="1200" dirty="0"/>
                    </a:p>
                  </a:txBody>
                  <a:tcPr/>
                </a:tc>
                <a:tc>
                  <a:txBody>
                    <a:bodyPr/>
                    <a:lstStyle/>
                    <a:p>
                      <a:pPr algn="ctr"/>
                      <a:r>
                        <a:rPr lang="en-US" altLang="zh-CN" sz="1200" dirty="0"/>
                        <a:t>0.691</a:t>
                      </a:r>
                      <a:endParaRPr lang="zh-CN" altLang="en-US" sz="1200" dirty="0"/>
                    </a:p>
                  </a:txBody>
                  <a:tcPr/>
                </a:tc>
                <a:extLst>
                  <a:ext uri="{0D108BD9-81ED-4DB2-BD59-A6C34878D82A}">
                    <a16:rowId xmlns:a16="http://schemas.microsoft.com/office/drawing/2014/main" val="3052270040"/>
                  </a:ext>
                </a:extLst>
              </a:tr>
              <a:tr h="280852">
                <a:tc>
                  <a:txBody>
                    <a:bodyPr/>
                    <a:lstStyle/>
                    <a:p>
                      <a:pPr algn="ctr"/>
                      <a:r>
                        <a:rPr lang="en-US" altLang="zh-CN" sz="1200" dirty="0" err="1"/>
                        <a:t>black_plate</a:t>
                      </a:r>
                      <a:endParaRPr lang="zh-CN" altLang="en-US" sz="1200" dirty="0"/>
                    </a:p>
                  </a:txBody>
                  <a:tcPr/>
                </a:tc>
                <a:tc>
                  <a:txBody>
                    <a:bodyPr/>
                    <a:lstStyle/>
                    <a:p>
                      <a:pPr algn="ctr"/>
                      <a:r>
                        <a:rPr lang="en-US" altLang="zh-CN" sz="1200" dirty="0"/>
                        <a:t>125</a:t>
                      </a:r>
                      <a:endParaRPr lang="zh-CN" altLang="en-US" sz="1200" dirty="0"/>
                    </a:p>
                  </a:txBody>
                  <a:tcPr/>
                </a:tc>
                <a:tc>
                  <a:txBody>
                    <a:bodyPr/>
                    <a:lstStyle/>
                    <a:p>
                      <a:pPr algn="ctr"/>
                      <a:r>
                        <a:rPr lang="en-US" altLang="zh-CN" sz="1200" dirty="0"/>
                        <a:t>0.940</a:t>
                      </a:r>
                      <a:endParaRPr lang="zh-CN" altLang="en-US" sz="1200" dirty="0"/>
                    </a:p>
                  </a:txBody>
                  <a:tcPr/>
                </a:tc>
                <a:tc>
                  <a:txBody>
                    <a:bodyPr/>
                    <a:lstStyle/>
                    <a:p>
                      <a:pPr algn="ctr"/>
                      <a:r>
                        <a:rPr lang="en-US" altLang="zh-CN" sz="1200" dirty="0"/>
                        <a:t>0.960</a:t>
                      </a:r>
                      <a:endParaRPr lang="zh-CN" altLang="en-US" sz="1200" dirty="0"/>
                    </a:p>
                  </a:txBody>
                  <a:tcPr/>
                </a:tc>
                <a:tc>
                  <a:txBody>
                    <a:bodyPr/>
                    <a:lstStyle/>
                    <a:p>
                      <a:pPr algn="ctr"/>
                      <a:r>
                        <a:rPr lang="en-US" altLang="zh-CN" sz="1200" dirty="0"/>
                        <a:t>0.990</a:t>
                      </a:r>
                      <a:endParaRPr lang="zh-CN" altLang="en-US" sz="1200" dirty="0"/>
                    </a:p>
                  </a:txBody>
                  <a:tcPr/>
                </a:tc>
                <a:tc>
                  <a:txBody>
                    <a:bodyPr/>
                    <a:lstStyle/>
                    <a:p>
                      <a:pPr algn="ctr"/>
                      <a:r>
                        <a:rPr lang="en-US" altLang="zh-CN" sz="1200" dirty="0"/>
                        <a:t>0.648</a:t>
                      </a:r>
                      <a:endParaRPr lang="zh-CN" altLang="en-US" sz="1200" dirty="0"/>
                    </a:p>
                  </a:txBody>
                  <a:tcPr/>
                </a:tc>
                <a:extLst>
                  <a:ext uri="{0D108BD9-81ED-4DB2-BD59-A6C34878D82A}">
                    <a16:rowId xmlns:a16="http://schemas.microsoft.com/office/drawing/2014/main" val="2808795150"/>
                  </a:ext>
                </a:extLst>
              </a:tr>
              <a:tr h="302306">
                <a:tc>
                  <a:txBody>
                    <a:bodyPr/>
                    <a:lstStyle/>
                    <a:p>
                      <a:pPr algn="ctr"/>
                      <a:r>
                        <a:rPr lang="en-US" altLang="zh-CN" sz="1200" dirty="0" err="1"/>
                        <a:t>white_plate</a:t>
                      </a:r>
                      <a:endParaRPr lang="zh-CN" altLang="en-US" sz="1200" dirty="0"/>
                    </a:p>
                  </a:txBody>
                  <a:tcPr/>
                </a:tc>
                <a:tc>
                  <a:txBody>
                    <a:bodyPr/>
                    <a:lstStyle/>
                    <a:p>
                      <a:pPr algn="ctr"/>
                      <a:r>
                        <a:rPr lang="en-US" altLang="zh-CN" sz="1200" dirty="0"/>
                        <a:t>125</a:t>
                      </a:r>
                      <a:endParaRPr lang="zh-CN" altLang="en-US" sz="1200" dirty="0"/>
                    </a:p>
                  </a:txBody>
                  <a:tcPr/>
                </a:tc>
                <a:tc>
                  <a:txBody>
                    <a:bodyPr/>
                    <a:lstStyle/>
                    <a:p>
                      <a:pPr algn="ctr"/>
                      <a:r>
                        <a:rPr lang="en-US" altLang="zh-CN" sz="1200" dirty="0"/>
                        <a:t>0.984</a:t>
                      </a:r>
                      <a:endParaRPr lang="zh-CN" altLang="en-US" sz="1200" dirty="0"/>
                    </a:p>
                  </a:txBody>
                  <a:tcPr/>
                </a:tc>
                <a:tc>
                  <a:txBody>
                    <a:bodyPr/>
                    <a:lstStyle/>
                    <a:p>
                      <a:pPr algn="ctr"/>
                      <a:r>
                        <a:rPr lang="en-US" altLang="zh-CN" sz="1200" dirty="0"/>
                        <a:t>0.964</a:t>
                      </a:r>
                      <a:endParaRPr lang="zh-CN" altLang="en-US" sz="1200" dirty="0"/>
                    </a:p>
                  </a:txBody>
                  <a:tcPr/>
                </a:tc>
                <a:tc>
                  <a:txBody>
                    <a:bodyPr/>
                    <a:lstStyle/>
                    <a:p>
                      <a:pPr algn="ctr"/>
                      <a:r>
                        <a:rPr lang="en-US" altLang="zh-CN" sz="1200" dirty="0"/>
                        <a:t>0.989</a:t>
                      </a:r>
                      <a:endParaRPr lang="zh-CN" altLang="en-US" sz="1200" dirty="0"/>
                    </a:p>
                  </a:txBody>
                  <a:tcPr/>
                </a:tc>
                <a:tc>
                  <a:txBody>
                    <a:bodyPr/>
                    <a:lstStyle/>
                    <a:p>
                      <a:pPr algn="ctr"/>
                      <a:r>
                        <a:rPr lang="en-US" altLang="zh-CN" sz="1200" dirty="0"/>
                        <a:t>0.630</a:t>
                      </a:r>
                      <a:endParaRPr lang="zh-CN" altLang="en-US" sz="1200" dirty="0"/>
                    </a:p>
                  </a:txBody>
                  <a:tcPr/>
                </a:tc>
                <a:extLst>
                  <a:ext uri="{0D108BD9-81ED-4DB2-BD59-A6C34878D82A}">
                    <a16:rowId xmlns:a16="http://schemas.microsoft.com/office/drawing/2014/main" val="1953823295"/>
                  </a:ext>
                </a:extLst>
              </a:tr>
            </a:tbl>
          </a:graphicData>
        </a:graphic>
      </p:graphicFrame>
      <p:graphicFrame>
        <p:nvGraphicFramePr>
          <p:cNvPr id="9" name="表格 8">
            <a:extLst>
              <a:ext uri="{FF2B5EF4-FFF2-40B4-BE49-F238E27FC236}">
                <a16:creationId xmlns:a16="http://schemas.microsoft.com/office/drawing/2014/main" id="{1424A11B-6CB3-9D8B-D075-47866916FE0C}"/>
              </a:ext>
            </a:extLst>
          </p:cNvPr>
          <p:cNvGraphicFramePr>
            <a:graphicFrameLocks noGrp="1"/>
          </p:cNvGraphicFramePr>
          <p:nvPr>
            <p:extLst>
              <p:ext uri="{D42A27DB-BD31-4B8C-83A1-F6EECF244321}">
                <p14:modId xmlns:p14="http://schemas.microsoft.com/office/powerpoint/2010/main" val="2422660847"/>
              </p:ext>
            </p:extLst>
          </p:nvPr>
        </p:nvGraphicFramePr>
        <p:xfrm>
          <a:off x="7239224" y="2840886"/>
          <a:ext cx="3742509" cy="3688080"/>
        </p:xfrm>
        <a:graphic>
          <a:graphicData uri="http://schemas.openxmlformats.org/drawingml/2006/table">
            <a:tbl>
              <a:tblPr firstRow="1" bandRow="1">
                <a:tableStyleId>{5C22544A-7EE6-4342-B048-85BDC9FD1C3A}</a:tableStyleId>
              </a:tblPr>
              <a:tblGrid>
                <a:gridCol w="1567543">
                  <a:extLst>
                    <a:ext uri="{9D8B030D-6E8A-4147-A177-3AD203B41FA5}">
                      <a16:colId xmlns:a16="http://schemas.microsoft.com/office/drawing/2014/main" val="3200048216"/>
                    </a:ext>
                  </a:extLst>
                </a:gridCol>
                <a:gridCol w="1110343">
                  <a:extLst>
                    <a:ext uri="{9D8B030D-6E8A-4147-A177-3AD203B41FA5}">
                      <a16:colId xmlns:a16="http://schemas.microsoft.com/office/drawing/2014/main" val="478124394"/>
                    </a:ext>
                  </a:extLst>
                </a:gridCol>
                <a:gridCol w="1064623">
                  <a:extLst>
                    <a:ext uri="{9D8B030D-6E8A-4147-A177-3AD203B41FA5}">
                      <a16:colId xmlns:a16="http://schemas.microsoft.com/office/drawing/2014/main" val="3757617357"/>
                    </a:ext>
                  </a:extLst>
                </a:gridCol>
              </a:tblGrid>
              <a:tr h="242205">
                <a:tc>
                  <a:txBody>
                    <a:bodyPr/>
                    <a:lstStyle/>
                    <a:p>
                      <a:pPr algn="ctr"/>
                      <a:r>
                        <a:rPr lang="en-US" altLang="zh-CN" sz="1600" dirty="0"/>
                        <a:t>Layer</a:t>
                      </a:r>
                      <a:endParaRPr lang="zh-CN" altLang="en-US" sz="1600" dirty="0"/>
                    </a:p>
                  </a:txBody>
                  <a:tcPr/>
                </a:tc>
                <a:tc>
                  <a:txBody>
                    <a:bodyPr/>
                    <a:lstStyle/>
                    <a:p>
                      <a:pPr algn="ctr"/>
                      <a:r>
                        <a:rPr lang="zh-CN" altLang="en-US" sz="1600" dirty="0"/>
                        <a:t>逐层</a:t>
                      </a:r>
                      <a:r>
                        <a:rPr lang="en-US" altLang="zh-CN" sz="1600" dirty="0"/>
                        <a:t>SNR</a:t>
                      </a:r>
                      <a:endParaRPr lang="zh-CN" altLang="en-US" sz="1600" dirty="0"/>
                    </a:p>
                  </a:txBody>
                  <a:tcPr/>
                </a:tc>
                <a:tc>
                  <a:txBody>
                    <a:bodyPr/>
                    <a:lstStyle/>
                    <a:p>
                      <a:pPr algn="ctr"/>
                      <a:r>
                        <a:rPr lang="zh-CN" altLang="en-US" sz="1600" dirty="0"/>
                        <a:t>累计</a:t>
                      </a:r>
                      <a:r>
                        <a:rPr lang="en-US" altLang="zh-CN" sz="1600" dirty="0"/>
                        <a:t>SNR</a:t>
                      </a:r>
                      <a:endParaRPr lang="zh-CN" altLang="en-US" sz="1600" dirty="0"/>
                    </a:p>
                  </a:txBody>
                  <a:tcPr/>
                </a:tc>
                <a:extLst>
                  <a:ext uri="{0D108BD9-81ED-4DB2-BD59-A6C34878D82A}">
                    <a16:rowId xmlns:a16="http://schemas.microsoft.com/office/drawing/2014/main" val="1241486090"/>
                  </a:ext>
                </a:extLst>
              </a:tr>
              <a:tr h="242205">
                <a:tc>
                  <a:txBody>
                    <a:bodyPr/>
                    <a:lstStyle/>
                    <a:p>
                      <a:pPr algn="ctr"/>
                      <a:r>
                        <a:rPr lang="en-US" altLang="zh-CN" sz="1400" dirty="0"/>
                        <a:t>node_conv2d</a:t>
                      </a:r>
                      <a:endParaRPr lang="zh-CN" altLang="en-US" sz="1400" dirty="0"/>
                    </a:p>
                  </a:txBody>
                  <a:tcPr/>
                </a:tc>
                <a:tc>
                  <a:txBody>
                    <a:bodyPr/>
                    <a:lstStyle/>
                    <a:p>
                      <a:pPr algn="ctr"/>
                      <a:r>
                        <a:rPr lang="en-US" altLang="zh-CN" sz="1400" dirty="0"/>
                        <a:t>0.0016%</a:t>
                      </a:r>
                      <a:endParaRPr lang="zh-CN" altLang="en-US" sz="1400" dirty="0"/>
                    </a:p>
                  </a:txBody>
                  <a:tcPr/>
                </a:tc>
                <a:tc>
                  <a:txBody>
                    <a:bodyPr/>
                    <a:lstStyle/>
                    <a:p>
                      <a:pPr algn="ctr"/>
                      <a:r>
                        <a:rPr lang="en-US" altLang="zh-CN" sz="1400" dirty="0"/>
                        <a:t>0.0010%</a:t>
                      </a:r>
                      <a:endParaRPr lang="zh-CN" altLang="en-US" sz="1400" dirty="0"/>
                    </a:p>
                  </a:txBody>
                  <a:tcPr/>
                </a:tc>
                <a:extLst>
                  <a:ext uri="{0D108BD9-81ED-4DB2-BD59-A6C34878D82A}">
                    <a16:rowId xmlns:a16="http://schemas.microsoft.com/office/drawing/2014/main" val="3083238286"/>
                  </a:ext>
                </a:extLst>
              </a:tr>
              <a:tr h="242205">
                <a:tc>
                  <a:txBody>
                    <a:bodyPr/>
                    <a:lstStyle/>
                    <a:p>
                      <a:pPr algn="ctr"/>
                      <a:r>
                        <a:rPr lang="en-US" altLang="zh-CN" sz="1400" dirty="0"/>
                        <a:t>node_conv2d_1</a:t>
                      </a:r>
                      <a:endParaRPr lang="zh-CN" altLang="en-US" sz="1400" dirty="0"/>
                    </a:p>
                  </a:txBody>
                  <a:tcPr/>
                </a:tc>
                <a:tc>
                  <a:txBody>
                    <a:bodyPr/>
                    <a:lstStyle/>
                    <a:p>
                      <a:pPr algn="ctr"/>
                      <a:r>
                        <a:rPr lang="en-US" altLang="zh-CN" sz="1400" dirty="0"/>
                        <a:t>0.0239%</a:t>
                      </a:r>
                      <a:endParaRPr lang="zh-CN" altLang="en-US" sz="1400" dirty="0"/>
                    </a:p>
                  </a:txBody>
                  <a:tcPr/>
                </a:tc>
                <a:tc>
                  <a:txBody>
                    <a:bodyPr/>
                    <a:lstStyle/>
                    <a:p>
                      <a:pPr algn="ctr"/>
                      <a:r>
                        <a:rPr lang="en-US" altLang="zh-CN" sz="1400" dirty="0"/>
                        <a:t>0.6192%</a:t>
                      </a:r>
                      <a:endParaRPr lang="zh-CN" altLang="en-US" sz="1400" dirty="0"/>
                    </a:p>
                  </a:txBody>
                  <a:tcPr/>
                </a:tc>
                <a:extLst>
                  <a:ext uri="{0D108BD9-81ED-4DB2-BD59-A6C34878D82A}">
                    <a16:rowId xmlns:a16="http://schemas.microsoft.com/office/drawing/2014/main" val="1250674290"/>
                  </a:ext>
                </a:extLst>
              </a:tr>
              <a:tr h="242205">
                <a:tc>
                  <a:txBody>
                    <a:bodyPr/>
                    <a:lstStyle/>
                    <a:p>
                      <a:pPr algn="ctr"/>
                      <a:r>
                        <a:rPr lang="en-US" altLang="zh-CN" sz="1400" dirty="0"/>
                        <a:t>node_conv2d_2</a:t>
                      </a:r>
                      <a:endParaRPr lang="zh-CN" altLang="en-US" sz="1400" dirty="0"/>
                    </a:p>
                  </a:txBody>
                  <a:tcPr/>
                </a:tc>
                <a:tc>
                  <a:txBody>
                    <a:bodyPr/>
                    <a:lstStyle/>
                    <a:p>
                      <a:pPr algn="ctr"/>
                      <a:r>
                        <a:rPr lang="en-US" altLang="zh-CN" sz="1400" dirty="0"/>
                        <a:t>0.0197%</a:t>
                      </a:r>
                      <a:endParaRPr lang="zh-CN" altLang="en-US" sz="1400" dirty="0"/>
                    </a:p>
                  </a:txBody>
                  <a:tcPr/>
                </a:tc>
                <a:tc>
                  <a:txBody>
                    <a:bodyPr/>
                    <a:lstStyle/>
                    <a:p>
                      <a:pPr algn="ctr"/>
                      <a:r>
                        <a:rPr lang="en-US" altLang="zh-CN" sz="1400" dirty="0"/>
                        <a:t>0.0886%</a:t>
                      </a:r>
                      <a:endParaRPr lang="zh-CN" altLang="en-US" sz="1400" dirty="0"/>
                    </a:p>
                  </a:txBody>
                  <a:tcPr/>
                </a:tc>
                <a:extLst>
                  <a:ext uri="{0D108BD9-81ED-4DB2-BD59-A6C34878D82A}">
                    <a16:rowId xmlns:a16="http://schemas.microsoft.com/office/drawing/2014/main" val="3539034223"/>
                  </a:ext>
                </a:extLst>
              </a:tr>
              <a:tr h="2422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node_conv2d_3</a:t>
                      </a:r>
                      <a:endParaRPr lang="zh-CN" altLang="en-US" sz="1400" dirty="0"/>
                    </a:p>
                  </a:txBody>
                  <a:tcPr/>
                </a:tc>
                <a:tc>
                  <a:txBody>
                    <a:bodyPr/>
                    <a:lstStyle/>
                    <a:p>
                      <a:pPr algn="ctr"/>
                      <a:r>
                        <a:rPr lang="en-US" altLang="zh-CN" sz="1400" dirty="0"/>
                        <a:t>0.0123%</a:t>
                      </a:r>
                      <a:endParaRPr lang="zh-CN" altLang="en-US" sz="1400" dirty="0"/>
                    </a:p>
                  </a:txBody>
                  <a:tcPr/>
                </a:tc>
                <a:tc>
                  <a:txBody>
                    <a:bodyPr/>
                    <a:lstStyle/>
                    <a:p>
                      <a:pPr algn="ctr"/>
                      <a:r>
                        <a:rPr lang="en-US" altLang="zh-CN" sz="1400" dirty="0"/>
                        <a:t>0.0574%</a:t>
                      </a:r>
                      <a:endParaRPr lang="zh-CN" altLang="en-US" sz="1400" dirty="0"/>
                    </a:p>
                  </a:txBody>
                  <a:tcPr/>
                </a:tc>
                <a:extLst>
                  <a:ext uri="{0D108BD9-81ED-4DB2-BD59-A6C34878D82A}">
                    <a16:rowId xmlns:a16="http://schemas.microsoft.com/office/drawing/2014/main" val="4000528139"/>
                  </a:ext>
                </a:extLst>
              </a:tr>
              <a:tr h="2422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node_conv2d_4</a:t>
                      </a:r>
                      <a:endParaRPr lang="zh-CN" altLang="en-US" sz="1400" dirty="0"/>
                    </a:p>
                  </a:txBody>
                  <a:tcPr/>
                </a:tc>
                <a:tc>
                  <a:txBody>
                    <a:bodyPr/>
                    <a:lstStyle/>
                    <a:p>
                      <a:pPr algn="ctr"/>
                      <a:r>
                        <a:rPr lang="en-US" altLang="zh-CN" sz="1400" dirty="0"/>
                        <a:t>0.0045%</a:t>
                      </a:r>
                      <a:endParaRPr lang="zh-CN" altLang="en-US" sz="1400" dirty="0"/>
                    </a:p>
                  </a:txBody>
                  <a:tcPr/>
                </a:tc>
                <a:tc>
                  <a:txBody>
                    <a:bodyPr/>
                    <a:lstStyle/>
                    <a:p>
                      <a:pPr algn="ctr"/>
                      <a:r>
                        <a:rPr lang="en-US" altLang="zh-CN" sz="1400" dirty="0"/>
                        <a:t>0.0701%</a:t>
                      </a:r>
                      <a:endParaRPr lang="zh-CN" altLang="en-US" sz="1400" dirty="0"/>
                    </a:p>
                  </a:txBody>
                  <a:tcPr/>
                </a:tc>
                <a:extLst>
                  <a:ext uri="{0D108BD9-81ED-4DB2-BD59-A6C34878D82A}">
                    <a16:rowId xmlns:a16="http://schemas.microsoft.com/office/drawing/2014/main" val="3805618255"/>
                  </a:ext>
                </a:extLst>
              </a:tr>
              <a:tr h="2422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node_conv2d_5</a:t>
                      </a:r>
                      <a:endParaRPr lang="zh-CN" altLang="en-US" sz="1400" dirty="0"/>
                    </a:p>
                  </a:txBody>
                  <a:tcPr/>
                </a:tc>
                <a:tc>
                  <a:txBody>
                    <a:bodyPr/>
                    <a:lstStyle/>
                    <a:p>
                      <a:pPr algn="ctr"/>
                      <a:r>
                        <a:rPr lang="en-US" altLang="zh-CN" sz="1400" dirty="0"/>
                        <a:t>0.0038%</a:t>
                      </a:r>
                      <a:endParaRPr lang="zh-CN" altLang="en-US" sz="1400" dirty="0"/>
                    </a:p>
                  </a:txBody>
                  <a:tcPr/>
                </a:tc>
                <a:tc>
                  <a:txBody>
                    <a:bodyPr/>
                    <a:lstStyle/>
                    <a:p>
                      <a:pPr algn="ctr"/>
                      <a:r>
                        <a:rPr lang="en-US" altLang="zh-CN" sz="1400" dirty="0"/>
                        <a:t>0.0486%</a:t>
                      </a:r>
                      <a:endParaRPr lang="zh-CN" altLang="en-US" sz="1400" dirty="0"/>
                    </a:p>
                  </a:txBody>
                  <a:tcPr/>
                </a:tc>
                <a:extLst>
                  <a:ext uri="{0D108BD9-81ED-4DB2-BD59-A6C34878D82A}">
                    <a16:rowId xmlns:a16="http://schemas.microsoft.com/office/drawing/2014/main" val="1460441367"/>
                  </a:ext>
                </a:extLst>
              </a:tr>
              <a:tr h="2422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node_conv2d_6</a:t>
                      </a:r>
                      <a:endParaRPr lang="zh-CN" altLang="en-US" sz="1400" dirty="0"/>
                    </a:p>
                  </a:txBody>
                  <a:tcPr/>
                </a:tc>
                <a:tc>
                  <a:txBody>
                    <a:bodyPr/>
                    <a:lstStyle/>
                    <a:p>
                      <a:pPr algn="ctr"/>
                      <a:r>
                        <a:rPr lang="en-US" altLang="zh-CN" sz="1400" dirty="0"/>
                        <a:t>0.0122%</a:t>
                      </a:r>
                      <a:endParaRPr lang="zh-CN" altLang="en-US" sz="1400" dirty="0"/>
                    </a:p>
                  </a:txBody>
                  <a:tcPr/>
                </a:tc>
                <a:tc>
                  <a:txBody>
                    <a:bodyPr/>
                    <a:lstStyle/>
                    <a:p>
                      <a:pPr algn="ctr"/>
                      <a:r>
                        <a:rPr lang="en-US" altLang="zh-CN" sz="1400" dirty="0"/>
                        <a:t>0.0521%</a:t>
                      </a:r>
                      <a:endParaRPr lang="zh-CN" altLang="en-US" sz="1400" dirty="0"/>
                    </a:p>
                  </a:txBody>
                  <a:tcPr/>
                </a:tc>
                <a:extLst>
                  <a:ext uri="{0D108BD9-81ED-4DB2-BD59-A6C34878D82A}">
                    <a16:rowId xmlns:a16="http://schemas.microsoft.com/office/drawing/2014/main" val="2336060072"/>
                  </a:ext>
                </a:extLst>
              </a:tr>
              <a:tr h="2422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node_conv2d_7</a:t>
                      </a:r>
                      <a:endParaRPr lang="zh-CN" altLang="en-US" sz="1400" dirty="0"/>
                    </a:p>
                  </a:txBody>
                  <a:tcPr/>
                </a:tc>
                <a:tc>
                  <a:txBody>
                    <a:bodyPr/>
                    <a:lstStyle/>
                    <a:p>
                      <a:pPr algn="ctr"/>
                      <a:r>
                        <a:rPr lang="en-US" altLang="zh-CN" sz="1400" dirty="0"/>
                        <a:t>0.0027%</a:t>
                      </a:r>
                      <a:endParaRPr lang="zh-CN" altLang="en-US" sz="1400" dirty="0"/>
                    </a:p>
                  </a:txBody>
                  <a:tcPr/>
                </a:tc>
                <a:tc>
                  <a:txBody>
                    <a:bodyPr/>
                    <a:lstStyle/>
                    <a:p>
                      <a:pPr algn="ctr"/>
                      <a:r>
                        <a:rPr lang="en-US" altLang="zh-CN" sz="1400" dirty="0"/>
                        <a:t>0.0226%</a:t>
                      </a:r>
                      <a:endParaRPr lang="zh-CN" altLang="en-US" sz="1400" dirty="0"/>
                    </a:p>
                  </a:txBody>
                  <a:tcPr/>
                </a:tc>
                <a:extLst>
                  <a:ext uri="{0D108BD9-81ED-4DB2-BD59-A6C34878D82A}">
                    <a16:rowId xmlns:a16="http://schemas.microsoft.com/office/drawing/2014/main" val="1803458934"/>
                  </a:ext>
                </a:extLst>
              </a:tr>
              <a:tr h="2422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node_conv2d_8</a:t>
                      </a:r>
                      <a:endParaRPr lang="zh-CN" altLang="en-US" sz="1400" dirty="0"/>
                    </a:p>
                  </a:txBody>
                  <a:tcPr/>
                </a:tc>
                <a:tc>
                  <a:txBody>
                    <a:bodyPr/>
                    <a:lstStyle/>
                    <a:p>
                      <a:pPr algn="ctr"/>
                      <a:r>
                        <a:rPr lang="en-US" altLang="zh-CN" sz="1400" dirty="0"/>
                        <a:t>0.0006%</a:t>
                      </a:r>
                      <a:endParaRPr lang="zh-CN" altLang="en-US" sz="1400" dirty="0"/>
                    </a:p>
                  </a:txBody>
                  <a:tcPr/>
                </a:tc>
                <a:tc>
                  <a:txBody>
                    <a:bodyPr/>
                    <a:lstStyle/>
                    <a:p>
                      <a:pPr algn="ctr"/>
                      <a:r>
                        <a:rPr lang="en-US" altLang="zh-CN" sz="1400" dirty="0"/>
                        <a:t>0.0516%</a:t>
                      </a:r>
                      <a:endParaRPr lang="zh-CN" altLang="en-US" sz="1400" dirty="0"/>
                    </a:p>
                  </a:txBody>
                  <a:tcPr/>
                </a:tc>
                <a:extLst>
                  <a:ext uri="{0D108BD9-81ED-4DB2-BD59-A6C34878D82A}">
                    <a16:rowId xmlns:a16="http://schemas.microsoft.com/office/drawing/2014/main" val="1874096717"/>
                  </a:ext>
                </a:extLst>
              </a:tr>
              <a:tr h="2422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node_conv2d_9</a:t>
                      </a:r>
                      <a:endParaRPr lang="zh-CN" altLang="en-US" sz="1400" dirty="0"/>
                    </a:p>
                  </a:txBody>
                  <a:tcPr/>
                </a:tc>
                <a:tc>
                  <a:txBody>
                    <a:bodyPr/>
                    <a:lstStyle/>
                    <a:p>
                      <a:pPr algn="ctr"/>
                      <a:r>
                        <a:rPr lang="en-US" altLang="zh-CN" sz="1400" dirty="0"/>
                        <a:t>0.0003%</a:t>
                      </a:r>
                      <a:endParaRPr lang="zh-CN" altLang="en-US" sz="1400" dirty="0"/>
                    </a:p>
                  </a:txBody>
                  <a:tcPr/>
                </a:tc>
                <a:tc>
                  <a:txBody>
                    <a:bodyPr/>
                    <a:lstStyle/>
                    <a:p>
                      <a:pPr algn="ctr"/>
                      <a:r>
                        <a:rPr lang="en-US" altLang="zh-CN" sz="1400" dirty="0"/>
                        <a:t>0.0366%</a:t>
                      </a:r>
                      <a:endParaRPr lang="zh-CN" altLang="en-US" sz="1400" dirty="0"/>
                    </a:p>
                  </a:txBody>
                  <a:tcPr/>
                </a:tc>
                <a:extLst>
                  <a:ext uri="{0D108BD9-81ED-4DB2-BD59-A6C34878D82A}">
                    <a16:rowId xmlns:a16="http://schemas.microsoft.com/office/drawing/2014/main" val="4289766121"/>
                  </a:ext>
                </a:extLst>
              </a:tr>
              <a:tr h="2422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node_conv2d_10</a:t>
                      </a:r>
                      <a:endParaRPr lang="zh-CN" altLang="en-US" sz="1400" dirty="0"/>
                    </a:p>
                  </a:txBody>
                  <a:tcPr/>
                </a:tc>
                <a:tc>
                  <a:txBody>
                    <a:bodyPr/>
                    <a:lstStyle/>
                    <a:p>
                      <a:pPr algn="ctr"/>
                      <a:r>
                        <a:rPr lang="en-US" altLang="zh-CN" sz="1400" dirty="0"/>
                        <a:t>0.0009%</a:t>
                      </a:r>
                      <a:endParaRPr lang="zh-CN" altLang="en-US" sz="1400" dirty="0"/>
                    </a:p>
                  </a:txBody>
                  <a:tcPr/>
                </a:tc>
                <a:tc>
                  <a:txBody>
                    <a:bodyPr/>
                    <a:lstStyle/>
                    <a:p>
                      <a:pPr algn="ctr"/>
                      <a:r>
                        <a:rPr lang="en-US" altLang="zh-CN" sz="1400" dirty="0"/>
                        <a:t>0.0109%</a:t>
                      </a:r>
                      <a:endParaRPr lang="zh-CN" altLang="en-US" sz="1400" dirty="0"/>
                    </a:p>
                  </a:txBody>
                  <a:tcPr/>
                </a:tc>
                <a:extLst>
                  <a:ext uri="{0D108BD9-81ED-4DB2-BD59-A6C34878D82A}">
                    <a16:rowId xmlns:a16="http://schemas.microsoft.com/office/drawing/2014/main" val="1669193656"/>
                  </a:ext>
                </a:extLst>
              </a:tr>
            </a:tbl>
          </a:graphicData>
        </a:graphic>
      </p:graphicFrame>
    </p:spTree>
    <p:custDataLst>
      <p:tags r:id="rId1"/>
    </p:custDataLst>
    <p:extLst>
      <p:ext uri="{BB962C8B-B14F-4D97-AF65-F5344CB8AC3E}">
        <p14:creationId xmlns:p14="http://schemas.microsoft.com/office/powerpoint/2010/main" val="32404185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06E17-3279-A888-2BBC-1AD04C1C0245}"/>
            </a:ext>
          </a:extLst>
        </p:cNvPr>
        <p:cNvGrpSpPr/>
        <p:nvPr/>
      </p:nvGrpSpPr>
      <p:grpSpPr>
        <a:xfrm>
          <a:off x="0" y="0"/>
          <a:ext cx="0" cy="0"/>
          <a:chOff x="0" y="0"/>
          <a:chExt cx="0" cy="0"/>
        </a:xfrm>
      </p:grpSpPr>
      <p:pic>
        <p:nvPicPr>
          <p:cNvPr id="36" name="图片 35" descr="内容页" hidden="1">
            <a:extLst>
              <a:ext uri="{FF2B5EF4-FFF2-40B4-BE49-F238E27FC236}">
                <a16:creationId xmlns:a16="http://schemas.microsoft.com/office/drawing/2014/main" id="{8199F8B5-3A4A-EB5C-66BB-A69D77BDF99D}"/>
              </a:ext>
            </a:extLst>
          </p:cNvPr>
          <p:cNvPicPr>
            <a:picLocks noChangeAspect="1"/>
          </p:cNvPicPr>
          <p:nvPr/>
        </p:nvPicPr>
        <p:blipFill>
          <a:blip r:embed="rId12"/>
          <a:stretch>
            <a:fillRect/>
          </a:stretch>
        </p:blipFill>
        <p:spPr>
          <a:xfrm>
            <a:off x="-635" y="0"/>
            <a:ext cx="12192635" cy="6858635"/>
          </a:xfrm>
          <a:prstGeom prst="rect">
            <a:avLst/>
          </a:prstGeom>
        </p:spPr>
      </p:pic>
      <p:pic>
        <p:nvPicPr>
          <p:cNvPr id="3" name="图片 2" descr="集创赛1">
            <a:extLst>
              <a:ext uri="{FF2B5EF4-FFF2-40B4-BE49-F238E27FC236}">
                <a16:creationId xmlns:a16="http://schemas.microsoft.com/office/drawing/2014/main" id="{F034D31D-3FDA-D3F4-BE58-5A81BE73EF81}"/>
              </a:ext>
            </a:extLst>
          </p:cNvPr>
          <p:cNvPicPr>
            <a:picLocks noChangeAspect="1"/>
          </p:cNvPicPr>
          <p:nvPr/>
        </p:nvPicPr>
        <p:blipFill>
          <a:blip r:embed="rId13"/>
          <a:stretch>
            <a:fillRect/>
          </a:stretch>
        </p:blipFill>
        <p:spPr>
          <a:xfrm>
            <a:off x="900000" y="0"/>
            <a:ext cx="2016000" cy="1260000"/>
          </a:xfrm>
          <a:prstGeom prst="rect">
            <a:avLst/>
          </a:prstGeom>
        </p:spPr>
      </p:pic>
      <p:sp>
        <p:nvSpPr>
          <p:cNvPr id="10" name="组合 33">
            <a:extLst>
              <a:ext uri="{FF2B5EF4-FFF2-40B4-BE49-F238E27FC236}">
                <a16:creationId xmlns:a16="http://schemas.microsoft.com/office/drawing/2014/main" id="{BF132129-94D0-C890-70EF-F408FC6D09C5}"/>
              </a:ext>
            </a:extLst>
          </p:cNvPr>
          <p:cNvSpPr/>
          <p:nvPr/>
        </p:nvSpPr>
        <p:spPr>
          <a:xfrm>
            <a:off x="4014355" y="720000"/>
            <a:ext cx="416329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en-US" altLang="zh-CN" dirty="0" err="1">
                <a:latin typeface="微软雅黑" panose="020B0503020204020204" pitchFamily="34" charset="-122"/>
                <a:ea typeface="微软雅黑" panose="020B0503020204020204" pitchFamily="34" charset="-122"/>
              </a:rPr>
              <a:t>LPRNet</a:t>
            </a:r>
            <a:r>
              <a:rPr lang="zh-CN" altLang="en-US" dirty="0">
                <a:latin typeface="微软雅黑" panose="020B0503020204020204" pitchFamily="34" charset="-122"/>
                <a:ea typeface="微软雅黑" panose="020B0503020204020204" pitchFamily="34" charset="-122"/>
              </a:rPr>
              <a:t>模型量化</a:t>
            </a:r>
            <a:endParaRPr lang="zh-CN" dirty="0">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8B71D72D-09FC-7CBE-164F-1ED35B55F0AF}"/>
              </a:ext>
            </a:extLst>
          </p:cNvPr>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矩形: 圆角 19">
            <a:extLst>
              <a:ext uri="{FF2B5EF4-FFF2-40B4-BE49-F238E27FC236}">
                <a16:creationId xmlns:a16="http://schemas.microsoft.com/office/drawing/2014/main" id="{BD9A3BEB-7B90-A913-806A-2F182C963FBB}"/>
              </a:ext>
            </a:extLst>
          </p:cNvPr>
          <p:cNvSpPr/>
          <p:nvPr>
            <p:custDataLst>
              <p:tags r:id="rId2"/>
            </p:custDataLst>
          </p:nvPr>
        </p:nvSpPr>
        <p:spPr>
          <a:xfrm>
            <a:off x="1075665" y="1567978"/>
            <a:ext cx="4915731" cy="822887"/>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6" name="文本框 17">
            <a:extLst>
              <a:ext uri="{FF2B5EF4-FFF2-40B4-BE49-F238E27FC236}">
                <a16:creationId xmlns:a16="http://schemas.microsoft.com/office/drawing/2014/main" id="{42602A6A-918B-0DA2-B967-19F91BF76D98}"/>
              </a:ext>
            </a:extLst>
          </p:cNvPr>
          <p:cNvSpPr txBox="1"/>
          <p:nvPr>
            <p:custDataLst>
              <p:tags r:id="rId3"/>
            </p:custDataLst>
          </p:nvPr>
        </p:nvSpPr>
        <p:spPr>
          <a:xfrm>
            <a:off x="1589155" y="1652921"/>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量化框架与策略</a:t>
            </a:r>
            <a:endParaRPr lang="zh-CN" dirty="0">
              <a:latin typeface="微软雅黑" panose="020B0503020204020204" pitchFamily="34" charset="-122"/>
              <a:ea typeface="微软雅黑" panose="020B0503020204020204" pitchFamily="34" charset="-122"/>
            </a:endParaRPr>
          </a:p>
        </p:txBody>
      </p:sp>
      <p:sp>
        <p:nvSpPr>
          <p:cNvPr id="7" name="文本框 18">
            <a:extLst>
              <a:ext uri="{FF2B5EF4-FFF2-40B4-BE49-F238E27FC236}">
                <a16:creationId xmlns:a16="http://schemas.microsoft.com/office/drawing/2014/main" id="{5409CF53-4611-C91B-BD32-03B359A5C57D}"/>
              </a:ext>
            </a:extLst>
          </p:cNvPr>
          <p:cNvSpPr txBox="1"/>
          <p:nvPr>
            <p:custDataLst>
              <p:tags r:id="rId4"/>
            </p:custDataLst>
          </p:nvPr>
        </p:nvSpPr>
        <p:spPr>
          <a:xfrm>
            <a:off x="1327666" y="1992456"/>
            <a:ext cx="4663730" cy="61478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框架：开源量化框架 </a:t>
            </a:r>
            <a:r>
              <a:rPr lang="en-US" altLang="zh-CN" sz="1200" dirty="0">
                <a:solidFill>
                  <a:schemeClr val="tx2"/>
                </a:solidFill>
              </a:rPr>
              <a:t>PPQ</a:t>
            </a:r>
            <a:r>
              <a:rPr lang="zh-CN" altLang="en-US" sz="1200" dirty="0">
                <a:solidFill>
                  <a:schemeClr val="tx2"/>
                </a:solidFill>
              </a:rPr>
              <a:t>。策略：对称量化 </a:t>
            </a:r>
            <a:r>
              <a:rPr lang="en-US" altLang="zh-CN" sz="1200" dirty="0">
                <a:solidFill>
                  <a:schemeClr val="tx2"/>
                </a:solidFill>
              </a:rPr>
              <a:t>+ Power Of Two</a:t>
            </a:r>
            <a:r>
              <a:rPr lang="zh-CN" altLang="en-US" sz="1200" dirty="0">
                <a:solidFill>
                  <a:schemeClr val="tx2"/>
                </a:solidFill>
              </a:rPr>
              <a:t>。</a:t>
            </a:r>
            <a:endParaRPr lang="en-US" altLang="zh-CN" sz="1200" dirty="0">
              <a:solidFill>
                <a:schemeClr val="tx2"/>
              </a:solidFill>
            </a:endParaRPr>
          </a:p>
          <a:p>
            <a:endParaRPr sz="1200" dirty="0">
              <a:solidFill>
                <a:schemeClr val="tx2"/>
              </a:solidFill>
              <a:latin typeface="微软雅黑" panose="020B0503020204020204" pitchFamily="34" charset="-122"/>
              <a:ea typeface="微软雅黑" panose="020B0503020204020204" pitchFamily="34" charset="-122"/>
            </a:endParaRPr>
          </a:p>
        </p:txBody>
      </p:sp>
      <p:sp>
        <p:nvSpPr>
          <p:cNvPr id="14" name="椭圆 14">
            <a:extLst>
              <a:ext uri="{FF2B5EF4-FFF2-40B4-BE49-F238E27FC236}">
                <a16:creationId xmlns:a16="http://schemas.microsoft.com/office/drawing/2014/main" id="{1B146E0B-C6F6-D8B9-99DB-77CD197C234F}"/>
              </a:ext>
            </a:extLst>
          </p:cNvPr>
          <p:cNvSpPr/>
          <p:nvPr/>
        </p:nvSpPr>
        <p:spPr>
          <a:xfrm>
            <a:off x="1391251" y="1759506"/>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15" name="矩形: 圆角 19">
            <a:extLst>
              <a:ext uri="{FF2B5EF4-FFF2-40B4-BE49-F238E27FC236}">
                <a16:creationId xmlns:a16="http://schemas.microsoft.com/office/drawing/2014/main" id="{E8ED521F-6F75-AD6E-910A-0472819EF884}"/>
              </a:ext>
            </a:extLst>
          </p:cNvPr>
          <p:cNvSpPr/>
          <p:nvPr>
            <p:custDataLst>
              <p:tags r:id="rId5"/>
            </p:custDataLst>
          </p:nvPr>
        </p:nvSpPr>
        <p:spPr>
          <a:xfrm>
            <a:off x="1074309" y="2672912"/>
            <a:ext cx="4915730" cy="1065554"/>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16" name="文本框 17">
            <a:extLst>
              <a:ext uri="{FF2B5EF4-FFF2-40B4-BE49-F238E27FC236}">
                <a16:creationId xmlns:a16="http://schemas.microsoft.com/office/drawing/2014/main" id="{C46A462D-520D-066A-330B-138EA8C2651C}"/>
              </a:ext>
            </a:extLst>
          </p:cNvPr>
          <p:cNvSpPr txBox="1"/>
          <p:nvPr>
            <p:custDataLst>
              <p:tags r:id="rId6"/>
            </p:custDataLst>
          </p:nvPr>
        </p:nvSpPr>
        <p:spPr>
          <a:xfrm>
            <a:off x="1587798" y="2757855"/>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量化比特配置</a:t>
            </a:r>
            <a:endParaRPr lang="zh-CN" dirty="0">
              <a:latin typeface="微软雅黑" panose="020B0503020204020204" pitchFamily="34" charset="-122"/>
              <a:ea typeface="微软雅黑" panose="020B0503020204020204" pitchFamily="34" charset="-122"/>
            </a:endParaRPr>
          </a:p>
        </p:txBody>
      </p:sp>
      <p:sp>
        <p:nvSpPr>
          <p:cNvPr id="17" name="文本框 18">
            <a:extLst>
              <a:ext uri="{FF2B5EF4-FFF2-40B4-BE49-F238E27FC236}">
                <a16:creationId xmlns:a16="http://schemas.microsoft.com/office/drawing/2014/main" id="{F39C17D4-3A8F-500A-B3B5-D76728A4E51F}"/>
              </a:ext>
            </a:extLst>
          </p:cNvPr>
          <p:cNvSpPr txBox="1"/>
          <p:nvPr>
            <p:custDataLst>
              <p:tags r:id="rId7"/>
            </p:custDataLst>
          </p:nvPr>
        </p:nvSpPr>
        <p:spPr>
          <a:xfrm>
            <a:off x="1327666" y="3094047"/>
            <a:ext cx="4663730" cy="891783"/>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输入层：</a:t>
            </a:r>
            <a:r>
              <a:rPr lang="en-US" altLang="zh-CN" sz="1200" dirty="0">
                <a:solidFill>
                  <a:schemeClr val="tx2"/>
                </a:solidFill>
              </a:rPr>
              <a:t>9</a:t>
            </a:r>
            <a:r>
              <a:rPr lang="zh-CN" altLang="en-US" sz="1200" dirty="0">
                <a:solidFill>
                  <a:schemeClr val="tx2"/>
                </a:solidFill>
              </a:rPr>
              <a:t>比特对称量化。图像输入直接可用。其它张量：</a:t>
            </a:r>
            <a:r>
              <a:rPr lang="en-US" altLang="zh-CN" sz="1200" dirty="0">
                <a:solidFill>
                  <a:schemeClr val="tx2"/>
                </a:solidFill>
              </a:rPr>
              <a:t>10</a:t>
            </a:r>
            <a:r>
              <a:rPr lang="zh-CN" altLang="en-US" sz="1200" dirty="0">
                <a:solidFill>
                  <a:schemeClr val="tx2"/>
                </a:solidFill>
              </a:rPr>
              <a:t>比特对称量化（比</a:t>
            </a:r>
            <a:r>
              <a:rPr lang="en-US" altLang="zh-CN" sz="1200" dirty="0">
                <a:solidFill>
                  <a:schemeClr val="tx2"/>
                </a:solidFill>
              </a:rPr>
              <a:t>YOLO</a:t>
            </a:r>
            <a:r>
              <a:rPr lang="zh-CN" altLang="en-US" sz="1200" dirty="0">
                <a:solidFill>
                  <a:schemeClr val="tx2"/>
                </a:solidFill>
              </a:rPr>
              <a:t>多</a:t>
            </a:r>
            <a:r>
              <a:rPr lang="en-US" altLang="zh-CN" sz="1200" dirty="0">
                <a:solidFill>
                  <a:schemeClr val="tx2"/>
                </a:solidFill>
              </a:rPr>
              <a:t>1bit</a:t>
            </a:r>
            <a:r>
              <a:rPr lang="zh-CN" altLang="en-US" sz="1200" dirty="0">
                <a:solidFill>
                  <a:schemeClr val="tx2"/>
                </a:solidFill>
              </a:rPr>
              <a:t>），以保证识别精度。</a:t>
            </a:r>
            <a:endParaRPr lang="en-US" altLang="zh-CN" sz="1200" dirty="0">
              <a:solidFill>
                <a:schemeClr val="tx2"/>
              </a:solidFill>
            </a:endParaRPr>
          </a:p>
          <a:p>
            <a:endParaRPr sz="1200" dirty="0">
              <a:solidFill>
                <a:schemeClr val="tx2"/>
              </a:solidFill>
              <a:latin typeface="微软雅黑" panose="020B0503020204020204" pitchFamily="34" charset="-122"/>
              <a:ea typeface="微软雅黑" panose="020B0503020204020204" pitchFamily="34" charset="-122"/>
            </a:endParaRPr>
          </a:p>
        </p:txBody>
      </p:sp>
      <p:sp>
        <p:nvSpPr>
          <p:cNvPr id="18" name="椭圆 14">
            <a:extLst>
              <a:ext uri="{FF2B5EF4-FFF2-40B4-BE49-F238E27FC236}">
                <a16:creationId xmlns:a16="http://schemas.microsoft.com/office/drawing/2014/main" id="{7A9E1B06-3AA2-14D8-D8BC-8712236FD087}"/>
              </a:ext>
            </a:extLst>
          </p:cNvPr>
          <p:cNvSpPr/>
          <p:nvPr/>
        </p:nvSpPr>
        <p:spPr>
          <a:xfrm>
            <a:off x="1389894" y="2864440"/>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19" name="矩形: 圆角 19">
            <a:extLst>
              <a:ext uri="{FF2B5EF4-FFF2-40B4-BE49-F238E27FC236}">
                <a16:creationId xmlns:a16="http://schemas.microsoft.com/office/drawing/2014/main" id="{4A6D93A0-0239-6EF2-B9F3-D4B0626FC546}"/>
              </a:ext>
            </a:extLst>
          </p:cNvPr>
          <p:cNvSpPr/>
          <p:nvPr>
            <p:custDataLst>
              <p:tags r:id="rId8"/>
            </p:custDataLst>
          </p:nvPr>
        </p:nvSpPr>
        <p:spPr>
          <a:xfrm>
            <a:off x="6504886" y="1574081"/>
            <a:ext cx="4915730" cy="836750"/>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20" name="文本框 17">
            <a:extLst>
              <a:ext uri="{FF2B5EF4-FFF2-40B4-BE49-F238E27FC236}">
                <a16:creationId xmlns:a16="http://schemas.microsoft.com/office/drawing/2014/main" id="{BC37D4AC-6AEC-1185-F0E0-8836F7603BDF}"/>
              </a:ext>
            </a:extLst>
          </p:cNvPr>
          <p:cNvSpPr txBox="1"/>
          <p:nvPr>
            <p:custDataLst>
              <p:tags r:id="rId9"/>
            </p:custDataLst>
          </p:nvPr>
        </p:nvSpPr>
        <p:spPr>
          <a:xfrm>
            <a:off x="7018375" y="1659023"/>
            <a:ext cx="1943698" cy="369332"/>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t>误差分析结果</a:t>
            </a:r>
            <a:endParaRPr lang="zh-CN" dirty="0">
              <a:latin typeface="微软雅黑" panose="020B0503020204020204" pitchFamily="34" charset="-122"/>
              <a:ea typeface="微软雅黑" panose="020B0503020204020204" pitchFamily="34" charset="-122"/>
            </a:endParaRPr>
          </a:p>
        </p:txBody>
      </p:sp>
      <p:sp>
        <p:nvSpPr>
          <p:cNvPr id="21" name="文本框 18">
            <a:extLst>
              <a:ext uri="{FF2B5EF4-FFF2-40B4-BE49-F238E27FC236}">
                <a16:creationId xmlns:a16="http://schemas.microsoft.com/office/drawing/2014/main" id="{A72AAE12-F141-ECB4-D8D9-9EDC5128AF91}"/>
              </a:ext>
            </a:extLst>
          </p:cNvPr>
          <p:cNvSpPr txBox="1"/>
          <p:nvPr>
            <p:custDataLst>
              <p:tags r:id="rId10"/>
            </p:custDataLst>
          </p:nvPr>
        </p:nvSpPr>
        <p:spPr>
          <a:xfrm>
            <a:off x="6756886" y="1998558"/>
            <a:ext cx="4663730" cy="339837"/>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rPr>
              <a:t>输出层 </a:t>
            </a:r>
            <a:r>
              <a:rPr lang="en-US" altLang="zh-CN" sz="1200" dirty="0">
                <a:solidFill>
                  <a:schemeClr val="tx2"/>
                </a:solidFill>
              </a:rPr>
              <a:t>(node_conv2d_5)</a:t>
            </a:r>
            <a:r>
              <a:rPr lang="zh-CN" altLang="en-US" sz="1200" dirty="0">
                <a:solidFill>
                  <a:schemeClr val="tx2"/>
                </a:solidFill>
              </a:rPr>
              <a:t>：累计信噪比误差 </a:t>
            </a:r>
            <a:r>
              <a:rPr lang="en-US" altLang="zh-CN" sz="1200" dirty="0">
                <a:solidFill>
                  <a:schemeClr val="tx2"/>
                </a:solidFill>
              </a:rPr>
              <a:t>&lt; 0.06%</a:t>
            </a:r>
            <a:r>
              <a:rPr lang="zh-CN" altLang="en-US" sz="1200" dirty="0">
                <a:solidFill>
                  <a:schemeClr val="tx2"/>
                </a:solidFill>
              </a:rPr>
              <a:t>。</a:t>
            </a:r>
            <a:endParaRPr sz="1200" dirty="0">
              <a:solidFill>
                <a:schemeClr val="tx2"/>
              </a:solidFill>
              <a:latin typeface="微软雅黑" panose="020B0503020204020204" pitchFamily="34" charset="-122"/>
              <a:ea typeface="微软雅黑" panose="020B0503020204020204" pitchFamily="34" charset="-122"/>
            </a:endParaRPr>
          </a:p>
        </p:txBody>
      </p:sp>
      <p:sp>
        <p:nvSpPr>
          <p:cNvPr id="22" name="椭圆 14">
            <a:extLst>
              <a:ext uri="{FF2B5EF4-FFF2-40B4-BE49-F238E27FC236}">
                <a16:creationId xmlns:a16="http://schemas.microsoft.com/office/drawing/2014/main" id="{F43D177B-BB6F-33ED-D8DF-80C2E3AA4B56}"/>
              </a:ext>
            </a:extLst>
          </p:cNvPr>
          <p:cNvSpPr/>
          <p:nvPr/>
        </p:nvSpPr>
        <p:spPr>
          <a:xfrm>
            <a:off x="6820471" y="1765608"/>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aphicFrame>
        <p:nvGraphicFramePr>
          <p:cNvPr id="4" name="表格 3">
            <a:extLst>
              <a:ext uri="{FF2B5EF4-FFF2-40B4-BE49-F238E27FC236}">
                <a16:creationId xmlns:a16="http://schemas.microsoft.com/office/drawing/2014/main" id="{D29ED58B-6D16-785F-0C62-9DA71C1C9D03}"/>
              </a:ext>
            </a:extLst>
          </p:cNvPr>
          <p:cNvGraphicFramePr>
            <a:graphicFrameLocks noGrp="1"/>
          </p:cNvGraphicFramePr>
          <p:nvPr>
            <p:extLst>
              <p:ext uri="{D42A27DB-BD31-4B8C-83A1-F6EECF244321}">
                <p14:modId xmlns:p14="http://schemas.microsoft.com/office/powerpoint/2010/main" val="1975533228"/>
              </p:ext>
            </p:extLst>
          </p:nvPr>
        </p:nvGraphicFramePr>
        <p:xfrm>
          <a:off x="1638957" y="3985830"/>
          <a:ext cx="3449027" cy="2526455"/>
        </p:xfrm>
        <a:graphic>
          <a:graphicData uri="http://schemas.openxmlformats.org/drawingml/2006/table">
            <a:tbl>
              <a:tblPr firstRow="1" bandRow="1">
                <a:tableStyleId>{5C22544A-7EE6-4342-B048-85BDC9FD1C3A}</a:tableStyleId>
              </a:tblPr>
              <a:tblGrid>
                <a:gridCol w="1015389">
                  <a:extLst>
                    <a:ext uri="{9D8B030D-6E8A-4147-A177-3AD203B41FA5}">
                      <a16:colId xmlns:a16="http://schemas.microsoft.com/office/drawing/2014/main" val="3797626320"/>
                    </a:ext>
                  </a:extLst>
                </a:gridCol>
                <a:gridCol w="1267097">
                  <a:extLst>
                    <a:ext uri="{9D8B030D-6E8A-4147-A177-3AD203B41FA5}">
                      <a16:colId xmlns:a16="http://schemas.microsoft.com/office/drawing/2014/main" val="834557482"/>
                    </a:ext>
                  </a:extLst>
                </a:gridCol>
                <a:gridCol w="1166541">
                  <a:extLst>
                    <a:ext uri="{9D8B030D-6E8A-4147-A177-3AD203B41FA5}">
                      <a16:colId xmlns:a16="http://schemas.microsoft.com/office/drawing/2014/main" val="606348180"/>
                    </a:ext>
                  </a:extLst>
                </a:gridCol>
              </a:tblGrid>
              <a:tr h="313025">
                <a:tc>
                  <a:txBody>
                    <a:bodyPr/>
                    <a:lstStyle/>
                    <a:p>
                      <a:pPr algn="ctr"/>
                      <a:r>
                        <a:rPr lang="zh-CN" altLang="en-US" sz="1600" dirty="0"/>
                        <a:t>类别</a:t>
                      </a:r>
                    </a:p>
                  </a:txBody>
                  <a:tcPr/>
                </a:tc>
                <a:tc>
                  <a:txBody>
                    <a:bodyPr/>
                    <a:lstStyle/>
                    <a:p>
                      <a:pPr algn="ctr"/>
                      <a:r>
                        <a:rPr lang="zh-CN" altLang="en-US" sz="1600" dirty="0"/>
                        <a:t>测试集大小</a:t>
                      </a:r>
                    </a:p>
                  </a:txBody>
                  <a:tcPr/>
                </a:tc>
                <a:tc>
                  <a:txBody>
                    <a:bodyPr/>
                    <a:lstStyle/>
                    <a:p>
                      <a:pPr algn="ctr"/>
                      <a:r>
                        <a:rPr lang="zh-CN" altLang="en-US" sz="1600" dirty="0"/>
                        <a:t>正确率</a:t>
                      </a:r>
                    </a:p>
                  </a:txBody>
                  <a:tcPr/>
                </a:tc>
                <a:extLst>
                  <a:ext uri="{0D108BD9-81ED-4DB2-BD59-A6C34878D82A}">
                    <a16:rowId xmlns:a16="http://schemas.microsoft.com/office/drawing/2014/main" val="1082240517"/>
                  </a:ext>
                </a:extLst>
              </a:tr>
              <a:tr h="313025">
                <a:tc>
                  <a:txBody>
                    <a:bodyPr/>
                    <a:lstStyle/>
                    <a:p>
                      <a:pPr algn="ctr"/>
                      <a:r>
                        <a:rPr lang="zh-CN" altLang="en-US" sz="1400" dirty="0"/>
                        <a:t>全部</a:t>
                      </a:r>
                    </a:p>
                  </a:txBody>
                  <a:tcPr/>
                </a:tc>
                <a:tc>
                  <a:txBody>
                    <a:bodyPr/>
                    <a:lstStyle/>
                    <a:p>
                      <a:pPr algn="ctr"/>
                      <a:r>
                        <a:rPr lang="en-US" altLang="zh-CN" sz="1400" dirty="0"/>
                        <a:t>50k</a:t>
                      </a:r>
                      <a:endParaRPr lang="zh-CN" altLang="en-US" sz="1400" dirty="0"/>
                    </a:p>
                  </a:txBody>
                  <a:tcPr/>
                </a:tc>
                <a:tc>
                  <a:txBody>
                    <a:bodyPr/>
                    <a:lstStyle/>
                    <a:p>
                      <a:pPr algn="ctr"/>
                      <a:r>
                        <a:rPr lang="en-US" altLang="zh-CN" sz="1400" dirty="0"/>
                        <a:t>0.9805</a:t>
                      </a:r>
                      <a:endParaRPr lang="zh-CN" altLang="en-US" sz="1400" dirty="0"/>
                    </a:p>
                  </a:txBody>
                  <a:tcPr/>
                </a:tc>
                <a:extLst>
                  <a:ext uri="{0D108BD9-81ED-4DB2-BD59-A6C34878D82A}">
                    <a16:rowId xmlns:a16="http://schemas.microsoft.com/office/drawing/2014/main" val="2551518206"/>
                  </a:ext>
                </a:extLst>
              </a:tr>
              <a:tr h="313025">
                <a:tc>
                  <a:txBody>
                    <a:bodyPr/>
                    <a:lstStyle/>
                    <a:p>
                      <a:pPr algn="ctr"/>
                      <a:r>
                        <a:rPr lang="zh-CN" altLang="en-US" sz="1400" dirty="0"/>
                        <a:t>真实蓝牌</a:t>
                      </a:r>
                    </a:p>
                  </a:txBody>
                  <a:tcPr/>
                </a:tc>
                <a:tc>
                  <a:txBody>
                    <a:bodyPr/>
                    <a:lstStyle/>
                    <a:p>
                      <a:pPr algn="ctr"/>
                      <a:r>
                        <a:rPr lang="en-US" altLang="zh-CN" sz="1400" dirty="0"/>
                        <a:t>10k</a:t>
                      </a:r>
                      <a:endParaRPr lang="zh-CN" altLang="en-US" sz="1400" dirty="0"/>
                    </a:p>
                  </a:txBody>
                  <a:tcPr/>
                </a:tc>
                <a:tc>
                  <a:txBody>
                    <a:bodyPr/>
                    <a:lstStyle/>
                    <a:p>
                      <a:pPr algn="ctr"/>
                      <a:r>
                        <a:rPr lang="en-US" altLang="zh-CN" sz="1400" dirty="0"/>
                        <a:t>0.9726</a:t>
                      </a:r>
                      <a:endParaRPr lang="zh-CN" altLang="en-US" sz="1400" dirty="0"/>
                    </a:p>
                  </a:txBody>
                  <a:tcPr/>
                </a:tc>
                <a:extLst>
                  <a:ext uri="{0D108BD9-81ED-4DB2-BD59-A6C34878D82A}">
                    <a16:rowId xmlns:a16="http://schemas.microsoft.com/office/drawing/2014/main" val="3481346473"/>
                  </a:ext>
                </a:extLst>
              </a:tr>
              <a:tr h="313025">
                <a:tc>
                  <a:txBody>
                    <a:bodyPr/>
                    <a:lstStyle/>
                    <a:p>
                      <a:pPr algn="ctr"/>
                      <a:r>
                        <a:rPr lang="zh-CN" altLang="en-US" sz="1400" dirty="0"/>
                        <a:t>真实绿牌</a:t>
                      </a:r>
                    </a:p>
                  </a:txBody>
                  <a:tcPr/>
                </a:tc>
                <a:tc>
                  <a:txBody>
                    <a:bodyPr/>
                    <a:lstStyle/>
                    <a:p>
                      <a:pPr algn="ctr"/>
                      <a:r>
                        <a:rPr lang="en-US" altLang="zh-CN" sz="1400" dirty="0"/>
                        <a:t>1k</a:t>
                      </a:r>
                      <a:endParaRPr lang="zh-CN" altLang="en-US" sz="1400" dirty="0"/>
                    </a:p>
                  </a:txBody>
                  <a:tcPr/>
                </a:tc>
                <a:tc>
                  <a:txBody>
                    <a:bodyPr/>
                    <a:lstStyle/>
                    <a:p>
                      <a:pPr algn="ctr"/>
                      <a:r>
                        <a:rPr lang="en-US" altLang="zh-CN" sz="1400" dirty="0"/>
                        <a:t>0.9120</a:t>
                      </a:r>
                      <a:endParaRPr lang="zh-CN" altLang="en-US" sz="1400" dirty="0"/>
                    </a:p>
                  </a:txBody>
                  <a:tcPr/>
                </a:tc>
                <a:extLst>
                  <a:ext uri="{0D108BD9-81ED-4DB2-BD59-A6C34878D82A}">
                    <a16:rowId xmlns:a16="http://schemas.microsoft.com/office/drawing/2014/main" val="357780857"/>
                  </a:ext>
                </a:extLst>
              </a:tr>
              <a:tr h="313025">
                <a:tc>
                  <a:txBody>
                    <a:bodyPr/>
                    <a:lstStyle/>
                    <a:p>
                      <a:pPr algn="ctr"/>
                      <a:r>
                        <a:rPr lang="zh-CN" altLang="en-US" sz="1400" dirty="0"/>
                        <a:t>合成绿牌</a:t>
                      </a:r>
                    </a:p>
                  </a:txBody>
                  <a:tcPr/>
                </a:tc>
                <a:tc>
                  <a:txBody>
                    <a:bodyPr/>
                    <a:lstStyle/>
                    <a:p>
                      <a:pPr algn="ctr"/>
                      <a:r>
                        <a:rPr lang="en-US" altLang="zh-CN" sz="1400" dirty="0"/>
                        <a:t>9k</a:t>
                      </a:r>
                      <a:endParaRPr lang="zh-CN" altLang="en-US" sz="1400" dirty="0"/>
                    </a:p>
                  </a:txBody>
                  <a:tcPr/>
                </a:tc>
                <a:tc>
                  <a:txBody>
                    <a:bodyPr/>
                    <a:lstStyle/>
                    <a:p>
                      <a:pPr algn="ctr"/>
                      <a:r>
                        <a:rPr lang="en-US" altLang="zh-CN" sz="1400" dirty="0"/>
                        <a:t>0.9709</a:t>
                      </a:r>
                      <a:endParaRPr lang="zh-CN" altLang="en-US" sz="1400" dirty="0"/>
                    </a:p>
                  </a:txBody>
                  <a:tcPr/>
                </a:tc>
                <a:extLst>
                  <a:ext uri="{0D108BD9-81ED-4DB2-BD59-A6C34878D82A}">
                    <a16:rowId xmlns:a16="http://schemas.microsoft.com/office/drawing/2014/main" val="901949943"/>
                  </a:ext>
                </a:extLst>
              </a:tr>
              <a:tr h="313025">
                <a:tc>
                  <a:txBody>
                    <a:bodyPr/>
                    <a:lstStyle/>
                    <a:p>
                      <a:pPr algn="ctr"/>
                      <a:r>
                        <a:rPr lang="zh-CN" altLang="en-US" sz="1400" dirty="0"/>
                        <a:t>合成黄牌</a:t>
                      </a:r>
                    </a:p>
                  </a:txBody>
                  <a:tcPr/>
                </a:tc>
                <a:tc>
                  <a:txBody>
                    <a:bodyPr/>
                    <a:lstStyle/>
                    <a:p>
                      <a:pPr algn="ctr"/>
                      <a:r>
                        <a:rPr lang="en-US" altLang="zh-CN" sz="1400" dirty="0"/>
                        <a:t>10k</a:t>
                      </a:r>
                      <a:endParaRPr lang="zh-CN" altLang="en-US" sz="1400" dirty="0"/>
                    </a:p>
                  </a:txBody>
                  <a:tcPr/>
                </a:tc>
                <a:tc>
                  <a:txBody>
                    <a:bodyPr/>
                    <a:lstStyle/>
                    <a:p>
                      <a:pPr algn="ctr"/>
                      <a:r>
                        <a:rPr lang="en-US" altLang="zh-CN" sz="1400" dirty="0"/>
                        <a:t>0.9908</a:t>
                      </a:r>
                      <a:endParaRPr lang="zh-CN" altLang="en-US" sz="1400" dirty="0"/>
                    </a:p>
                  </a:txBody>
                  <a:tcPr/>
                </a:tc>
                <a:extLst>
                  <a:ext uri="{0D108BD9-81ED-4DB2-BD59-A6C34878D82A}">
                    <a16:rowId xmlns:a16="http://schemas.microsoft.com/office/drawing/2014/main" val="4272623859"/>
                  </a:ext>
                </a:extLst>
              </a:tr>
              <a:tr h="313025">
                <a:tc>
                  <a:txBody>
                    <a:bodyPr/>
                    <a:lstStyle/>
                    <a:p>
                      <a:pPr algn="ctr"/>
                      <a:r>
                        <a:rPr lang="zh-CN" altLang="en-US" sz="1400" dirty="0"/>
                        <a:t>合成黑牌</a:t>
                      </a:r>
                    </a:p>
                  </a:txBody>
                  <a:tcPr/>
                </a:tc>
                <a:tc>
                  <a:txBody>
                    <a:bodyPr/>
                    <a:lstStyle/>
                    <a:p>
                      <a:pPr algn="ctr"/>
                      <a:r>
                        <a:rPr lang="en-US" altLang="zh-CN" sz="1400" dirty="0"/>
                        <a:t>10k</a:t>
                      </a:r>
                      <a:endParaRPr lang="zh-CN" altLang="en-US" sz="1400" dirty="0"/>
                    </a:p>
                  </a:txBody>
                  <a:tcPr/>
                </a:tc>
                <a:tc>
                  <a:txBody>
                    <a:bodyPr/>
                    <a:lstStyle/>
                    <a:p>
                      <a:pPr algn="ctr"/>
                      <a:r>
                        <a:rPr lang="en-US" altLang="zh-CN" sz="1400" dirty="0"/>
                        <a:t>0.9859</a:t>
                      </a:r>
                      <a:endParaRPr lang="zh-CN" altLang="en-US" sz="1400" dirty="0"/>
                    </a:p>
                  </a:txBody>
                  <a:tcPr/>
                </a:tc>
                <a:extLst>
                  <a:ext uri="{0D108BD9-81ED-4DB2-BD59-A6C34878D82A}">
                    <a16:rowId xmlns:a16="http://schemas.microsoft.com/office/drawing/2014/main" val="3479221954"/>
                  </a:ext>
                </a:extLst>
              </a:tr>
              <a:tr h="313025">
                <a:tc>
                  <a:txBody>
                    <a:bodyPr/>
                    <a:lstStyle/>
                    <a:p>
                      <a:pPr algn="ctr"/>
                      <a:r>
                        <a:rPr lang="zh-CN" altLang="en-US" sz="1400" dirty="0"/>
                        <a:t>合成白牌</a:t>
                      </a:r>
                    </a:p>
                  </a:txBody>
                  <a:tcPr/>
                </a:tc>
                <a:tc>
                  <a:txBody>
                    <a:bodyPr/>
                    <a:lstStyle/>
                    <a:p>
                      <a:pPr algn="ctr"/>
                      <a:r>
                        <a:rPr lang="en-US" altLang="zh-CN" sz="1400" dirty="0"/>
                        <a:t>10k</a:t>
                      </a:r>
                      <a:endParaRPr lang="zh-CN" altLang="en-US" sz="1400" dirty="0"/>
                    </a:p>
                  </a:txBody>
                  <a:tcPr/>
                </a:tc>
                <a:tc>
                  <a:txBody>
                    <a:bodyPr/>
                    <a:lstStyle/>
                    <a:p>
                      <a:pPr algn="ctr"/>
                      <a:r>
                        <a:rPr lang="en-US" altLang="zh-CN" sz="1400" dirty="0"/>
                        <a:t>0.9882</a:t>
                      </a:r>
                      <a:endParaRPr lang="zh-CN" altLang="en-US" sz="1400" dirty="0"/>
                    </a:p>
                  </a:txBody>
                  <a:tcPr/>
                </a:tc>
                <a:extLst>
                  <a:ext uri="{0D108BD9-81ED-4DB2-BD59-A6C34878D82A}">
                    <a16:rowId xmlns:a16="http://schemas.microsoft.com/office/drawing/2014/main" val="2222487031"/>
                  </a:ext>
                </a:extLst>
              </a:tr>
            </a:tbl>
          </a:graphicData>
        </a:graphic>
      </p:graphicFrame>
      <p:graphicFrame>
        <p:nvGraphicFramePr>
          <p:cNvPr id="12" name="表格 11">
            <a:extLst>
              <a:ext uri="{FF2B5EF4-FFF2-40B4-BE49-F238E27FC236}">
                <a16:creationId xmlns:a16="http://schemas.microsoft.com/office/drawing/2014/main" id="{C8CBF1D0-C5ED-55E0-AB99-EC08F4977514}"/>
              </a:ext>
            </a:extLst>
          </p:cNvPr>
          <p:cNvGraphicFramePr>
            <a:graphicFrameLocks noGrp="1"/>
          </p:cNvGraphicFramePr>
          <p:nvPr>
            <p:extLst>
              <p:ext uri="{D42A27DB-BD31-4B8C-83A1-F6EECF244321}">
                <p14:modId xmlns:p14="http://schemas.microsoft.com/office/powerpoint/2010/main" val="2312069194"/>
              </p:ext>
            </p:extLst>
          </p:nvPr>
        </p:nvGraphicFramePr>
        <p:xfrm>
          <a:off x="7038333" y="2691200"/>
          <a:ext cx="3847480" cy="3865779"/>
        </p:xfrm>
        <a:graphic>
          <a:graphicData uri="http://schemas.openxmlformats.org/drawingml/2006/table">
            <a:tbl>
              <a:tblPr firstRow="1" bandRow="1">
                <a:tableStyleId>{5C22544A-7EE6-4342-B048-85BDC9FD1C3A}</a:tableStyleId>
              </a:tblPr>
              <a:tblGrid>
                <a:gridCol w="1516951">
                  <a:extLst>
                    <a:ext uri="{9D8B030D-6E8A-4147-A177-3AD203B41FA5}">
                      <a16:colId xmlns:a16="http://schemas.microsoft.com/office/drawing/2014/main" val="869294433"/>
                    </a:ext>
                  </a:extLst>
                </a:gridCol>
                <a:gridCol w="1170432">
                  <a:extLst>
                    <a:ext uri="{9D8B030D-6E8A-4147-A177-3AD203B41FA5}">
                      <a16:colId xmlns:a16="http://schemas.microsoft.com/office/drawing/2014/main" val="4272221225"/>
                    </a:ext>
                  </a:extLst>
                </a:gridCol>
                <a:gridCol w="1160097">
                  <a:extLst>
                    <a:ext uri="{9D8B030D-6E8A-4147-A177-3AD203B41FA5}">
                      <a16:colId xmlns:a16="http://schemas.microsoft.com/office/drawing/2014/main" val="490413937"/>
                    </a:ext>
                  </a:extLst>
                </a:gridCol>
              </a:tblGrid>
              <a:tr h="261509">
                <a:tc>
                  <a:txBody>
                    <a:bodyPr/>
                    <a:lstStyle/>
                    <a:p>
                      <a:pPr algn="ctr"/>
                      <a:r>
                        <a:rPr lang="en-US" altLang="zh-CN" dirty="0"/>
                        <a:t>Layer</a:t>
                      </a:r>
                      <a:endParaRPr lang="zh-CN" altLang="en-US" dirty="0"/>
                    </a:p>
                  </a:txBody>
                  <a:tcPr/>
                </a:tc>
                <a:tc>
                  <a:txBody>
                    <a:bodyPr/>
                    <a:lstStyle/>
                    <a:p>
                      <a:pPr algn="ctr"/>
                      <a:r>
                        <a:rPr lang="zh-CN" altLang="en-US" dirty="0"/>
                        <a:t>逐层</a:t>
                      </a:r>
                      <a:r>
                        <a:rPr lang="en-US" altLang="zh-CN" dirty="0"/>
                        <a:t>SNR</a:t>
                      </a:r>
                      <a:endParaRPr lang="zh-CN" altLang="en-US" dirty="0"/>
                    </a:p>
                  </a:txBody>
                  <a:tcPr/>
                </a:tc>
                <a:tc>
                  <a:txBody>
                    <a:bodyPr/>
                    <a:lstStyle/>
                    <a:p>
                      <a:pPr algn="ctr"/>
                      <a:r>
                        <a:rPr lang="zh-CN" altLang="en-US" dirty="0"/>
                        <a:t>累计</a:t>
                      </a:r>
                      <a:r>
                        <a:rPr lang="en-US" altLang="zh-CN" dirty="0"/>
                        <a:t>SNR</a:t>
                      </a:r>
                      <a:endParaRPr lang="zh-CN" altLang="en-US" dirty="0"/>
                    </a:p>
                  </a:txBody>
                  <a:tcPr/>
                </a:tc>
                <a:extLst>
                  <a:ext uri="{0D108BD9-81ED-4DB2-BD59-A6C34878D82A}">
                    <a16:rowId xmlns:a16="http://schemas.microsoft.com/office/drawing/2014/main" val="2950171987"/>
                  </a:ext>
                </a:extLst>
              </a:tr>
              <a:tr h="388891">
                <a:tc>
                  <a:txBody>
                    <a:bodyPr/>
                    <a:lstStyle/>
                    <a:p>
                      <a:pPr algn="ctr"/>
                      <a:r>
                        <a:rPr lang="en-US" altLang="zh-CN" sz="1400" dirty="0"/>
                        <a:t>node_conv2d</a:t>
                      </a:r>
                      <a:endParaRPr lang="zh-CN" altLang="en-US" sz="1400" dirty="0"/>
                    </a:p>
                  </a:txBody>
                  <a:tcPr/>
                </a:tc>
                <a:tc>
                  <a:txBody>
                    <a:bodyPr/>
                    <a:lstStyle/>
                    <a:p>
                      <a:pPr algn="ctr"/>
                      <a:r>
                        <a:rPr lang="en-US" altLang="zh-CN" sz="1400" dirty="0"/>
                        <a:t>0.0033%</a:t>
                      </a:r>
                      <a:endParaRPr lang="zh-CN" altLang="en-US" sz="1400" dirty="0"/>
                    </a:p>
                  </a:txBody>
                  <a:tcPr/>
                </a:tc>
                <a:tc>
                  <a:txBody>
                    <a:bodyPr/>
                    <a:lstStyle/>
                    <a:p>
                      <a:pPr algn="ctr"/>
                      <a:r>
                        <a:rPr lang="en-US" altLang="zh-CN" sz="1400" dirty="0"/>
                        <a:t>0.0019%</a:t>
                      </a:r>
                      <a:endParaRPr lang="zh-CN" altLang="en-US" sz="1400" dirty="0"/>
                    </a:p>
                  </a:txBody>
                  <a:tcPr/>
                </a:tc>
                <a:extLst>
                  <a:ext uri="{0D108BD9-81ED-4DB2-BD59-A6C34878D82A}">
                    <a16:rowId xmlns:a16="http://schemas.microsoft.com/office/drawing/2014/main" val="3687464112"/>
                  </a:ext>
                </a:extLst>
              </a:tr>
              <a:tr h="388891">
                <a:tc>
                  <a:txBody>
                    <a:bodyPr/>
                    <a:lstStyle/>
                    <a:p>
                      <a:pPr algn="ctr"/>
                      <a:r>
                        <a:rPr lang="en-US" altLang="zh-CN" sz="1400" dirty="0"/>
                        <a:t>node_conv2d_1</a:t>
                      </a:r>
                      <a:endParaRPr lang="zh-CN" altLang="en-US" sz="1400" dirty="0"/>
                    </a:p>
                  </a:txBody>
                  <a:tcPr/>
                </a:tc>
                <a:tc>
                  <a:txBody>
                    <a:bodyPr/>
                    <a:lstStyle/>
                    <a:p>
                      <a:pPr algn="ctr"/>
                      <a:r>
                        <a:rPr lang="en-US" altLang="zh-CN" sz="1400" dirty="0"/>
                        <a:t>0.0034%</a:t>
                      </a:r>
                      <a:endParaRPr lang="zh-CN" altLang="en-US" sz="1400" dirty="0"/>
                    </a:p>
                  </a:txBody>
                  <a:tcPr/>
                </a:tc>
                <a:tc>
                  <a:txBody>
                    <a:bodyPr/>
                    <a:lstStyle/>
                    <a:p>
                      <a:pPr algn="ctr"/>
                      <a:r>
                        <a:rPr lang="en-US" altLang="zh-CN" sz="1400" dirty="0"/>
                        <a:t>0.0062%</a:t>
                      </a:r>
                      <a:endParaRPr lang="zh-CN" altLang="en-US" sz="1400" dirty="0"/>
                    </a:p>
                  </a:txBody>
                  <a:tcPr/>
                </a:tc>
                <a:extLst>
                  <a:ext uri="{0D108BD9-81ED-4DB2-BD59-A6C34878D82A}">
                    <a16:rowId xmlns:a16="http://schemas.microsoft.com/office/drawing/2014/main" val="4202815574"/>
                  </a:ext>
                </a:extLst>
              </a:tr>
              <a:tr h="388891">
                <a:tc>
                  <a:txBody>
                    <a:bodyPr/>
                    <a:lstStyle/>
                    <a:p>
                      <a:pPr algn="ctr"/>
                      <a:r>
                        <a:rPr lang="en-US" altLang="zh-CN" sz="1400" dirty="0"/>
                        <a:t>node_conv2d_2</a:t>
                      </a:r>
                      <a:endParaRPr lang="zh-CN" altLang="en-US" sz="1400" dirty="0"/>
                    </a:p>
                  </a:txBody>
                  <a:tcPr/>
                </a:tc>
                <a:tc>
                  <a:txBody>
                    <a:bodyPr/>
                    <a:lstStyle/>
                    <a:p>
                      <a:pPr algn="ctr"/>
                      <a:r>
                        <a:rPr lang="en-US" altLang="zh-CN" sz="1400" dirty="0"/>
                        <a:t>0.0116%</a:t>
                      </a:r>
                      <a:endParaRPr lang="zh-CN" altLang="en-US" sz="1400" dirty="0"/>
                    </a:p>
                  </a:txBody>
                  <a:tcPr/>
                </a:tc>
                <a:tc>
                  <a:txBody>
                    <a:bodyPr/>
                    <a:lstStyle/>
                    <a:p>
                      <a:pPr algn="ctr"/>
                      <a:r>
                        <a:rPr lang="en-US" altLang="zh-CN" sz="1400" dirty="0"/>
                        <a:t>0.0123%</a:t>
                      </a:r>
                      <a:endParaRPr lang="zh-CN" altLang="en-US" sz="1400" dirty="0"/>
                    </a:p>
                  </a:txBody>
                  <a:tcPr/>
                </a:tc>
                <a:extLst>
                  <a:ext uri="{0D108BD9-81ED-4DB2-BD59-A6C34878D82A}">
                    <a16:rowId xmlns:a16="http://schemas.microsoft.com/office/drawing/2014/main" val="227957722"/>
                  </a:ext>
                </a:extLst>
              </a:tr>
              <a:tr h="3888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node_conv2d_3</a:t>
                      </a:r>
                      <a:endParaRPr lang="zh-CN" altLang="en-US" sz="1400" dirty="0"/>
                    </a:p>
                  </a:txBody>
                  <a:tcPr/>
                </a:tc>
                <a:tc>
                  <a:txBody>
                    <a:bodyPr/>
                    <a:lstStyle/>
                    <a:p>
                      <a:pPr algn="ctr"/>
                      <a:r>
                        <a:rPr lang="en-US" altLang="zh-CN" sz="1400" dirty="0"/>
                        <a:t>0.0098%</a:t>
                      </a:r>
                      <a:endParaRPr lang="zh-CN" altLang="en-US" sz="1400" dirty="0"/>
                    </a:p>
                  </a:txBody>
                  <a:tcPr/>
                </a:tc>
                <a:tc>
                  <a:txBody>
                    <a:bodyPr/>
                    <a:lstStyle/>
                    <a:p>
                      <a:pPr algn="ctr"/>
                      <a:r>
                        <a:rPr lang="en-US" altLang="zh-CN" sz="1400" dirty="0"/>
                        <a:t>0.0110%</a:t>
                      </a:r>
                      <a:endParaRPr lang="zh-CN" altLang="en-US" sz="1400" dirty="0"/>
                    </a:p>
                  </a:txBody>
                  <a:tcPr/>
                </a:tc>
                <a:extLst>
                  <a:ext uri="{0D108BD9-81ED-4DB2-BD59-A6C34878D82A}">
                    <a16:rowId xmlns:a16="http://schemas.microsoft.com/office/drawing/2014/main" val="4257215828"/>
                  </a:ext>
                </a:extLst>
              </a:tr>
              <a:tr h="3888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node_conv2d_4</a:t>
                      </a:r>
                      <a:endParaRPr lang="zh-CN" altLang="en-US" sz="1400" dirty="0"/>
                    </a:p>
                  </a:txBody>
                  <a:tcPr/>
                </a:tc>
                <a:tc>
                  <a:txBody>
                    <a:bodyPr/>
                    <a:lstStyle/>
                    <a:p>
                      <a:pPr algn="ctr"/>
                      <a:r>
                        <a:rPr lang="en-US" altLang="zh-CN" sz="1400" dirty="0"/>
                        <a:t>0.0589%</a:t>
                      </a:r>
                      <a:endParaRPr lang="zh-CN" altLang="en-US" sz="1400" dirty="0"/>
                    </a:p>
                  </a:txBody>
                  <a:tcPr/>
                </a:tc>
                <a:tc>
                  <a:txBody>
                    <a:bodyPr/>
                    <a:lstStyle/>
                    <a:p>
                      <a:pPr algn="ctr"/>
                      <a:r>
                        <a:rPr lang="en-US" altLang="zh-CN" sz="1400" dirty="0"/>
                        <a:t>0.0607%</a:t>
                      </a:r>
                      <a:endParaRPr lang="zh-CN" altLang="en-US" sz="1400" dirty="0"/>
                    </a:p>
                  </a:txBody>
                  <a:tcPr/>
                </a:tc>
                <a:extLst>
                  <a:ext uri="{0D108BD9-81ED-4DB2-BD59-A6C34878D82A}">
                    <a16:rowId xmlns:a16="http://schemas.microsoft.com/office/drawing/2014/main" val="1408687605"/>
                  </a:ext>
                </a:extLst>
              </a:tr>
              <a:tr h="3888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node_conv2d_5</a:t>
                      </a:r>
                      <a:endParaRPr lang="zh-CN" altLang="en-US" sz="1400" dirty="0"/>
                    </a:p>
                  </a:txBody>
                  <a:tcPr/>
                </a:tc>
                <a:tc>
                  <a:txBody>
                    <a:bodyPr/>
                    <a:lstStyle/>
                    <a:p>
                      <a:pPr algn="ctr"/>
                      <a:r>
                        <a:rPr lang="en-US" altLang="zh-CN" sz="1400" dirty="0"/>
                        <a:t>0.0386%</a:t>
                      </a:r>
                      <a:endParaRPr lang="zh-CN" altLang="en-US" sz="1400" dirty="0"/>
                    </a:p>
                  </a:txBody>
                  <a:tcPr/>
                </a:tc>
                <a:tc>
                  <a:txBody>
                    <a:bodyPr/>
                    <a:lstStyle/>
                    <a:p>
                      <a:pPr algn="ctr"/>
                      <a:r>
                        <a:rPr lang="en-US" altLang="zh-CN" sz="1400" dirty="0"/>
                        <a:t>0.1176%</a:t>
                      </a:r>
                      <a:endParaRPr lang="zh-CN" altLang="en-US" sz="1400" dirty="0"/>
                    </a:p>
                  </a:txBody>
                  <a:tcPr/>
                </a:tc>
                <a:extLst>
                  <a:ext uri="{0D108BD9-81ED-4DB2-BD59-A6C34878D82A}">
                    <a16:rowId xmlns:a16="http://schemas.microsoft.com/office/drawing/2014/main" val="3707435879"/>
                  </a:ext>
                </a:extLst>
              </a:tr>
              <a:tr h="3888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node_conv2d_6</a:t>
                      </a:r>
                      <a:endParaRPr lang="zh-CN" altLang="en-US" sz="1400" dirty="0"/>
                    </a:p>
                  </a:txBody>
                  <a:tcPr/>
                </a:tc>
                <a:tc>
                  <a:txBody>
                    <a:bodyPr/>
                    <a:lstStyle/>
                    <a:p>
                      <a:pPr algn="ctr"/>
                      <a:r>
                        <a:rPr lang="en-US" altLang="zh-CN" sz="1400" dirty="0"/>
                        <a:t>0.0185%</a:t>
                      </a:r>
                      <a:endParaRPr lang="zh-CN" altLang="en-US" sz="1400" dirty="0"/>
                    </a:p>
                  </a:txBody>
                  <a:tcPr/>
                </a:tc>
                <a:tc>
                  <a:txBody>
                    <a:bodyPr/>
                    <a:lstStyle/>
                    <a:p>
                      <a:pPr algn="ctr"/>
                      <a:r>
                        <a:rPr lang="en-US" altLang="zh-CN" sz="1400" dirty="0"/>
                        <a:t>0.1259%</a:t>
                      </a:r>
                      <a:endParaRPr lang="zh-CN" altLang="en-US" sz="1400" dirty="0"/>
                    </a:p>
                  </a:txBody>
                  <a:tcPr/>
                </a:tc>
                <a:extLst>
                  <a:ext uri="{0D108BD9-81ED-4DB2-BD59-A6C34878D82A}">
                    <a16:rowId xmlns:a16="http://schemas.microsoft.com/office/drawing/2014/main" val="3647345592"/>
                  </a:ext>
                </a:extLst>
              </a:tr>
              <a:tr h="3888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node_conv2d_7</a:t>
                      </a:r>
                      <a:endParaRPr lang="zh-CN" altLang="en-US" sz="1400" dirty="0"/>
                    </a:p>
                  </a:txBody>
                  <a:tcPr/>
                </a:tc>
                <a:tc>
                  <a:txBody>
                    <a:bodyPr/>
                    <a:lstStyle/>
                    <a:p>
                      <a:pPr algn="ctr"/>
                      <a:r>
                        <a:rPr lang="en-US" altLang="zh-CN" sz="1400" dirty="0"/>
                        <a:t>0.0019%</a:t>
                      </a:r>
                      <a:endParaRPr lang="zh-CN" altLang="en-US" sz="1400" dirty="0"/>
                    </a:p>
                  </a:txBody>
                  <a:tcPr/>
                </a:tc>
                <a:tc>
                  <a:txBody>
                    <a:bodyPr/>
                    <a:lstStyle/>
                    <a:p>
                      <a:pPr algn="ctr"/>
                      <a:r>
                        <a:rPr lang="en-US" altLang="zh-CN" sz="1400" dirty="0"/>
                        <a:t>0.2245%</a:t>
                      </a:r>
                      <a:endParaRPr lang="zh-CN" altLang="en-US" sz="1400" dirty="0"/>
                    </a:p>
                  </a:txBody>
                  <a:tcPr/>
                </a:tc>
                <a:extLst>
                  <a:ext uri="{0D108BD9-81ED-4DB2-BD59-A6C34878D82A}">
                    <a16:rowId xmlns:a16="http://schemas.microsoft.com/office/drawing/2014/main" val="3905249177"/>
                  </a:ext>
                </a:extLst>
              </a:tr>
              <a:tr h="38889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dirty="0"/>
                        <a:t>node_conv2d_8</a:t>
                      </a:r>
                      <a:endParaRPr lang="zh-CN" altLang="en-US" sz="1400" dirty="0"/>
                    </a:p>
                  </a:txBody>
                  <a:tcPr/>
                </a:tc>
                <a:tc>
                  <a:txBody>
                    <a:bodyPr/>
                    <a:lstStyle/>
                    <a:p>
                      <a:pPr algn="ctr"/>
                      <a:r>
                        <a:rPr lang="en-US" altLang="zh-CN" sz="1400" dirty="0"/>
                        <a:t>0.0118%</a:t>
                      </a:r>
                      <a:endParaRPr lang="zh-CN" altLang="en-US" sz="1400" dirty="0"/>
                    </a:p>
                  </a:txBody>
                  <a:tcPr/>
                </a:tc>
                <a:tc>
                  <a:txBody>
                    <a:bodyPr/>
                    <a:lstStyle/>
                    <a:p>
                      <a:pPr algn="ctr"/>
                      <a:r>
                        <a:rPr lang="en-US" altLang="zh-CN" sz="1400" dirty="0"/>
                        <a:t>0.1314%</a:t>
                      </a:r>
                      <a:endParaRPr lang="zh-CN" altLang="en-US" sz="1400" dirty="0"/>
                    </a:p>
                  </a:txBody>
                  <a:tcPr/>
                </a:tc>
                <a:extLst>
                  <a:ext uri="{0D108BD9-81ED-4DB2-BD59-A6C34878D82A}">
                    <a16:rowId xmlns:a16="http://schemas.microsoft.com/office/drawing/2014/main" val="868599744"/>
                  </a:ext>
                </a:extLst>
              </a:tr>
            </a:tbl>
          </a:graphicData>
        </a:graphic>
      </p:graphicFrame>
    </p:spTree>
    <p:custDataLst>
      <p:tags r:id="rId1"/>
    </p:custDataLst>
    <p:extLst>
      <p:ext uri="{BB962C8B-B14F-4D97-AF65-F5344CB8AC3E}">
        <p14:creationId xmlns:p14="http://schemas.microsoft.com/office/powerpoint/2010/main" val="824304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首页"/>
          <p:cNvPicPr>
            <a:picLocks noChangeAspect="1"/>
          </p:cNvPicPr>
          <p:nvPr/>
        </p:nvPicPr>
        <p:blipFill>
          <a:blip r:embed="rId7"/>
          <a:stretch>
            <a:fillRect/>
          </a:stretch>
        </p:blipFill>
        <p:spPr>
          <a:xfrm>
            <a:off x="0" y="0"/>
            <a:ext cx="12192000" cy="6858000"/>
          </a:xfrm>
          <a:prstGeom prst="rect">
            <a:avLst/>
          </a:prstGeom>
        </p:spPr>
      </p:pic>
      <p:sp>
        <p:nvSpPr>
          <p:cNvPr id="7" name="文本框 6"/>
          <p:cNvSpPr txBox="1"/>
          <p:nvPr>
            <p:custDataLst>
              <p:tags r:id="rId2"/>
            </p:custDataLst>
          </p:nvPr>
        </p:nvSpPr>
        <p:spPr>
          <a:xfrm>
            <a:off x="2681605" y="2880000"/>
            <a:ext cx="6828790" cy="720090"/>
          </a:xfrm>
          <a:prstGeom prst="rect">
            <a:avLst/>
          </a:prstGeom>
          <a:noFill/>
        </p:spPr>
        <p:txBody>
          <a:bodyPr wrap="square" rtlCol="0">
            <a:noAutofit/>
          </a:bodyPr>
          <a:lstStyle/>
          <a:p>
            <a:pPr algn="ctr"/>
            <a:r>
              <a:rPr lang="zh-CN" altLang="en-US" sz="4400" dirty="0">
                <a:solidFill>
                  <a:srgbClr val="142DA8"/>
                </a:solidFill>
                <a:latin typeface="微软雅黑" panose="020B0503020204020204" pitchFamily="34" charset="-122"/>
                <a:ea typeface="微软雅黑" panose="020B0503020204020204" pitchFamily="34" charset="-122"/>
              </a:rPr>
              <a:t>硬件整体架构</a:t>
            </a:r>
          </a:p>
        </p:txBody>
      </p:sp>
      <p:sp>
        <p:nvSpPr>
          <p:cNvPr id="4" name="矩形 3"/>
          <p:cNvSpPr/>
          <p:nvPr>
            <p:custDataLst>
              <p:tags r:id="rId3"/>
            </p:custDataLst>
          </p:nvPr>
        </p:nvSpPr>
        <p:spPr>
          <a:xfrm>
            <a:off x="5645785" y="1800000"/>
            <a:ext cx="900000" cy="900000"/>
          </a:xfrm>
          <a:prstGeom prst="rect">
            <a:avLst/>
          </a:prstGeom>
          <a:solidFill>
            <a:srgbClr val="004CE5"/>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000" dirty="0">
                <a:latin typeface="微软雅黑" panose="020B0503020204020204" pitchFamily="34" charset="-122"/>
                <a:ea typeface="微软雅黑" panose="020B0503020204020204" pitchFamily="34" charset="-122"/>
              </a:rPr>
              <a:t>2</a:t>
            </a:r>
          </a:p>
        </p:txBody>
      </p:sp>
      <p:sp>
        <p:nvSpPr>
          <p:cNvPr id="3" name="文本框 2">
            <a:extLst>
              <a:ext uri="{FF2B5EF4-FFF2-40B4-BE49-F238E27FC236}">
                <a16:creationId xmlns:a16="http://schemas.microsoft.com/office/drawing/2014/main" id="{1F30BEE2-A128-EC31-EA15-32AAA1E1F1F6}"/>
              </a:ext>
            </a:extLst>
          </p:cNvPr>
          <p:cNvSpPr txBox="1"/>
          <p:nvPr>
            <p:custDataLst>
              <p:tags r:id="rId4"/>
            </p:custDataLst>
          </p:nvPr>
        </p:nvSpPr>
        <p:spPr>
          <a:xfrm>
            <a:off x="3473768" y="3780000"/>
            <a:ext cx="5244465" cy="521970"/>
          </a:xfrm>
          <a:prstGeom prst="rect">
            <a:avLst/>
          </a:prstGeom>
          <a:noFill/>
        </p:spPr>
        <p:txBody>
          <a:bodyPr wrap="square" rtlCol="0">
            <a:spAutoFit/>
          </a:bodyPr>
          <a:lstStyle/>
          <a:p>
            <a:pPr algn="ctr"/>
            <a:r>
              <a:rPr lang="zh-CN" altLang="en-US" sz="2800" dirty="0">
                <a:solidFill>
                  <a:srgbClr val="666666"/>
                </a:solidFill>
                <a:latin typeface="微软雅黑" panose="020B0503020204020204" pitchFamily="34" charset="-122"/>
                <a:ea typeface="微软雅黑" panose="020B0503020204020204" pitchFamily="34" charset="-122"/>
              </a:rPr>
              <a:t>数据流定义</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2F339EB2-F253-4FFB-E0BF-9F0D3FDAF1DF}"/>
              </a:ext>
            </a:extLst>
          </p:cNvPr>
          <p:cNvGrpSpPr/>
          <p:nvPr/>
        </p:nvGrpSpPr>
        <p:grpSpPr>
          <a:xfrm>
            <a:off x="568185" y="1252398"/>
            <a:ext cx="1436261" cy="1003824"/>
            <a:chOff x="3028529" y="2550775"/>
            <a:chExt cx="1024727" cy="1383046"/>
          </a:xfrm>
        </p:grpSpPr>
        <p:sp>
          <p:nvSpPr>
            <p:cNvPr id="5" name="矩形 4">
              <a:extLst>
                <a:ext uri="{FF2B5EF4-FFF2-40B4-BE49-F238E27FC236}">
                  <a16:creationId xmlns:a16="http://schemas.microsoft.com/office/drawing/2014/main" id="{F71460C8-C493-EF49-057F-68FC3D4334F1}"/>
                </a:ext>
              </a:extLst>
            </p:cNvPr>
            <p:cNvSpPr/>
            <p:nvPr/>
          </p:nvSpPr>
          <p:spPr>
            <a:xfrm>
              <a:off x="3028529" y="2550775"/>
              <a:ext cx="1024727" cy="13830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406F2986-30FF-0F47-48F4-17759A2E7DDF}"/>
                </a:ext>
              </a:extLst>
            </p:cNvPr>
            <p:cNvSpPr txBox="1"/>
            <p:nvPr/>
          </p:nvSpPr>
          <p:spPr>
            <a:xfrm>
              <a:off x="3150536" y="2988886"/>
              <a:ext cx="776226" cy="508857"/>
            </a:xfrm>
            <a:prstGeom prst="rect">
              <a:avLst/>
            </a:prstGeom>
            <a:noFill/>
          </p:spPr>
          <p:txBody>
            <a:bodyPr wrap="square" rtlCol="0">
              <a:spAutoFit/>
            </a:bodyPr>
            <a:lstStyle/>
            <a:p>
              <a:pPr algn="ctr"/>
              <a:r>
                <a:rPr lang="en-US" altLang="zh-CN" dirty="0"/>
                <a:t>HDMI-in</a:t>
              </a:r>
            </a:p>
          </p:txBody>
        </p:sp>
      </p:grpSp>
      <p:sp>
        <p:nvSpPr>
          <p:cNvPr id="7" name="文本框 6">
            <a:extLst>
              <a:ext uri="{FF2B5EF4-FFF2-40B4-BE49-F238E27FC236}">
                <a16:creationId xmlns:a16="http://schemas.microsoft.com/office/drawing/2014/main" id="{BB28EA6D-FA7C-38EC-65DB-5D20B2F080A3}"/>
              </a:ext>
            </a:extLst>
          </p:cNvPr>
          <p:cNvSpPr txBox="1"/>
          <p:nvPr/>
        </p:nvSpPr>
        <p:spPr>
          <a:xfrm>
            <a:off x="1277890" y="3296631"/>
            <a:ext cx="646331" cy="369332"/>
          </a:xfrm>
          <a:prstGeom prst="rect">
            <a:avLst/>
          </a:prstGeom>
          <a:noFill/>
        </p:spPr>
        <p:txBody>
          <a:bodyPr wrap="none" rtlCol="0">
            <a:spAutoFit/>
          </a:bodyPr>
          <a:lstStyle/>
          <a:p>
            <a:r>
              <a:rPr lang="zh-CN" altLang="en-US" dirty="0"/>
              <a:t>原图</a:t>
            </a:r>
          </a:p>
        </p:txBody>
      </p:sp>
      <p:cxnSp>
        <p:nvCxnSpPr>
          <p:cNvPr id="8" name="直接箭头连接符 7">
            <a:extLst>
              <a:ext uri="{FF2B5EF4-FFF2-40B4-BE49-F238E27FC236}">
                <a16:creationId xmlns:a16="http://schemas.microsoft.com/office/drawing/2014/main" id="{2DADAF77-59AC-C0D3-F13F-828916D75DB5}"/>
              </a:ext>
            </a:extLst>
          </p:cNvPr>
          <p:cNvCxnSpPr>
            <a:cxnSpLocks/>
          </p:cNvCxnSpPr>
          <p:nvPr/>
        </p:nvCxnSpPr>
        <p:spPr>
          <a:xfrm>
            <a:off x="1286316" y="5172876"/>
            <a:ext cx="71813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B2DA07EA-09DE-4CCD-D94C-35AED37AA89D}"/>
              </a:ext>
            </a:extLst>
          </p:cNvPr>
          <p:cNvCxnSpPr>
            <a:cxnSpLocks/>
            <a:stCxn id="5" idx="2"/>
          </p:cNvCxnSpPr>
          <p:nvPr/>
        </p:nvCxnSpPr>
        <p:spPr>
          <a:xfrm flipH="1">
            <a:off x="1286315" y="2256222"/>
            <a:ext cx="1" cy="2914617"/>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26F64165-F962-505B-604F-50003B6B4660}"/>
              </a:ext>
            </a:extLst>
          </p:cNvPr>
          <p:cNvGrpSpPr/>
          <p:nvPr/>
        </p:nvGrpSpPr>
        <p:grpSpPr>
          <a:xfrm>
            <a:off x="5440071" y="3348565"/>
            <a:ext cx="939790" cy="996319"/>
            <a:chOff x="3028529" y="2550775"/>
            <a:chExt cx="1024727" cy="1383046"/>
          </a:xfrm>
        </p:grpSpPr>
        <p:sp>
          <p:nvSpPr>
            <p:cNvPr id="13" name="矩形 12">
              <a:extLst>
                <a:ext uri="{FF2B5EF4-FFF2-40B4-BE49-F238E27FC236}">
                  <a16:creationId xmlns:a16="http://schemas.microsoft.com/office/drawing/2014/main" id="{C2A042A0-423D-2C3F-C62D-435F3F955549}"/>
                </a:ext>
              </a:extLst>
            </p:cNvPr>
            <p:cNvSpPr/>
            <p:nvPr/>
          </p:nvSpPr>
          <p:spPr>
            <a:xfrm>
              <a:off x="3028529" y="2550775"/>
              <a:ext cx="1024727" cy="13830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833A83FF-0072-D252-25AA-EB5D1F448B6B}"/>
                </a:ext>
              </a:extLst>
            </p:cNvPr>
            <p:cNvSpPr txBox="1"/>
            <p:nvPr/>
          </p:nvSpPr>
          <p:spPr>
            <a:xfrm>
              <a:off x="3087078" y="2710878"/>
              <a:ext cx="907629" cy="897208"/>
            </a:xfrm>
            <a:prstGeom prst="rect">
              <a:avLst/>
            </a:prstGeom>
            <a:noFill/>
          </p:spPr>
          <p:txBody>
            <a:bodyPr wrap="square" rtlCol="0">
              <a:spAutoFit/>
            </a:bodyPr>
            <a:lstStyle/>
            <a:p>
              <a:pPr algn="ctr"/>
              <a:r>
                <a:rPr lang="zh-CN" altLang="en-US" dirty="0"/>
                <a:t>子图</a:t>
              </a:r>
              <a:endParaRPr lang="en-US" altLang="zh-CN" dirty="0"/>
            </a:p>
            <a:p>
              <a:pPr algn="ctr"/>
              <a:r>
                <a:rPr lang="zh-CN" altLang="en-US" dirty="0"/>
                <a:t>缓存</a:t>
              </a:r>
              <a:endParaRPr lang="en-US" altLang="zh-CN" dirty="0"/>
            </a:p>
          </p:txBody>
        </p:sp>
      </p:grpSp>
      <p:cxnSp>
        <p:nvCxnSpPr>
          <p:cNvPr id="15" name="直接箭头连接符 14">
            <a:extLst>
              <a:ext uri="{FF2B5EF4-FFF2-40B4-BE49-F238E27FC236}">
                <a16:creationId xmlns:a16="http://schemas.microsoft.com/office/drawing/2014/main" id="{D3C446BA-F691-2C9C-B501-50B0D463D075}"/>
              </a:ext>
            </a:extLst>
          </p:cNvPr>
          <p:cNvCxnSpPr>
            <a:cxnSpLocks/>
            <a:stCxn id="13" idx="3"/>
            <a:endCxn id="32" idx="1"/>
          </p:cNvCxnSpPr>
          <p:nvPr/>
        </p:nvCxnSpPr>
        <p:spPr>
          <a:xfrm flipV="1">
            <a:off x="6379861" y="3844248"/>
            <a:ext cx="703217" cy="247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16" name="组合 15">
            <a:extLst>
              <a:ext uri="{FF2B5EF4-FFF2-40B4-BE49-F238E27FC236}">
                <a16:creationId xmlns:a16="http://schemas.microsoft.com/office/drawing/2014/main" id="{182AE9E8-5DF7-B0ED-21E3-2A683C1F7304}"/>
              </a:ext>
            </a:extLst>
          </p:cNvPr>
          <p:cNvGrpSpPr/>
          <p:nvPr/>
        </p:nvGrpSpPr>
        <p:grpSpPr>
          <a:xfrm>
            <a:off x="7319695" y="1254821"/>
            <a:ext cx="1700462" cy="996319"/>
            <a:chOff x="6096001" y="5202769"/>
            <a:chExt cx="1700462" cy="996319"/>
          </a:xfrm>
        </p:grpSpPr>
        <p:sp>
          <p:nvSpPr>
            <p:cNvPr id="17" name="矩形 16">
              <a:extLst>
                <a:ext uri="{FF2B5EF4-FFF2-40B4-BE49-F238E27FC236}">
                  <a16:creationId xmlns:a16="http://schemas.microsoft.com/office/drawing/2014/main" id="{48DE15D2-0343-AD80-E505-8EB4ECE8375E}"/>
                </a:ext>
              </a:extLst>
            </p:cNvPr>
            <p:cNvSpPr/>
            <p:nvPr/>
          </p:nvSpPr>
          <p:spPr>
            <a:xfrm>
              <a:off x="6096001" y="5202769"/>
              <a:ext cx="1700462" cy="9963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0E0D17DC-BEE7-074E-2471-FC8AB381552C}"/>
                </a:ext>
              </a:extLst>
            </p:cNvPr>
            <p:cNvSpPr txBox="1"/>
            <p:nvPr/>
          </p:nvSpPr>
          <p:spPr>
            <a:xfrm>
              <a:off x="6333505" y="5509076"/>
              <a:ext cx="1225453" cy="369332"/>
            </a:xfrm>
            <a:prstGeom prst="rect">
              <a:avLst/>
            </a:prstGeom>
            <a:noFill/>
          </p:spPr>
          <p:txBody>
            <a:bodyPr wrap="square" rtlCol="0">
              <a:spAutoFit/>
            </a:bodyPr>
            <a:lstStyle/>
            <a:p>
              <a:pPr algn="ctr"/>
              <a:r>
                <a:rPr lang="zh-CN" altLang="en-US" dirty="0"/>
                <a:t>字符显示</a:t>
              </a:r>
              <a:endParaRPr lang="en-US" altLang="zh-CN" dirty="0"/>
            </a:p>
          </p:txBody>
        </p:sp>
      </p:grpSp>
      <p:grpSp>
        <p:nvGrpSpPr>
          <p:cNvPr id="19" name="组合 18">
            <a:extLst>
              <a:ext uri="{FF2B5EF4-FFF2-40B4-BE49-F238E27FC236}">
                <a16:creationId xmlns:a16="http://schemas.microsoft.com/office/drawing/2014/main" id="{1B44298E-F547-EEB1-AAA4-D9D45CBB9340}"/>
              </a:ext>
            </a:extLst>
          </p:cNvPr>
          <p:cNvGrpSpPr/>
          <p:nvPr/>
        </p:nvGrpSpPr>
        <p:grpSpPr>
          <a:xfrm>
            <a:off x="2041012" y="4597045"/>
            <a:ext cx="2173694" cy="1128136"/>
            <a:chOff x="3028529" y="2550775"/>
            <a:chExt cx="1024727" cy="1383046"/>
          </a:xfrm>
          <a:solidFill>
            <a:schemeClr val="accent1">
              <a:lumMod val="40000"/>
              <a:lumOff val="60000"/>
            </a:schemeClr>
          </a:solidFill>
        </p:grpSpPr>
        <p:sp>
          <p:nvSpPr>
            <p:cNvPr id="20" name="矩形 19">
              <a:extLst>
                <a:ext uri="{FF2B5EF4-FFF2-40B4-BE49-F238E27FC236}">
                  <a16:creationId xmlns:a16="http://schemas.microsoft.com/office/drawing/2014/main" id="{D4243E7F-3ABA-6A8E-7E80-08E73DDD7685}"/>
                </a:ext>
              </a:extLst>
            </p:cNvPr>
            <p:cNvSpPr/>
            <p:nvPr/>
          </p:nvSpPr>
          <p:spPr>
            <a:xfrm>
              <a:off x="3028529" y="2550775"/>
              <a:ext cx="1024727" cy="138304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D529C638-4078-2DBD-A4F5-1B1E634BA6C4}"/>
                </a:ext>
              </a:extLst>
            </p:cNvPr>
            <p:cNvSpPr txBox="1"/>
            <p:nvPr/>
          </p:nvSpPr>
          <p:spPr>
            <a:xfrm>
              <a:off x="3037386" y="2689463"/>
              <a:ext cx="1008023" cy="1131961"/>
            </a:xfrm>
            <a:prstGeom prst="rect">
              <a:avLst/>
            </a:prstGeom>
            <a:grpFill/>
          </p:spPr>
          <p:txBody>
            <a:bodyPr wrap="square" rtlCol="0">
              <a:spAutoFit/>
            </a:bodyPr>
            <a:lstStyle/>
            <a:p>
              <a:pPr algn="ctr"/>
              <a:r>
                <a:rPr lang="en-US" altLang="zh-CN" dirty="0"/>
                <a:t>YOLO </a:t>
              </a:r>
              <a:r>
                <a:rPr lang="zh-CN" altLang="en-US" dirty="0"/>
                <a:t>检测</a:t>
              </a:r>
              <a:endParaRPr lang="en-US" altLang="zh-CN" dirty="0"/>
            </a:p>
            <a:p>
              <a:pPr algn="ctr"/>
              <a:r>
                <a:rPr lang="zh-CN" altLang="en-US" dirty="0"/>
                <a:t>车牌类型、</a:t>
              </a:r>
              <a:endParaRPr lang="en-US" altLang="zh-CN" dirty="0"/>
            </a:p>
            <a:p>
              <a:pPr algn="ctr"/>
              <a:r>
                <a:rPr lang="zh-CN" altLang="en-US" dirty="0"/>
                <a:t>位置、大小</a:t>
              </a:r>
              <a:endParaRPr lang="en-US" altLang="zh-CN" dirty="0"/>
            </a:p>
          </p:txBody>
        </p:sp>
      </p:grpSp>
      <p:grpSp>
        <p:nvGrpSpPr>
          <p:cNvPr id="22" name="组合 21">
            <a:extLst>
              <a:ext uri="{FF2B5EF4-FFF2-40B4-BE49-F238E27FC236}">
                <a16:creationId xmlns:a16="http://schemas.microsoft.com/office/drawing/2014/main" id="{88179BC0-7661-7EFF-E72A-1913177A154C}"/>
              </a:ext>
            </a:extLst>
          </p:cNvPr>
          <p:cNvGrpSpPr/>
          <p:nvPr/>
        </p:nvGrpSpPr>
        <p:grpSpPr>
          <a:xfrm>
            <a:off x="4265621" y="1240962"/>
            <a:ext cx="1980691" cy="996319"/>
            <a:chOff x="3028529" y="2550775"/>
            <a:chExt cx="1024727" cy="1383046"/>
          </a:xfrm>
        </p:grpSpPr>
        <p:sp>
          <p:nvSpPr>
            <p:cNvPr id="23" name="矩形 22">
              <a:extLst>
                <a:ext uri="{FF2B5EF4-FFF2-40B4-BE49-F238E27FC236}">
                  <a16:creationId xmlns:a16="http://schemas.microsoft.com/office/drawing/2014/main" id="{02D8592B-197F-C04D-69ED-01EA7626FD1B}"/>
                </a:ext>
              </a:extLst>
            </p:cNvPr>
            <p:cNvSpPr/>
            <p:nvPr/>
          </p:nvSpPr>
          <p:spPr>
            <a:xfrm>
              <a:off x="3028529" y="2550775"/>
              <a:ext cx="1024727" cy="13830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EEACDA87-AEC8-1E08-FC6E-79DB60F4F0C4}"/>
                </a:ext>
              </a:extLst>
            </p:cNvPr>
            <p:cNvSpPr txBox="1"/>
            <p:nvPr/>
          </p:nvSpPr>
          <p:spPr>
            <a:xfrm>
              <a:off x="3087636" y="2828986"/>
              <a:ext cx="907629" cy="897208"/>
            </a:xfrm>
            <a:prstGeom prst="rect">
              <a:avLst/>
            </a:prstGeom>
            <a:noFill/>
          </p:spPr>
          <p:txBody>
            <a:bodyPr wrap="square" rtlCol="0">
              <a:spAutoFit/>
            </a:bodyPr>
            <a:lstStyle/>
            <a:p>
              <a:pPr algn="ctr"/>
              <a:r>
                <a:rPr lang="zh-CN" altLang="en-US" dirty="0"/>
                <a:t>预选框显示</a:t>
              </a:r>
              <a:endParaRPr lang="en-US" altLang="zh-CN" dirty="0"/>
            </a:p>
            <a:p>
              <a:pPr algn="ctr"/>
              <a:r>
                <a:rPr lang="zh-CN" altLang="en-US" dirty="0"/>
                <a:t>子图裁切</a:t>
              </a:r>
              <a:endParaRPr lang="en-US" altLang="zh-CN" dirty="0"/>
            </a:p>
          </p:txBody>
        </p:sp>
      </p:grpSp>
      <p:grpSp>
        <p:nvGrpSpPr>
          <p:cNvPr id="25" name="组合 24">
            <a:extLst>
              <a:ext uri="{FF2B5EF4-FFF2-40B4-BE49-F238E27FC236}">
                <a16:creationId xmlns:a16="http://schemas.microsoft.com/office/drawing/2014/main" id="{4ED2E4D1-F504-77BF-C193-C750CDE85A6E}"/>
              </a:ext>
            </a:extLst>
          </p:cNvPr>
          <p:cNvGrpSpPr/>
          <p:nvPr/>
        </p:nvGrpSpPr>
        <p:grpSpPr>
          <a:xfrm>
            <a:off x="9841971" y="1260000"/>
            <a:ext cx="1700462" cy="996319"/>
            <a:chOff x="6096001" y="5202769"/>
            <a:chExt cx="1700462" cy="996319"/>
          </a:xfrm>
        </p:grpSpPr>
        <p:sp>
          <p:nvSpPr>
            <p:cNvPr id="26" name="矩形 25">
              <a:extLst>
                <a:ext uri="{FF2B5EF4-FFF2-40B4-BE49-F238E27FC236}">
                  <a16:creationId xmlns:a16="http://schemas.microsoft.com/office/drawing/2014/main" id="{F3D7105F-B78F-9B52-8153-50B9F3C59E34}"/>
                </a:ext>
              </a:extLst>
            </p:cNvPr>
            <p:cNvSpPr/>
            <p:nvPr/>
          </p:nvSpPr>
          <p:spPr>
            <a:xfrm>
              <a:off x="6096001" y="5202769"/>
              <a:ext cx="1700462" cy="9963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DAF84868-0970-686D-3F27-4CBFC94BD032}"/>
                </a:ext>
              </a:extLst>
            </p:cNvPr>
            <p:cNvSpPr txBox="1"/>
            <p:nvPr/>
          </p:nvSpPr>
          <p:spPr>
            <a:xfrm>
              <a:off x="6333505" y="5509076"/>
              <a:ext cx="1225453" cy="369332"/>
            </a:xfrm>
            <a:prstGeom prst="rect">
              <a:avLst/>
            </a:prstGeom>
            <a:noFill/>
          </p:spPr>
          <p:txBody>
            <a:bodyPr wrap="square" rtlCol="0">
              <a:spAutoFit/>
            </a:bodyPr>
            <a:lstStyle/>
            <a:p>
              <a:pPr algn="ctr"/>
              <a:r>
                <a:rPr lang="en-US" altLang="zh-CN" dirty="0"/>
                <a:t>HDMI-out</a:t>
              </a:r>
            </a:p>
          </p:txBody>
        </p:sp>
      </p:grpSp>
      <p:cxnSp>
        <p:nvCxnSpPr>
          <p:cNvPr id="28" name="直接箭头连接符 27">
            <a:extLst>
              <a:ext uri="{FF2B5EF4-FFF2-40B4-BE49-F238E27FC236}">
                <a16:creationId xmlns:a16="http://schemas.microsoft.com/office/drawing/2014/main" id="{D1550CCE-930B-A823-CB41-C6F6A57A3C5F}"/>
              </a:ext>
            </a:extLst>
          </p:cNvPr>
          <p:cNvCxnSpPr>
            <a:cxnSpLocks/>
            <a:stCxn id="23" idx="3"/>
            <a:endCxn id="17" idx="1"/>
          </p:cNvCxnSpPr>
          <p:nvPr/>
        </p:nvCxnSpPr>
        <p:spPr>
          <a:xfrm>
            <a:off x="6246312" y="1739122"/>
            <a:ext cx="1073383" cy="1385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747C5B08-7A61-CC1B-D2A2-26E1F931DBA4}"/>
              </a:ext>
            </a:extLst>
          </p:cNvPr>
          <p:cNvCxnSpPr>
            <a:cxnSpLocks/>
            <a:endCxn id="23" idx="2"/>
          </p:cNvCxnSpPr>
          <p:nvPr/>
        </p:nvCxnSpPr>
        <p:spPr>
          <a:xfrm flipV="1">
            <a:off x="5255966" y="2237281"/>
            <a:ext cx="1" cy="293355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6B9DCFDB-B681-3C82-087A-A5B295CD0CA6}"/>
              </a:ext>
            </a:extLst>
          </p:cNvPr>
          <p:cNvCxnSpPr>
            <a:cxnSpLocks/>
            <a:endCxn id="13" idx="0"/>
          </p:cNvCxnSpPr>
          <p:nvPr/>
        </p:nvCxnSpPr>
        <p:spPr>
          <a:xfrm>
            <a:off x="5909966" y="2251140"/>
            <a:ext cx="0" cy="109742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31" name="组合 30">
            <a:extLst>
              <a:ext uri="{FF2B5EF4-FFF2-40B4-BE49-F238E27FC236}">
                <a16:creationId xmlns:a16="http://schemas.microsoft.com/office/drawing/2014/main" id="{72EBFB52-FACE-A095-A939-3C2D6711E418}"/>
              </a:ext>
            </a:extLst>
          </p:cNvPr>
          <p:cNvGrpSpPr/>
          <p:nvPr/>
        </p:nvGrpSpPr>
        <p:grpSpPr>
          <a:xfrm>
            <a:off x="7083078" y="3280180"/>
            <a:ext cx="2173694" cy="1128136"/>
            <a:chOff x="3028529" y="2550775"/>
            <a:chExt cx="1024727" cy="1383046"/>
          </a:xfrm>
          <a:solidFill>
            <a:schemeClr val="accent1">
              <a:lumMod val="40000"/>
              <a:lumOff val="60000"/>
            </a:schemeClr>
          </a:solidFill>
        </p:grpSpPr>
        <p:sp>
          <p:nvSpPr>
            <p:cNvPr id="32" name="矩形 31">
              <a:extLst>
                <a:ext uri="{FF2B5EF4-FFF2-40B4-BE49-F238E27FC236}">
                  <a16:creationId xmlns:a16="http://schemas.microsoft.com/office/drawing/2014/main" id="{C9F4BD22-932E-2802-2200-F9242528EB8C}"/>
                </a:ext>
              </a:extLst>
            </p:cNvPr>
            <p:cNvSpPr/>
            <p:nvPr/>
          </p:nvSpPr>
          <p:spPr>
            <a:xfrm>
              <a:off x="3028529" y="2550775"/>
              <a:ext cx="1024727" cy="1383046"/>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7D1F710A-8AE2-25FE-D9DC-B0FD5C88357D}"/>
                </a:ext>
              </a:extLst>
            </p:cNvPr>
            <p:cNvSpPr txBox="1"/>
            <p:nvPr/>
          </p:nvSpPr>
          <p:spPr>
            <a:xfrm>
              <a:off x="3087078" y="2782120"/>
              <a:ext cx="907629" cy="792374"/>
            </a:xfrm>
            <a:prstGeom prst="rect">
              <a:avLst/>
            </a:prstGeom>
            <a:grpFill/>
          </p:spPr>
          <p:txBody>
            <a:bodyPr wrap="square" rtlCol="0">
              <a:spAutoFit/>
            </a:bodyPr>
            <a:lstStyle/>
            <a:p>
              <a:pPr algn="ctr"/>
              <a:r>
                <a:rPr lang="en-US" altLang="zh-CN" dirty="0" err="1"/>
                <a:t>LPRNet</a:t>
              </a:r>
              <a:endParaRPr lang="en-US" altLang="zh-CN" dirty="0"/>
            </a:p>
            <a:p>
              <a:pPr algn="ctr"/>
              <a:r>
                <a:rPr lang="zh-CN" altLang="en-US" dirty="0"/>
                <a:t>检测车牌号</a:t>
              </a:r>
              <a:endParaRPr lang="en-US" altLang="zh-CN" dirty="0"/>
            </a:p>
          </p:txBody>
        </p:sp>
      </p:grpSp>
      <p:cxnSp>
        <p:nvCxnSpPr>
          <p:cNvPr id="34" name="直接箭头连接符 33">
            <a:extLst>
              <a:ext uri="{FF2B5EF4-FFF2-40B4-BE49-F238E27FC236}">
                <a16:creationId xmlns:a16="http://schemas.microsoft.com/office/drawing/2014/main" id="{21F6E196-7E89-2B16-0203-0E50A103EDFC}"/>
              </a:ext>
            </a:extLst>
          </p:cNvPr>
          <p:cNvCxnSpPr>
            <a:cxnSpLocks/>
            <a:stCxn id="32" idx="0"/>
            <a:endCxn id="17" idx="2"/>
          </p:cNvCxnSpPr>
          <p:nvPr/>
        </p:nvCxnSpPr>
        <p:spPr>
          <a:xfrm flipV="1">
            <a:off x="8169925" y="2251140"/>
            <a:ext cx="1" cy="102904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31F67A4D-4954-130D-152A-1E5A5DD19E07}"/>
              </a:ext>
            </a:extLst>
          </p:cNvPr>
          <p:cNvSpPr txBox="1"/>
          <p:nvPr/>
        </p:nvSpPr>
        <p:spPr>
          <a:xfrm>
            <a:off x="6333125" y="1333193"/>
            <a:ext cx="877163" cy="369332"/>
          </a:xfrm>
          <a:prstGeom prst="rect">
            <a:avLst/>
          </a:prstGeom>
          <a:noFill/>
        </p:spPr>
        <p:txBody>
          <a:bodyPr wrap="none" rtlCol="0">
            <a:spAutoFit/>
          </a:bodyPr>
          <a:lstStyle/>
          <a:p>
            <a:r>
              <a:rPr lang="zh-CN" altLang="en-US" dirty="0"/>
              <a:t>带框图</a:t>
            </a:r>
          </a:p>
        </p:txBody>
      </p:sp>
      <p:sp>
        <p:nvSpPr>
          <p:cNvPr id="36" name="文本框 35">
            <a:extLst>
              <a:ext uri="{FF2B5EF4-FFF2-40B4-BE49-F238E27FC236}">
                <a16:creationId xmlns:a16="http://schemas.microsoft.com/office/drawing/2014/main" id="{7ABCFDE9-ECF8-ED79-6656-EBB50CB2D0A1}"/>
              </a:ext>
            </a:extLst>
          </p:cNvPr>
          <p:cNvSpPr txBox="1"/>
          <p:nvPr/>
        </p:nvSpPr>
        <p:spPr>
          <a:xfrm>
            <a:off x="8992483" y="1092790"/>
            <a:ext cx="877163" cy="646331"/>
          </a:xfrm>
          <a:prstGeom prst="rect">
            <a:avLst/>
          </a:prstGeom>
          <a:noFill/>
        </p:spPr>
        <p:txBody>
          <a:bodyPr wrap="none" rtlCol="0">
            <a:spAutoFit/>
          </a:bodyPr>
          <a:lstStyle/>
          <a:p>
            <a:r>
              <a:rPr lang="zh-CN" altLang="en-US" dirty="0"/>
              <a:t>带框与</a:t>
            </a:r>
            <a:endParaRPr lang="en-US" altLang="zh-CN" dirty="0"/>
          </a:p>
          <a:p>
            <a:r>
              <a:rPr lang="zh-CN" altLang="en-US" dirty="0"/>
              <a:t>字符图</a:t>
            </a:r>
          </a:p>
        </p:txBody>
      </p:sp>
      <p:sp>
        <p:nvSpPr>
          <p:cNvPr id="37" name="文本框 36">
            <a:extLst>
              <a:ext uri="{FF2B5EF4-FFF2-40B4-BE49-F238E27FC236}">
                <a16:creationId xmlns:a16="http://schemas.microsoft.com/office/drawing/2014/main" id="{B735151B-4809-37EB-833D-1A1CFCACC653}"/>
              </a:ext>
            </a:extLst>
          </p:cNvPr>
          <p:cNvSpPr txBox="1"/>
          <p:nvPr/>
        </p:nvSpPr>
        <p:spPr>
          <a:xfrm>
            <a:off x="3999551" y="3154389"/>
            <a:ext cx="1107996" cy="646331"/>
          </a:xfrm>
          <a:prstGeom prst="rect">
            <a:avLst/>
          </a:prstGeom>
          <a:noFill/>
        </p:spPr>
        <p:txBody>
          <a:bodyPr wrap="none" rtlCol="0">
            <a:spAutoFit/>
          </a:bodyPr>
          <a:lstStyle/>
          <a:p>
            <a:pPr algn="ctr"/>
            <a:r>
              <a:rPr lang="zh-CN" altLang="en-US" dirty="0"/>
              <a:t>预选框</a:t>
            </a:r>
            <a:endParaRPr lang="en-US" altLang="zh-CN" dirty="0"/>
          </a:p>
          <a:p>
            <a:r>
              <a:rPr lang="zh-CN" altLang="en-US" dirty="0"/>
              <a:t>检测结果</a:t>
            </a:r>
          </a:p>
        </p:txBody>
      </p:sp>
      <p:sp>
        <p:nvSpPr>
          <p:cNvPr id="38" name="文本框 37">
            <a:extLst>
              <a:ext uri="{FF2B5EF4-FFF2-40B4-BE49-F238E27FC236}">
                <a16:creationId xmlns:a16="http://schemas.microsoft.com/office/drawing/2014/main" id="{9BEED3D9-B0B3-F73E-CC54-D15BE16445BA}"/>
              </a:ext>
            </a:extLst>
          </p:cNvPr>
          <p:cNvSpPr txBox="1"/>
          <p:nvPr/>
        </p:nvSpPr>
        <p:spPr>
          <a:xfrm>
            <a:off x="5696157" y="2590168"/>
            <a:ext cx="1700462" cy="369332"/>
          </a:xfrm>
          <a:prstGeom prst="rect">
            <a:avLst/>
          </a:prstGeom>
          <a:noFill/>
        </p:spPr>
        <p:txBody>
          <a:bodyPr wrap="square" rtlCol="0">
            <a:spAutoFit/>
          </a:bodyPr>
          <a:lstStyle/>
          <a:p>
            <a:pPr algn="ctr"/>
            <a:r>
              <a:rPr lang="zh-CN" altLang="en-US" dirty="0"/>
              <a:t>双线性插值</a:t>
            </a:r>
          </a:p>
        </p:txBody>
      </p:sp>
      <p:cxnSp>
        <p:nvCxnSpPr>
          <p:cNvPr id="39" name="直接箭头连接符 38">
            <a:extLst>
              <a:ext uri="{FF2B5EF4-FFF2-40B4-BE49-F238E27FC236}">
                <a16:creationId xmlns:a16="http://schemas.microsoft.com/office/drawing/2014/main" id="{5602BAB5-2F11-C6C1-3FA1-F33164E33847}"/>
              </a:ext>
            </a:extLst>
          </p:cNvPr>
          <p:cNvCxnSpPr>
            <a:cxnSpLocks/>
            <a:stCxn id="17" idx="3"/>
            <a:endCxn id="26" idx="1"/>
          </p:cNvCxnSpPr>
          <p:nvPr/>
        </p:nvCxnSpPr>
        <p:spPr>
          <a:xfrm>
            <a:off x="9020157" y="1752981"/>
            <a:ext cx="821814" cy="517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45" name="组合 44">
            <a:extLst>
              <a:ext uri="{FF2B5EF4-FFF2-40B4-BE49-F238E27FC236}">
                <a16:creationId xmlns:a16="http://schemas.microsoft.com/office/drawing/2014/main" id="{572DEAAA-01AE-DD68-D904-5548CCE30D58}"/>
              </a:ext>
            </a:extLst>
          </p:cNvPr>
          <p:cNvGrpSpPr/>
          <p:nvPr/>
        </p:nvGrpSpPr>
        <p:grpSpPr>
          <a:xfrm>
            <a:off x="2418453" y="1250556"/>
            <a:ext cx="1436261" cy="1004361"/>
            <a:chOff x="3028529" y="2550775"/>
            <a:chExt cx="1024727" cy="1383046"/>
          </a:xfrm>
        </p:grpSpPr>
        <p:sp>
          <p:nvSpPr>
            <p:cNvPr id="46" name="矩形 45">
              <a:extLst>
                <a:ext uri="{FF2B5EF4-FFF2-40B4-BE49-F238E27FC236}">
                  <a16:creationId xmlns:a16="http://schemas.microsoft.com/office/drawing/2014/main" id="{57B3610F-295F-0EBD-FC43-88A0B7E926D8}"/>
                </a:ext>
              </a:extLst>
            </p:cNvPr>
            <p:cNvSpPr/>
            <p:nvPr/>
          </p:nvSpPr>
          <p:spPr>
            <a:xfrm>
              <a:off x="3028529" y="2550775"/>
              <a:ext cx="1024727" cy="13830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683B8A04-90C9-111E-04F5-3E041F25E114}"/>
                </a:ext>
              </a:extLst>
            </p:cNvPr>
            <p:cNvSpPr txBox="1"/>
            <p:nvPr/>
          </p:nvSpPr>
          <p:spPr>
            <a:xfrm>
              <a:off x="3028529" y="2988886"/>
              <a:ext cx="1012278" cy="508857"/>
            </a:xfrm>
            <a:prstGeom prst="rect">
              <a:avLst/>
            </a:prstGeom>
            <a:noFill/>
          </p:spPr>
          <p:txBody>
            <a:bodyPr wrap="square" rtlCol="0">
              <a:spAutoFit/>
            </a:bodyPr>
            <a:lstStyle/>
            <a:p>
              <a:pPr algn="ctr"/>
              <a:r>
                <a:rPr lang="en-US" altLang="zh-CN" dirty="0"/>
                <a:t>DDR</a:t>
              </a:r>
              <a:r>
                <a:rPr lang="zh-CN" altLang="en-US" dirty="0"/>
                <a:t>缓存</a:t>
              </a:r>
              <a:endParaRPr lang="en-US" altLang="zh-CN" dirty="0"/>
            </a:p>
          </p:txBody>
        </p:sp>
      </p:grpSp>
      <p:cxnSp>
        <p:nvCxnSpPr>
          <p:cNvPr id="52" name="直接箭头连接符 51">
            <a:extLst>
              <a:ext uri="{FF2B5EF4-FFF2-40B4-BE49-F238E27FC236}">
                <a16:creationId xmlns:a16="http://schemas.microsoft.com/office/drawing/2014/main" id="{735A9C1A-1DDA-94E7-9929-4E7A5A2CE1D5}"/>
              </a:ext>
            </a:extLst>
          </p:cNvPr>
          <p:cNvCxnSpPr>
            <a:cxnSpLocks/>
            <a:stCxn id="5" idx="3"/>
            <a:endCxn id="47" idx="1"/>
          </p:cNvCxnSpPr>
          <p:nvPr/>
        </p:nvCxnSpPr>
        <p:spPr>
          <a:xfrm flipV="1">
            <a:off x="2004446" y="1753475"/>
            <a:ext cx="414007" cy="83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6ABB0BD9-ACA0-6DED-3C9B-4A506FED282E}"/>
              </a:ext>
            </a:extLst>
          </p:cNvPr>
          <p:cNvCxnSpPr>
            <a:cxnSpLocks/>
          </p:cNvCxnSpPr>
          <p:nvPr/>
        </p:nvCxnSpPr>
        <p:spPr>
          <a:xfrm flipV="1">
            <a:off x="3857852" y="1784792"/>
            <a:ext cx="420773" cy="61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84CA379D-A1D3-54E0-A243-C2267756FD64}"/>
              </a:ext>
            </a:extLst>
          </p:cNvPr>
          <p:cNvSpPr txBox="1"/>
          <p:nvPr/>
        </p:nvSpPr>
        <p:spPr>
          <a:xfrm>
            <a:off x="8262944" y="2627871"/>
            <a:ext cx="1558440" cy="369332"/>
          </a:xfrm>
          <a:prstGeom prst="rect">
            <a:avLst/>
          </a:prstGeom>
          <a:noFill/>
        </p:spPr>
        <p:txBody>
          <a:bodyPr wrap="none" rtlCol="0">
            <a:spAutoFit/>
          </a:bodyPr>
          <a:lstStyle/>
          <a:p>
            <a:pPr algn="ctr"/>
            <a:r>
              <a:rPr lang="zh-CN" altLang="en-US" dirty="0"/>
              <a:t>字符检测结果</a:t>
            </a:r>
          </a:p>
        </p:txBody>
      </p:sp>
      <p:grpSp>
        <p:nvGrpSpPr>
          <p:cNvPr id="3" name="组合 2">
            <a:extLst>
              <a:ext uri="{FF2B5EF4-FFF2-40B4-BE49-F238E27FC236}">
                <a16:creationId xmlns:a16="http://schemas.microsoft.com/office/drawing/2014/main" id="{304F3B13-35F1-B673-CA02-1F388B74700E}"/>
              </a:ext>
            </a:extLst>
          </p:cNvPr>
          <p:cNvGrpSpPr/>
          <p:nvPr/>
        </p:nvGrpSpPr>
        <p:grpSpPr>
          <a:xfrm>
            <a:off x="7207275" y="4964699"/>
            <a:ext cx="4132921" cy="1520964"/>
            <a:chOff x="5909966" y="5775948"/>
            <a:chExt cx="4132921" cy="1520964"/>
          </a:xfrm>
        </p:grpSpPr>
        <p:sp>
          <p:nvSpPr>
            <p:cNvPr id="82" name="矩形: 圆角 19">
              <a:extLst>
                <a:ext uri="{FF2B5EF4-FFF2-40B4-BE49-F238E27FC236}">
                  <a16:creationId xmlns:a16="http://schemas.microsoft.com/office/drawing/2014/main" id="{C7C5B188-4D82-53D7-225F-7FC24D17DFF2}"/>
                </a:ext>
              </a:extLst>
            </p:cNvPr>
            <p:cNvSpPr/>
            <p:nvPr>
              <p:custDataLst>
                <p:tags r:id="rId1"/>
              </p:custDataLst>
            </p:nvPr>
          </p:nvSpPr>
          <p:spPr>
            <a:xfrm>
              <a:off x="5909966" y="5775948"/>
              <a:ext cx="4107221" cy="1480347"/>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84" name="文本框 17">
              <a:extLst>
                <a:ext uri="{FF2B5EF4-FFF2-40B4-BE49-F238E27FC236}">
                  <a16:creationId xmlns:a16="http://schemas.microsoft.com/office/drawing/2014/main" id="{8148EB26-435F-4451-E406-0D7E4DE2E0F4}"/>
                </a:ext>
              </a:extLst>
            </p:cNvPr>
            <p:cNvSpPr txBox="1"/>
            <p:nvPr>
              <p:custDataLst>
                <p:tags r:id="rId2"/>
              </p:custDataLst>
            </p:nvPr>
          </p:nvSpPr>
          <p:spPr>
            <a:xfrm>
              <a:off x="6436042" y="5850362"/>
              <a:ext cx="3606845" cy="1446550"/>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en-US" altLang="zh-CN" dirty="0">
                  <a:latin typeface="微软雅黑" panose="020B0503020204020204" pitchFamily="34" charset="-122"/>
                  <a:ea typeface="微软雅黑" panose="020B0503020204020204" pitchFamily="34" charset="-122"/>
                </a:rPr>
                <a:t>PG2L200H</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FPGA</a:t>
              </a:r>
              <a:r>
                <a:rPr lang="zh-CN" altLang="en-US" dirty="0">
                  <a:latin typeface="微软雅黑" panose="020B0503020204020204" pitchFamily="34" charset="-122"/>
                  <a:ea typeface="微软雅黑" panose="020B0503020204020204" pitchFamily="34" charset="-122"/>
                </a:rPr>
                <a:t>全片上推理</a:t>
              </a:r>
              <a:endParaRPr lang="en-US" altLang="zh-CN"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全流水线设计</a:t>
              </a:r>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计算推理过程全片上运行，缓存效率高</a:t>
              </a:r>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延迟极低（预选框</a:t>
              </a:r>
              <a:r>
                <a:rPr lang="en-US" altLang="zh-CN" sz="1400" dirty="0">
                  <a:latin typeface="微软雅黑" panose="020B0503020204020204" pitchFamily="34" charset="-122"/>
                  <a:ea typeface="微软雅黑" panose="020B0503020204020204" pitchFamily="34" charset="-122"/>
                </a:rPr>
                <a:t>1.14ms</a:t>
              </a:r>
              <a:r>
                <a:rPr lang="zh-CN" altLang="en-US" sz="1400" dirty="0">
                  <a:latin typeface="微软雅黑" panose="020B0503020204020204" pitchFamily="34" charset="-122"/>
                  <a:ea typeface="微软雅黑" panose="020B0503020204020204" pitchFamily="34" charset="-122"/>
                </a:rPr>
                <a:t>，字符</a:t>
              </a:r>
              <a:r>
                <a:rPr lang="en-US" altLang="zh-CN" sz="1400" dirty="0">
                  <a:latin typeface="微软雅黑" panose="020B0503020204020204" pitchFamily="34" charset="-122"/>
                  <a:ea typeface="微软雅黑" panose="020B0503020204020204" pitchFamily="34" charset="-122"/>
                </a:rPr>
                <a:t>2.35ms</a:t>
              </a:r>
              <a:r>
                <a:rPr lang="zh-CN" altLang="en-US" sz="1400" dirty="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高分辨率高帧率（</a:t>
              </a:r>
              <a:r>
                <a:rPr lang="en-US" altLang="zh-CN" sz="1400" dirty="0">
                  <a:latin typeface="微软雅黑" panose="020B0503020204020204" pitchFamily="34" charset="-122"/>
                  <a:ea typeface="微软雅黑" panose="020B0503020204020204" pitchFamily="34" charset="-122"/>
                </a:rPr>
                <a:t>1280*720 @60Hz</a:t>
              </a:r>
              <a:r>
                <a:rPr lang="zh-CN" altLang="en-US" sz="1400" dirty="0">
                  <a:latin typeface="微软雅黑" panose="020B0503020204020204" pitchFamily="34" charset="-122"/>
                  <a:ea typeface="微软雅黑" panose="020B0503020204020204" pitchFamily="34" charset="-122"/>
                </a:rPr>
                <a:t>）</a:t>
              </a:r>
              <a:endParaRPr lang="zh-CN" altLang="zh-CN" sz="1400"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p:txBody>
        </p:sp>
        <p:sp>
          <p:nvSpPr>
            <p:cNvPr id="86" name="椭圆 14">
              <a:extLst>
                <a:ext uri="{FF2B5EF4-FFF2-40B4-BE49-F238E27FC236}">
                  <a16:creationId xmlns:a16="http://schemas.microsoft.com/office/drawing/2014/main" id="{E28359C3-81F5-31EB-6C40-B87E52A012E7}"/>
                </a:ext>
              </a:extLst>
            </p:cNvPr>
            <p:cNvSpPr/>
            <p:nvPr/>
          </p:nvSpPr>
          <p:spPr>
            <a:xfrm>
              <a:off x="6238139" y="5956947"/>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cxnSp>
        <p:nvCxnSpPr>
          <p:cNvPr id="93" name="直接箭头连接符 92">
            <a:extLst>
              <a:ext uri="{FF2B5EF4-FFF2-40B4-BE49-F238E27FC236}">
                <a16:creationId xmlns:a16="http://schemas.microsoft.com/office/drawing/2014/main" id="{A04B6D87-65E7-DF33-FA7F-6E6A82A47106}"/>
              </a:ext>
            </a:extLst>
          </p:cNvPr>
          <p:cNvCxnSpPr>
            <a:cxnSpLocks/>
            <a:stCxn id="20" idx="3"/>
          </p:cNvCxnSpPr>
          <p:nvPr/>
        </p:nvCxnSpPr>
        <p:spPr>
          <a:xfrm>
            <a:off x="4214706" y="5161113"/>
            <a:ext cx="1024615" cy="0"/>
          </a:xfrm>
          <a:prstGeom prst="straightConnector1">
            <a:avLst/>
          </a:prstGeom>
          <a:ln w="38100">
            <a:tailEnd type="none"/>
          </a:ln>
        </p:spPr>
        <p:style>
          <a:lnRef idx="1">
            <a:schemeClr val="accent1"/>
          </a:lnRef>
          <a:fillRef idx="0">
            <a:schemeClr val="accent1"/>
          </a:fillRef>
          <a:effectRef idx="0">
            <a:schemeClr val="accent1"/>
          </a:effectRef>
          <a:fontRef idx="minor">
            <a:schemeClr val="tx1"/>
          </a:fontRef>
        </p:style>
      </p:cxnSp>
      <p:pic>
        <p:nvPicPr>
          <p:cNvPr id="101" name="图片 100" descr="集创赛1">
            <a:extLst>
              <a:ext uri="{FF2B5EF4-FFF2-40B4-BE49-F238E27FC236}">
                <a16:creationId xmlns:a16="http://schemas.microsoft.com/office/drawing/2014/main" id="{6F567339-2094-3875-343B-03021AD2B08A}"/>
              </a:ext>
            </a:extLst>
          </p:cNvPr>
          <p:cNvPicPr>
            <a:picLocks noChangeAspect="1"/>
          </p:cNvPicPr>
          <p:nvPr/>
        </p:nvPicPr>
        <p:blipFill>
          <a:blip r:embed="rId5"/>
          <a:stretch>
            <a:fillRect/>
          </a:stretch>
        </p:blipFill>
        <p:spPr>
          <a:xfrm>
            <a:off x="900000" y="0"/>
            <a:ext cx="2016000" cy="1260000"/>
          </a:xfrm>
          <a:prstGeom prst="rect">
            <a:avLst/>
          </a:prstGeom>
        </p:spPr>
      </p:pic>
    </p:spTree>
    <p:extLst>
      <p:ext uri="{BB962C8B-B14F-4D97-AF65-F5344CB8AC3E}">
        <p14:creationId xmlns:p14="http://schemas.microsoft.com/office/powerpoint/2010/main" val="257828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首页"/>
          <p:cNvPicPr>
            <a:picLocks noChangeAspect="1"/>
          </p:cNvPicPr>
          <p:nvPr/>
        </p:nvPicPr>
        <p:blipFill>
          <a:blip r:embed="rId7"/>
          <a:stretch>
            <a:fillRect/>
          </a:stretch>
        </p:blipFill>
        <p:spPr>
          <a:xfrm>
            <a:off x="0" y="0"/>
            <a:ext cx="12192000" cy="6858000"/>
          </a:xfrm>
          <a:prstGeom prst="rect">
            <a:avLst/>
          </a:prstGeom>
        </p:spPr>
      </p:pic>
      <p:sp>
        <p:nvSpPr>
          <p:cNvPr id="7" name="文本框 6"/>
          <p:cNvSpPr txBox="1"/>
          <p:nvPr>
            <p:custDataLst>
              <p:tags r:id="rId2"/>
            </p:custDataLst>
          </p:nvPr>
        </p:nvSpPr>
        <p:spPr>
          <a:xfrm>
            <a:off x="2681605" y="2880000"/>
            <a:ext cx="6828790" cy="720090"/>
          </a:xfrm>
          <a:prstGeom prst="rect">
            <a:avLst/>
          </a:prstGeom>
          <a:noFill/>
        </p:spPr>
        <p:txBody>
          <a:bodyPr wrap="square" rtlCol="0">
            <a:noAutofit/>
          </a:bodyPr>
          <a:lstStyle/>
          <a:p>
            <a:pPr algn="ctr"/>
            <a:r>
              <a:rPr lang="zh-CN" altLang="en-US" sz="4400" dirty="0">
                <a:solidFill>
                  <a:srgbClr val="142DA8"/>
                </a:solidFill>
                <a:latin typeface="微软雅黑" panose="020B0503020204020204" pitchFamily="34" charset="-122"/>
                <a:ea typeface="微软雅黑" panose="020B0503020204020204" pitchFamily="34" charset="-122"/>
              </a:rPr>
              <a:t>定制计算单元</a:t>
            </a:r>
          </a:p>
        </p:txBody>
      </p:sp>
      <p:sp>
        <p:nvSpPr>
          <p:cNvPr id="17" name="文本框 16"/>
          <p:cNvSpPr txBox="1"/>
          <p:nvPr>
            <p:custDataLst>
              <p:tags r:id="rId3"/>
            </p:custDataLst>
          </p:nvPr>
        </p:nvSpPr>
        <p:spPr>
          <a:xfrm>
            <a:off x="3473768" y="3780000"/>
            <a:ext cx="5244465" cy="521970"/>
          </a:xfrm>
          <a:prstGeom prst="rect">
            <a:avLst/>
          </a:prstGeom>
          <a:noFill/>
        </p:spPr>
        <p:txBody>
          <a:bodyPr wrap="square" rtlCol="0">
            <a:spAutoFit/>
          </a:bodyPr>
          <a:lstStyle/>
          <a:p>
            <a:pPr algn="ctr"/>
            <a:r>
              <a:rPr lang="zh-CN" altLang="en-US" sz="2800" dirty="0">
                <a:solidFill>
                  <a:srgbClr val="666666"/>
                </a:solidFill>
                <a:latin typeface="微软雅黑" panose="020B0503020204020204" pitchFamily="34" charset="-122"/>
                <a:ea typeface="微软雅黑" panose="020B0503020204020204" pitchFamily="34" charset="-122"/>
              </a:rPr>
              <a:t>三维脉动卷积阵列设计</a:t>
            </a:r>
          </a:p>
        </p:txBody>
      </p:sp>
      <p:sp>
        <p:nvSpPr>
          <p:cNvPr id="5" name="矩形 4"/>
          <p:cNvSpPr/>
          <p:nvPr>
            <p:custDataLst>
              <p:tags r:id="rId4"/>
            </p:custDataLst>
          </p:nvPr>
        </p:nvSpPr>
        <p:spPr>
          <a:xfrm>
            <a:off x="5646000" y="1799730"/>
            <a:ext cx="900000" cy="900000"/>
          </a:xfrm>
          <a:prstGeom prst="rect">
            <a:avLst/>
          </a:prstGeom>
          <a:solidFill>
            <a:srgbClr val="1718B2"/>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000" dirty="0">
                <a:latin typeface="微软雅黑" panose="020B0503020204020204" pitchFamily="34" charset="-122"/>
                <a:ea typeface="微软雅黑" panose="020B0503020204020204" pitchFamily="34" charset="-122"/>
              </a:rPr>
              <a:t>3</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D50DC-ED94-A58F-CD15-840EAC358712}"/>
            </a:ext>
          </a:extLst>
        </p:cNvPr>
        <p:cNvGrpSpPr/>
        <p:nvPr/>
      </p:nvGrpSpPr>
      <p:grpSpPr>
        <a:xfrm>
          <a:off x="0" y="0"/>
          <a:ext cx="0" cy="0"/>
          <a:chOff x="0" y="0"/>
          <a:chExt cx="0" cy="0"/>
        </a:xfrm>
      </p:grpSpPr>
      <p:pic>
        <p:nvPicPr>
          <p:cNvPr id="101" name="图片 100" descr="集创赛1">
            <a:extLst>
              <a:ext uri="{FF2B5EF4-FFF2-40B4-BE49-F238E27FC236}">
                <a16:creationId xmlns:a16="http://schemas.microsoft.com/office/drawing/2014/main" id="{33E67CF7-2A6E-EDCB-98FE-BCDFBAAA0BC4}"/>
              </a:ext>
            </a:extLst>
          </p:cNvPr>
          <p:cNvPicPr>
            <a:picLocks noChangeAspect="1"/>
          </p:cNvPicPr>
          <p:nvPr/>
        </p:nvPicPr>
        <p:blipFill>
          <a:blip r:embed="rId15"/>
          <a:stretch>
            <a:fillRect/>
          </a:stretch>
        </p:blipFill>
        <p:spPr>
          <a:xfrm>
            <a:off x="166439" y="-36448"/>
            <a:ext cx="2016000" cy="1260000"/>
          </a:xfrm>
          <a:prstGeom prst="rect">
            <a:avLst/>
          </a:prstGeom>
        </p:spPr>
      </p:pic>
      <p:grpSp>
        <p:nvGrpSpPr>
          <p:cNvPr id="204" name="组合 203">
            <a:extLst>
              <a:ext uri="{FF2B5EF4-FFF2-40B4-BE49-F238E27FC236}">
                <a16:creationId xmlns:a16="http://schemas.microsoft.com/office/drawing/2014/main" id="{A50849D8-197D-2692-C78E-E82DA1578ED4}"/>
              </a:ext>
            </a:extLst>
          </p:cNvPr>
          <p:cNvGrpSpPr/>
          <p:nvPr/>
        </p:nvGrpSpPr>
        <p:grpSpPr>
          <a:xfrm>
            <a:off x="2457177" y="369697"/>
            <a:ext cx="7277645" cy="720000"/>
            <a:chOff x="7865168" y="237582"/>
            <a:chExt cx="4163290" cy="720000"/>
          </a:xfrm>
        </p:grpSpPr>
        <p:sp>
          <p:nvSpPr>
            <p:cNvPr id="201" name="组合 33">
              <a:extLst>
                <a:ext uri="{FF2B5EF4-FFF2-40B4-BE49-F238E27FC236}">
                  <a16:creationId xmlns:a16="http://schemas.microsoft.com/office/drawing/2014/main" id="{AA3322E4-C38D-E1B8-23C2-3D8686CF0653}"/>
                </a:ext>
              </a:extLst>
            </p:cNvPr>
            <p:cNvSpPr/>
            <p:nvPr/>
          </p:nvSpPr>
          <p:spPr>
            <a:xfrm>
              <a:off x="7865168" y="237582"/>
              <a:ext cx="416329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latin typeface="微软雅黑" panose="020B0503020204020204" pitchFamily="34" charset="-122"/>
                  <a:ea typeface="微软雅黑" panose="020B0503020204020204" pitchFamily="34" charset="-122"/>
                </a:rPr>
                <a:t>定制的计算单元结构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三维脉动卷积阵列</a:t>
              </a:r>
              <a:endParaRPr lang="zh-CN" dirty="0">
                <a:latin typeface="微软雅黑" panose="020B0503020204020204" pitchFamily="34" charset="-122"/>
                <a:ea typeface="微软雅黑" panose="020B0503020204020204" pitchFamily="34" charset="-122"/>
              </a:endParaRPr>
            </a:p>
          </p:txBody>
        </p:sp>
        <p:sp>
          <p:nvSpPr>
            <p:cNvPr id="203" name="矩形 202">
              <a:extLst>
                <a:ext uri="{FF2B5EF4-FFF2-40B4-BE49-F238E27FC236}">
                  <a16:creationId xmlns:a16="http://schemas.microsoft.com/office/drawing/2014/main" id="{72D930E0-4B9F-5F75-5C74-345E7BDD99A6}"/>
                </a:ext>
              </a:extLst>
            </p:cNvPr>
            <p:cNvSpPr/>
            <p:nvPr/>
          </p:nvSpPr>
          <p:spPr>
            <a:xfrm>
              <a:off x="9676813" y="885582"/>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240" name="组合 239">
            <a:extLst>
              <a:ext uri="{FF2B5EF4-FFF2-40B4-BE49-F238E27FC236}">
                <a16:creationId xmlns:a16="http://schemas.microsoft.com/office/drawing/2014/main" id="{32892517-1EE8-923B-7B67-08339EEA4F0B}"/>
              </a:ext>
            </a:extLst>
          </p:cNvPr>
          <p:cNvGrpSpPr/>
          <p:nvPr/>
        </p:nvGrpSpPr>
        <p:grpSpPr>
          <a:xfrm>
            <a:off x="2182439" y="1897604"/>
            <a:ext cx="6608242" cy="4590699"/>
            <a:chOff x="474826" y="1383925"/>
            <a:chExt cx="7408109" cy="5302376"/>
          </a:xfrm>
        </p:grpSpPr>
        <p:cxnSp>
          <p:nvCxnSpPr>
            <p:cNvPr id="233" name="直接箭头连接符 232">
              <a:extLst>
                <a:ext uri="{FF2B5EF4-FFF2-40B4-BE49-F238E27FC236}">
                  <a16:creationId xmlns:a16="http://schemas.microsoft.com/office/drawing/2014/main" id="{605BC861-D0D1-38AE-F20E-4A39E9EBB40A}"/>
                </a:ext>
              </a:extLst>
            </p:cNvPr>
            <p:cNvCxnSpPr>
              <a:cxnSpLocks/>
            </p:cNvCxnSpPr>
            <p:nvPr/>
          </p:nvCxnSpPr>
          <p:spPr>
            <a:xfrm>
              <a:off x="5180074" y="5976221"/>
              <a:ext cx="0" cy="7100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239" name="组合 238">
              <a:extLst>
                <a:ext uri="{FF2B5EF4-FFF2-40B4-BE49-F238E27FC236}">
                  <a16:creationId xmlns:a16="http://schemas.microsoft.com/office/drawing/2014/main" id="{D5640EAF-3C87-A1E7-68AB-BB321A93485E}"/>
                </a:ext>
              </a:extLst>
            </p:cNvPr>
            <p:cNvGrpSpPr/>
            <p:nvPr/>
          </p:nvGrpSpPr>
          <p:grpSpPr>
            <a:xfrm>
              <a:off x="474826" y="1383925"/>
              <a:ext cx="7408109" cy="5104378"/>
              <a:chOff x="641265" y="1491836"/>
              <a:chExt cx="7408109" cy="5104378"/>
            </a:xfrm>
          </p:grpSpPr>
          <p:sp>
            <p:nvSpPr>
              <p:cNvPr id="2" name="矩形: 圆角 1">
                <a:extLst>
                  <a:ext uri="{FF2B5EF4-FFF2-40B4-BE49-F238E27FC236}">
                    <a16:creationId xmlns:a16="http://schemas.microsoft.com/office/drawing/2014/main" id="{5DFB0D48-2D86-4297-4975-39720D89A9F9}"/>
                  </a:ext>
                </a:extLst>
              </p:cNvPr>
              <p:cNvSpPr/>
              <p:nvPr/>
            </p:nvSpPr>
            <p:spPr>
              <a:xfrm>
                <a:off x="2553647" y="2286771"/>
                <a:ext cx="5495727" cy="37973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grpSp>
            <p:nvGrpSpPr>
              <p:cNvPr id="3" name="组合 2">
                <a:extLst>
                  <a:ext uri="{FF2B5EF4-FFF2-40B4-BE49-F238E27FC236}">
                    <a16:creationId xmlns:a16="http://schemas.microsoft.com/office/drawing/2014/main" id="{1B6E35DE-DC8A-BB87-8C40-83E6C6262279}"/>
                  </a:ext>
                </a:extLst>
              </p:cNvPr>
              <p:cNvGrpSpPr/>
              <p:nvPr/>
            </p:nvGrpSpPr>
            <p:grpSpPr>
              <a:xfrm>
                <a:off x="3260956" y="2891605"/>
                <a:ext cx="3915341" cy="2041627"/>
                <a:chOff x="5402610" y="3041345"/>
                <a:chExt cx="3915341" cy="2041627"/>
              </a:xfrm>
            </p:grpSpPr>
            <p:sp>
              <p:nvSpPr>
                <p:cNvPr id="9" name="立方体 8">
                  <a:extLst>
                    <a:ext uri="{FF2B5EF4-FFF2-40B4-BE49-F238E27FC236}">
                      <a16:creationId xmlns:a16="http://schemas.microsoft.com/office/drawing/2014/main" id="{77A5068C-69D2-E01E-83EA-049DC83E117F}"/>
                    </a:ext>
                  </a:extLst>
                </p:cNvPr>
                <p:cNvSpPr/>
                <p:nvPr/>
              </p:nvSpPr>
              <p:spPr>
                <a:xfrm>
                  <a:off x="5402610" y="3068592"/>
                  <a:ext cx="973520" cy="854976"/>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sp>
              <p:nvSpPr>
                <p:cNvPr id="11" name="立方体 10">
                  <a:extLst>
                    <a:ext uri="{FF2B5EF4-FFF2-40B4-BE49-F238E27FC236}">
                      <a16:creationId xmlns:a16="http://schemas.microsoft.com/office/drawing/2014/main" id="{1182C156-70CF-FEFE-A2AF-E0004F067022}"/>
                    </a:ext>
                  </a:extLst>
                </p:cNvPr>
                <p:cNvSpPr/>
                <p:nvPr/>
              </p:nvSpPr>
              <p:spPr>
                <a:xfrm>
                  <a:off x="6895793" y="3041345"/>
                  <a:ext cx="973520" cy="854976"/>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sp>
              <p:nvSpPr>
                <p:cNvPr id="40" name="立方体 39">
                  <a:extLst>
                    <a:ext uri="{FF2B5EF4-FFF2-40B4-BE49-F238E27FC236}">
                      <a16:creationId xmlns:a16="http://schemas.microsoft.com/office/drawing/2014/main" id="{FD11DA20-CFAC-6F2D-25F6-E7682C537E77}"/>
                    </a:ext>
                  </a:extLst>
                </p:cNvPr>
                <p:cNvSpPr/>
                <p:nvPr/>
              </p:nvSpPr>
              <p:spPr>
                <a:xfrm>
                  <a:off x="8344431" y="3041345"/>
                  <a:ext cx="973520" cy="854976"/>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sp>
              <p:nvSpPr>
                <p:cNvPr id="41" name="立方体 40">
                  <a:extLst>
                    <a:ext uri="{FF2B5EF4-FFF2-40B4-BE49-F238E27FC236}">
                      <a16:creationId xmlns:a16="http://schemas.microsoft.com/office/drawing/2014/main" id="{4A17FBF1-963F-3689-2BDA-9C938150C2DC}"/>
                    </a:ext>
                  </a:extLst>
                </p:cNvPr>
                <p:cNvSpPr/>
                <p:nvPr/>
              </p:nvSpPr>
              <p:spPr>
                <a:xfrm>
                  <a:off x="5402610" y="4227996"/>
                  <a:ext cx="973520" cy="854976"/>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sp>
              <p:nvSpPr>
                <p:cNvPr id="42" name="立方体 41">
                  <a:extLst>
                    <a:ext uri="{FF2B5EF4-FFF2-40B4-BE49-F238E27FC236}">
                      <a16:creationId xmlns:a16="http://schemas.microsoft.com/office/drawing/2014/main" id="{7974B290-A6FF-AD6E-7078-8FA894E39D94}"/>
                    </a:ext>
                  </a:extLst>
                </p:cNvPr>
                <p:cNvSpPr/>
                <p:nvPr/>
              </p:nvSpPr>
              <p:spPr>
                <a:xfrm>
                  <a:off x="6895793" y="4200749"/>
                  <a:ext cx="973520" cy="854976"/>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sp>
              <p:nvSpPr>
                <p:cNvPr id="43" name="立方体 42">
                  <a:extLst>
                    <a:ext uri="{FF2B5EF4-FFF2-40B4-BE49-F238E27FC236}">
                      <a16:creationId xmlns:a16="http://schemas.microsoft.com/office/drawing/2014/main" id="{CCC38DB3-CC05-81F7-CBBE-6D64F4D734BF}"/>
                    </a:ext>
                  </a:extLst>
                </p:cNvPr>
                <p:cNvSpPr/>
                <p:nvPr/>
              </p:nvSpPr>
              <p:spPr>
                <a:xfrm>
                  <a:off x="8344431" y="4200749"/>
                  <a:ext cx="973520" cy="854976"/>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grpSp>
          <p:grpSp>
            <p:nvGrpSpPr>
              <p:cNvPr id="44" name="组合 43">
                <a:extLst>
                  <a:ext uri="{FF2B5EF4-FFF2-40B4-BE49-F238E27FC236}">
                    <a16:creationId xmlns:a16="http://schemas.microsoft.com/office/drawing/2014/main" id="{3227365A-1F51-90FC-2C99-538DD939A16E}"/>
                  </a:ext>
                </a:extLst>
              </p:cNvPr>
              <p:cNvGrpSpPr/>
              <p:nvPr/>
            </p:nvGrpSpPr>
            <p:grpSpPr>
              <a:xfrm>
                <a:off x="2182633" y="2728082"/>
                <a:ext cx="5478430" cy="2312931"/>
                <a:chOff x="4141051" y="3013648"/>
                <a:chExt cx="7131215" cy="3040165"/>
              </a:xfrm>
            </p:grpSpPr>
            <p:grpSp>
              <p:nvGrpSpPr>
                <p:cNvPr id="48" name="组合 47">
                  <a:extLst>
                    <a:ext uri="{FF2B5EF4-FFF2-40B4-BE49-F238E27FC236}">
                      <a16:creationId xmlns:a16="http://schemas.microsoft.com/office/drawing/2014/main" id="{48F94086-BC11-F3F0-00A3-9FBE11BE0DBA}"/>
                    </a:ext>
                  </a:extLst>
                </p:cNvPr>
                <p:cNvGrpSpPr/>
                <p:nvPr/>
              </p:nvGrpSpPr>
              <p:grpSpPr>
                <a:xfrm>
                  <a:off x="4141051" y="3406070"/>
                  <a:ext cx="2527014" cy="1123799"/>
                  <a:chOff x="4141051" y="3406070"/>
                  <a:chExt cx="2527014" cy="1123799"/>
                </a:xfrm>
              </p:grpSpPr>
              <p:grpSp>
                <p:nvGrpSpPr>
                  <p:cNvPr id="179" name="组合 178">
                    <a:extLst>
                      <a:ext uri="{FF2B5EF4-FFF2-40B4-BE49-F238E27FC236}">
                        <a16:creationId xmlns:a16="http://schemas.microsoft.com/office/drawing/2014/main" id="{1FDD4C5B-5808-AF41-50F4-D80C1F3EE445}"/>
                      </a:ext>
                    </a:extLst>
                  </p:cNvPr>
                  <p:cNvGrpSpPr/>
                  <p:nvPr/>
                </p:nvGrpSpPr>
                <p:grpSpPr>
                  <a:xfrm>
                    <a:off x="5400844" y="3406070"/>
                    <a:ext cx="1267221" cy="1123799"/>
                    <a:chOff x="5400844" y="3406070"/>
                    <a:chExt cx="1267221" cy="1123799"/>
                  </a:xfrm>
                </p:grpSpPr>
                <p:sp>
                  <p:nvSpPr>
                    <p:cNvPr id="181" name="立方体 180">
                      <a:extLst>
                        <a:ext uri="{FF2B5EF4-FFF2-40B4-BE49-F238E27FC236}">
                          <a16:creationId xmlns:a16="http://schemas.microsoft.com/office/drawing/2014/main" id="{A5446C8B-59E8-28A5-8E0B-5064E65F4A51}"/>
                        </a:ext>
                      </a:extLst>
                    </p:cNvPr>
                    <p:cNvSpPr/>
                    <p:nvPr/>
                  </p:nvSpPr>
                  <p:spPr>
                    <a:xfrm>
                      <a:off x="5400844" y="3406070"/>
                      <a:ext cx="1267221" cy="1123799"/>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grpSp>
                  <p:nvGrpSpPr>
                    <p:cNvPr id="182" name="组合 181">
                      <a:extLst>
                        <a:ext uri="{FF2B5EF4-FFF2-40B4-BE49-F238E27FC236}">
                          <a16:creationId xmlns:a16="http://schemas.microsoft.com/office/drawing/2014/main" id="{1B6AF7BE-909C-39EE-4F59-EC3B6F7F1ED1}"/>
                        </a:ext>
                      </a:extLst>
                    </p:cNvPr>
                    <p:cNvGrpSpPr/>
                    <p:nvPr/>
                  </p:nvGrpSpPr>
                  <p:grpSpPr>
                    <a:xfrm>
                      <a:off x="5476608" y="3773476"/>
                      <a:ext cx="581817" cy="331211"/>
                      <a:chOff x="7224637" y="3388229"/>
                      <a:chExt cx="581817" cy="331211"/>
                    </a:xfrm>
                  </p:grpSpPr>
                  <p:sp>
                    <p:nvSpPr>
                      <p:cNvPr id="190" name="椭圆 189">
                        <a:extLst>
                          <a:ext uri="{FF2B5EF4-FFF2-40B4-BE49-F238E27FC236}">
                            <a16:creationId xmlns:a16="http://schemas.microsoft.com/office/drawing/2014/main" id="{2A0CD427-E8E4-38EA-2CC6-51163AC490C0}"/>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191" name="组合 190">
                        <a:extLst>
                          <a:ext uri="{FF2B5EF4-FFF2-40B4-BE49-F238E27FC236}">
                            <a16:creationId xmlns:a16="http://schemas.microsoft.com/office/drawing/2014/main" id="{C52E72CB-7A95-5915-BE54-6918E4BE832E}"/>
                          </a:ext>
                        </a:extLst>
                      </p:cNvPr>
                      <p:cNvGrpSpPr/>
                      <p:nvPr/>
                    </p:nvGrpSpPr>
                    <p:grpSpPr>
                      <a:xfrm>
                        <a:off x="7576336" y="3388229"/>
                        <a:ext cx="230118" cy="331211"/>
                        <a:chOff x="7576336" y="3388229"/>
                        <a:chExt cx="230118" cy="331211"/>
                      </a:xfrm>
                    </p:grpSpPr>
                    <p:sp>
                      <p:nvSpPr>
                        <p:cNvPr id="193" name="矩形 192">
                          <a:extLst>
                            <a:ext uri="{FF2B5EF4-FFF2-40B4-BE49-F238E27FC236}">
                              <a16:creationId xmlns:a16="http://schemas.microsoft.com/office/drawing/2014/main" id="{8385CB0D-3967-A520-D2ED-AB1251B78E70}"/>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4" name="等腰三角形 193">
                          <a:extLst>
                            <a:ext uri="{FF2B5EF4-FFF2-40B4-BE49-F238E27FC236}">
                              <a16:creationId xmlns:a16="http://schemas.microsoft.com/office/drawing/2014/main" id="{C6A55231-9D8F-9E85-5A6B-789DCEACA2D9}"/>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92" name="直接箭头连接符 191">
                        <a:extLst>
                          <a:ext uri="{FF2B5EF4-FFF2-40B4-BE49-F238E27FC236}">
                            <a16:creationId xmlns:a16="http://schemas.microsoft.com/office/drawing/2014/main" id="{0F33BBF3-5A82-DA76-320E-705975CDD84E}"/>
                          </a:ext>
                        </a:extLst>
                      </p:cNvPr>
                      <p:cNvCxnSpPr>
                        <a:cxnSpLocks/>
                        <a:endCxn id="194"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183" name="组合 182">
                      <a:extLst>
                        <a:ext uri="{FF2B5EF4-FFF2-40B4-BE49-F238E27FC236}">
                          <a16:creationId xmlns:a16="http://schemas.microsoft.com/office/drawing/2014/main" id="{D5249AA3-6FC4-130F-70BF-62CC15D6194D}"/>
                        </a:ext>
                      </a:extLst>
                    </p:cNvPr>
                    <p:cNvGrpSpPr/>
                    <p:nvPr/>
                  </p:nvGrpSpPr>
                  <p:grpSpPr>
                    <a:xfrm rot="5400000">
                      <a:off x="5967328" y="3939081"/>
                      <a:ext cx="581817" cy="331211"/>
                      <a:chOff x="7224637" y="3388229"/>
                      <a:chExt cx="581817" cy="331211"/>
                    </a:xfrm>
                  </p:grpSpPr>
                  <p:sp>
                    <p:nvSpPr>
                      <p:cNvPr id="185" name="椭圆 184">
                        <a:extLst>
                          <a:ext uri="{FF2B5EF4-FFF2-40B4-BE49-F238E27FC236}">
                            <a16:creationId xmlns:a16="http://schemas.microsoft.com/office/drawing/2014/main" id="{8718BBDF-EA94-DA0E-5191-40C7E7CB9EEA}"/>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cs typeface="Times New Roman" panose="02020603050405020304" pitchFamily="18" charset="0"/>
                          </a:rPr>
                          <a:t>＋</a:t>
                        </a:r>
                      </a:p>
                    </p:txBody>
                  </p:sp>
                  <p:grpSp>
                    <p:nvGrpSpPr>
                      <p:cNvPr id="186" name="组合 185">
                        <a:extLst>
                          <a:ext uri="{FF2B5EF4-FFF2-40B4-BE49-F238E27FC236}">
                            <a16:creationId xmlns:a16="http://schemas.microsoft.com/office/drawing/2014/main" id="{36C62118-FF8F-01D6-418D-3D18301D2A39}"/>
                          </a:ext>
                        </a:extLst>
                      </p:cNvPr>
                      <p:cNvGrpSpPr/>
                      <p:nvPr/>
                    </p:nvGrpSpPr>
                    <p:grpSpPr>
                      <a:xfrm>
                        <a:off x="7576336" y="3388229"/>
                        <a:ext cx="230118" cy="331211"/>
                        <a:chOff x="7576336" y="3388229"/>
                        <a:chExt cx="230118" cy="331211"/>
                      </a:xfrm>
                    </p:grpSpPr>
                    <p:sp>
                      <p:nvSpPr>
                        <p:cNvPr id="188" name="矩形 187">
                          <a:extLst>
                            <a:ext uri="{FF2B5EF4-FFF2-40B4-BE49-F238E27FC236}">
                              <a16:creationId xmlns:a16="http://schemas.microsoft.com/office/drawing/2014/main" id="{301C137C-D83E-1F37-9A0E-D9025DAC63E0}"/>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9" name="等腰三角形 188">
                          <a:extLst>
                            <a:ext uri="{FF2B5EF4-FFF2-40B4-BE49-F238E27FC236}">
                              <a16:creationId xmlns:a16="http://schemas.microsoft.com/office/drawing/2014/main" id="{3159BA1D-16FC-F861-FE9A-EB0D0B32404B}"/>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87" name="直接箭头连接符 186">
                        <a:extLst>
                          <a:ext uri="{FF2B5EF4-FFF2-40B4-BE49-F238E27FC236}">
                            <a16:creationId xmlns:a16="http://schemas.microsoft.com/office/drawing/2014/main" id="{FD327D7B-E541-5DE5-77C8-DE71CC92AC0A}"/>
                          </a:ext>
                        </a:extLst>
                      </p:cNvPr>
                      <p:cNvCxnSpPr>
                        <a:cxnSpLocks/>
                        <a:endCxn id="189"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84" name="直接箭头连接符 183">
                      <a:extLst>
                        <a:ext uri="{FF2B5EF4-FFF2-40B4-BE49-F238E27FC236}">
                          <a16:creationId xmlns:a16="http://schemas.microsoft.com/office/drawing/2014/main" id="{7F51A4F5-BD04-5036-14A4-C1E9D59DDBFC}"/>
                        </a:ext>
                      </a:extLst>
                    </p:cNvPr>
                    <p:cNvCxnSpPr>
                      <a:cxnSpLocks/>
                      <a:stCxn id="193" idx="3"/>
                      <a:endCxn id="185" idx="4"/>
                    </p:cNvCxnSpPr>
                    <p:nvPr/>
                  </p:nvCxnSpPr>
                  <p:spPr>
                    <a:xfrm>
                      <a:off x="6058425" y="3939082"/>
                      <a:ext cx="113416" cy="696"/>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80" name="直接箭头连接符 179">
                    <a:extLst>
                      <a:ext uri="{FF2B5EF4-FFF2-40B4-BE49-F238E27FC236}">
                        <a16:creationId xmlns:a16="http://schemas.microsoft.com/office/drawing/2014/main" id="{66A8CED6-6579-6BD2-86B9-F91BFDEA6FBC}"/>
                      </a:ext>
                    </a:extLst>
                  </p:cNvPr>
                  <p:cNvCxnSpPr>
                    <a:cxnSpLocks/>
                  </p:cNvCxnSpPr>
                  <p:nvPr/>
                </p:nvCxnSpPr>
                <p:spPr>
                  <a:xfrm>
                    <a:off x="4141051" y="3897114"/>
                    <a:ext cx="1335557" cy="0"/>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sp>
              <p:nvSpPr>
                <p:cNvPr id="49" name="文本框 48">
                  <a:extLst>
                    <a:ext uri="{FF2B5EF4-FFF2-40B4-BE49-F238E27FC236}">
                      <a16:creationId xmlns:a16="http://schemas.microsoft.com/office/drawing/2014/main" id="{FDAB843C-671E-84AF-7FCD-DC501E1C3A4C}"/>
                    </a:ext>
                  </a:extLst>
                </p:cNvPr>
                <p:cNvSpPr txBox="1"/>
                <p:nvPr/>
              </p:nvSpPr>
              <p:spPr>
                <a:xfrm>
                  <a:off x="4677195" y="3615967"/>
                  <a:ext cx="720300" cy="364093"/>
                </a:xfrm>
                <a:prstGeom prst="rect">
                  <a:avLst/>
                </a:prstGeom>
                <a:noFill/>
              </p:spPr>
              <p:txBody>
                <a:bodyPr wrap="none" rtlCol="0">
                  <a:spAutoFit/>
                </a:bodyPr>
                <a:lstStyle/>
                <a:p>
                  <a:pPr algn="ctr"/>
                  <a:r>
                    <a:rPr lang="en-US" altLang="zh-CN" sz="1200" dirty="0">
                      <a:latin typeface="Times New Roman" panose="02020603050405020304" pitchFamily="18" charset="0"/>
                      <a:cs typeface="Times New Roman" panose="02020603050405020304" pitchFamily="18" charset="0"/>
                    </a:rPr>
                    <a:t>Data0</a:t>
                  </a:r>
                  <a:endParaRPr lang="zh-CN" altLang="en-US" sz="1200" dirty="0">
                    <a:latin typeface="Times New Roman" panose="02020603050405020304" pitchFamily="18" charset="0"/>
                    <a:cs typeface="Times New Roman" panose="02020603050405020304" pitchFamily="18" charset="0"/>
                  </a:endParaRPr>
                </a:p>
              </p:txBody>
            </p:sp>
            <p:grpSp>
              <p:nvGrpSpPr>
                <p:cNvPr id="50" name="组合 49">
                  <a:extLst>
                    <a:ext uri="{FF2B5EF4-FFF2-40B4-BE49-F238E27FC236}">
                      <a16:creationId xmlns:a16="http://schemas.microsoft.com/office/drawing/2014/main" id="{2F5FF97A-237F-B81F-11B5-3E1A11EA396C}"/>
                    </a:ext>
                  </a:extLst>
                </p:cNvPr>
                <p:cNvGrpSpPr/>
                <p:nvPr/>
              </p:nvGrpSpPr>
              <p:grpSpPr>
                <a:xfrm>
                  <a:off x="6784626" y="3013648"/>
                  <a:ext cx="230118" cy="331211"/>
                  <a:chOff x="6808261" y="3616302"/>
                  <a:chExt cx="230118" cy="331211"/>
                </a:xfrm>
              </p:grpSpPr>
              <p:sp>
                <p:nvSpPr>
                  <p:cNvPr id="177" name="矩形 176">
                    <a:extLst>
                      <a:ext uri="{FF2B5EF4-FFF2-40B4-BE49-F238E27FC236}">
                        <a16:creationId xmlns:a16="http://schemas.microsoft.com/office/drawing/2014/main" id="{A20FF63F-5C05-E608-AFBE-D9873ADE16BA}"/>
                      </a:ext>
                    </a:extLst>
                  </p:cNvPr>
                  <p:cNvSpPr/>
                  <p:nvPr/>
                </p:nvSpPr>
                <p:spPr>
                  <a:xfrm>
                    <a:off x="6808261" y="3616302"/>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8" name="等腰三角形 177">
                    <a:extLst>
                      <a:ext uri="{FF2B5EF4-FFF2-40B4-BE49-F238E27FC236}">
                        <a16:creationId xmlns:a16="http://schemas.microsoft.com/office/drawing/2014/main" id="{1F1FC4E3-B86E-A412-AACA-C1318E73520B}"/>
                      </a:ext>
                    </a:extLst>
                  </p:cNvPr>
                  <p:cNvSpPr/>
                  <p:nvPr/>
                </p:nvSpPr>
                <p:spPr>
                  <a:xfrm rot="5400000">
                    <a:off x="6792644" y="3685571"/>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51" name="直接箭头连接符 50">
                  <a:extLst>
                    <a:ext uri="{FF2B5EF4-FFF2-40B4-BE49-F238E27FC236}">
                      <a16:creationId xmlns:a16="http://schemas.microsoft.com/office/drawing/2014/main" id="{3CA6A7C3-7C4D-C2A1-9851-E06C17F374BA}"/>
                    </a:ext>
                  </a:extLst>
                </p:cNvPr>
                <p:cNvCxnSpPr>
                  <a:cxnSpLocks/>
                  <a:endCxn id="178" idx="3"/>
                </p:cNvCxnSpPr>
                <p:nvPr/>
              </p:nvCxnSpPr>
              <p:spPr>
                <a:xfrm>
                  <a:off x="5289550" y="3137721"/>
                  <a:ext cx="1495076" cy="0"/>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584FBAF2-E079-A116-3257-76B01BA71316}"/>
                    </a:ext>
                  </a:extLst>
                </p:cNvPr>
                <p:cNvCxnSpPr>
                  <a:cxnSpLocks/>
                </p:cNvCxnSpPr>
                <p:nvPr/>
              </p:nvCxnSpPr>
              <p:spPr>
                <a:xfrm flipV="1">
                  <a:off x="5289550" y="3137721"/>
                  <a:ext cx="0" cy="759393"/>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4C682E52-2AC4-B12E-737B-94002E4D6516}"/>
                    </a:ext>
                  </a:extLst>
                </p:cNvPr>
                <p:cNvCxnSpPr>
                  <a:cxnSpLocks/>
                </p:cNvCxnSpPr>
                <p:nvPr/>
              </p:nvCxnSpPr>
              <p:spPr>
                <a:xfrm flipV="1">
                  <a:off x="7190779" y="3137721"/>
                  <a:ext cx="0" cy="723579"/>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23527DCF-9649-9B4F-AB58-CCE691ACA170}"/>
                    </a:ext>
                  </a:extLst>
                </p:cNvPr>
                <p:cNvCxnSpPr>
                  <a:cxnSpLocks/>
                  <a:endCxn id="177" idx="3"/>
                </p:cNvCxnSpPr>
                <p:nvPr/>
              </p:nvCxnSpPr>
              <p:spPr>
                <a:xfrm flipH="1">
                  <a:off x="7014744" y="3179254"/>
                  <a:ext cx="176035" cy="0"/>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grpSp>
              <p:nvGrpSpPr>
                <p:cNvPr id="57" name="组合 56">
                  <a:extLst>
                    <a:ext uri="{FF2B5EF4-FFF2-40B4-BE49-F238E27FC236}">
                      <a16:creationId xmlns:a16="http://schemas.microsoft.com/office/drawing/2014/main" id="{E55BE888-6FF4-4A4E-F2BF-1FE4468DDF58}"/>
                    </a:ext>
                  </a:extLst>
                </p:cNvPr>
                <p:cNvGrpSpPr/>
                <p:nvPr/>
              </p:nvGrpSpPr>
              <p:grpSpPr>
                <a:xfrm>
                  <a:off x="7190779" y="3370256"/>
                  <a:ext cx="1420946" cy="1123799"/>
                  <a:chOff x="5247119" y="3406070"/>
                  <a:chExt cx="1420946" cy="1123799"/>
                </a:xfrm>
              </p:grpSpPr>
              <p:grpSp>
                <p:nvGrpSpPr>
                  <p:cNvPr id="161" name="组合 160">
                    <a:extLst>
                      <a:ext uri="{FF2B5EF4-FFF2-40B4-BE49-F238E27FC236}">
                        <a16:creationId xmlns:a16="http://schemas.microsoft.com/office/drawing/2014/main" id="{43CA1419-E84D-D919-EBCF-6C8FD3282510}"/>
                      </a:ext>
                    </a:extLst>
                  </p:cNvPr>
                  <p:cNvGrpSpPr/>
                  <p:nvPr/>
                </p:nvGrpSpPr>
                <p:grpSpPr>
                  <a:xfrm>
                    <a:off x="5400844" y="3406070"/>
                    <a:ext cx="1267221" cy="1123799"/>
                    <a:chOff x="5400844" y="3406070"/>
                    <a:chExt cx="1267221" cy="1123799"/>
                  </a:xfrm>
                </p:grpSpPr>
                <p:sp>
                  <p:nvSpPr>
                    <p:cNvPr id="163" name="立方体 162">
                      <a:extLst>
                        <a:ext uri="{FF2B5EF4-FFF2-40B4-BE49-F238E27FC236}">
                          <a16:creationId xmlns:a16="http://schemas.microsoft.com/office/drawing/2014/main" id="{40458A95-94B2-5FC4-4A90-5C12C2A75569}"/>
                        </a:ext>
                      </a:extLst>
                    </p:cNvPr>
                    <p:cNvSpPr/>
                    <p:nvPr/>
                  </p:nvSpPr>
                  <p:spPr>
                    <a:xfrm>
                      <a:off x="5400844" y="3406070"/>
                      <a:ext cx="1267221" cy="1123799"/>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grpSp>
                  <p:nvGrpSpPr>
                    <p:cNvPr id="164" name="组合 163">
                      <a:extLst>
                        <a:ext uri="{FF2B5EF4-FFF2-40B4-BE49-F238E27FC236}">
                          <a16:creationId xmlns:a16="http://schemas.microsoft.com/office/drawing/2014/main" id="{9A107A65-5390-1B50-F70A-6501798FB33E}"/>
                        </a:ext>
                      </a:extLst>
                    </p:cNvPr>
                    <p:cNvGrpSpPr/>
                    <p:nvPr/>
                  </p:nvGrpSpPr>
                  <p:grpSpPr>
                    <a:xfrm>
                      <a:off x="5476608" y="3773476"/>
                      <a:ext cx="581817" cy="331211"/>
                      <a:chOff x="7224637" y="3388229"/>
                      <a:chExt cx="581817" cy="331211"/>
                    </a:xfrm>
                  </p:grpSpPr>
                  <p:sp>
                    <p:nvSpPr>
                      <p:cNvPr id="172" name="椭圆 171">
                        <a:extLst>
                          <a:ext uri="{FF2B5EF4-FFF2-40B4-BE49-F238E27FC236}">
                            <a16:creationId xmlns:a16="http://schemas.microsoft.com/office/drawing/2014/main" id="{B60CCAFA-C085-6CD0-B757-AED1E912FA96}"/>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173" name="组合 172">
                        <a:extLst>
                          <a:ext uri="{FF2B5EF4-FFF2-40B4-BE49-F238E27FC236}">
                            <a16:creationId xmlns:a16="http://schemas.microsoft.com/office/drawing/2014/main" id="{EA6C7BF3-39E3-7513-F646-4B061F955219}"/>
                          </a:ext>
                        </a:extLst>
                      </p:cNvPr>
                      <p:cNvGrpSpPr/>
                      <p:nvPr/>
                    </p:nvGrpSpPr>
                    <p:grpSpPr>
                      <a:xfrm>
                        <a:off x="7576336" y="3388229"/>
                        <a:ext cx="230118" cy="331211"/>
                        <a:chOff x="7576336" y="3388229"/>
                        <a:chExt cx="230118" cy="331211"/>
                      </a:xfrm>
                    </p:grpSpPr>
                    <p:sp>
                      <p:nvSpPr>
                        <p:cNvPr id="175" name="矩形 174">
                          <a:extLst>
                            <a:ext uri="{FF2B5EF4-FFF2-40B4-BE49-F238E27FC236}">
                              <a16:creationId xmlns:a16="http://schemas.microsoft.com/office/drawing/2014/main" id="{D899822D-4C62-E937-1B17-A95BC37DB1F0}"/>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6" name="等腰三角形 175">
                          <a:extLst>
                            <a:ext uri="{FF2B5EF4-FFF2-40B4-BE49-F238E27FC236}">
                              <a16:creationId xmlns:a16="http://schemas.microsoft.com/office/drawing/2014/main" id="{F50B53B9-60E6-E12C-FC17-663B9CB820FA}"/>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74" name="直接箭头连接符 173">
                        <a:extLst>
                          <a:ext uri="{FF2B5EF4-FFF2-40B4-BE49-F238E27FC236}">
                            <a16:creationId xmlns:a16="http://schemas.microsoft.com/office/drawing/2014/main" id="{CBD04903-775B-CC0D-8800-FA00F4A6D1E5}"/>
                          </a:ext>
                        </a:extLst>
                      </p:cNvPr>
                      <p:cNvCxnSpPr>
                        <a:cxnSpLocks/>
                        <a:endCxn id="176"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165" name="组合 164">
                      <a:extLst>
                        <a:ext uri="{FF2B5EF4-FFF2-40B4-BE49-F238E27FC236}">
                          <a16:creationId xmlns:a16="http://schemas.microsoft.com/office/drawing/2014/main" id="{3579A9DC-6549-3A34-22CE-078242EF6FD1}"/>
                        </a:ext>
                      </a:extLst>
                    </p:cNvPr>
                    <p:cNvGrpSpPr/>
                    <p:nvPr/>
                  </p:nvGrpSpPr>
                  <p:grpSpPr>
                    <a:xfrm rot="5400000">
                      <a:off x="5967328" y="3939081"/>
                      <a:ext cx="581817" cy="331211"/>
                      <a:chOff x="7224637" y="3388229"/>
                      <a:chExt cx="581817" cy="331211"/>
                    </a:xfrm>
                  </p:grpSpPr>
                  <p:sp>
                    <p:nvSpPr>
                      <p:cNvPr id="167" name="椭圆 166">
                        <a:extLst>
                          <a:ext uri="{FF2B5EF4-FFF2-40B4-BE49-F238E27FC236}">
                            <a16:creationId xmlns:a16="http://schemas.microsoft.com/office/drawing/2014/main" id="{1202B7F4-34F2-24C7-46F3-CD2C5316A318}"/>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cs typeface="Times New Roman" panose="02020603050405020304" pitchFamily="18" charset="0"/>
                          </a:rPr>
                          <a:t>＋</a:t>
                        </a:r>
                      </a:p>
                    </p:txBody>
                  </p:sp>
                  <p:grpSp>
                    <p:nvGrpSpPr>
                      <p:cNvPr id="168" name="组合 167">
                        <a:extLst>
                          <a:ext uri="{FF2B5EF4-FFF2-40B4-BE49-F238E27FC236}">
                            <a16:creationId xmlns:a16="http://schemas.microsoft.com/office/drawing/2014/main" id="{6472F694-B6E3-3526-B391-5EB4EFD6DA7C}"/>
                          </a:ext>
                        </a:extLst>
                      </p:cNvPr>
                      <p:cNvGrpSpPr/>
                      <p:nvPr/>
                    </p:nvGrpSpPr>
                    <p:grpSpPr>
                      <a:xfrm>
                        <a:off x="7576336" y="3388229"/>
                        <a:ext cx="230118" cy="331211"/>
                        <a:chOff x="7576336" y="3388229"/>
                        <a:chExt cx="230118" cy="331211"/>
                      </a:xfrm>
                    </p:grpSpPr>
                    <p:sp>
                      <p:nvSpPr>
                        <p:cNvPr id="170" name="矩形 169">
                          <a:extLst>
                            <a:ext uri="{FF2B5EF4-FFF2-40B4-BE49-F238E27FC236}">
                              <a16:creationId xmlns:a16="http://schemas.microsoft.com/office/drawing/2014/main" id="{9DF1E237-2BC3-BCD9-1131-B5CE07D3A6F0}"/>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1" name="等腰三角形 170">
                          <a:extLst>
                            <a:ext uri="{FF2B5EF4-FFF2-40B4-BE49-F238E27FC236}">
                              <a16:creationId xmlns:a16="http://schemas.microsoft.com/office/drawing/2014/main" id="{0FF45A77-BC35-E204-9702-B5DA22D9F713}"/>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69" name="直接箭头连接符 168">
                        <a:extLst>
                          <a:ext uri="{FF2B5EF4-FFF2-40B4-BE49-F238E27FC236}">
                            <a16:creationId xmlns:a16="http://schemas.microsoft.com/office/drawing/2014/main" id="{423074E4-A364-D3A9-4664-2A557EE2F5B1}"/>
                          </a:ext>
                        </a:extLst>
                      </p:cNvPr>
                      <p:cNvCxnSpPr>
                        <a:cxnSpLocks/>
                        <a:endCxn id="171"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66" name="直接箭头连接符 165">
                      <a:extLst>
                        <a:ext uri="{FF2B5EF4-FFF2-40B4-BE49-F238E27FC236}">
                          <a16:creationId xmlns:a16="http://schemas.microsoft.com/office/drawing/2014/main" id="{396E1BC2-5E74-74D4-1EC7-2B9369BE95CF}"/>
                        </a:ext>
                      </a:extLst>
                    </p:cNvPr>
                    <p:cNvCxnSpPr>
                      <a:cxnSpLocks/>
                      <a:stCxn id="175" idx="3"/>
                      <a:endCxn id="167" idx="4"/>
                    </p:cNvCxnSpPr>
                    <p:nvPr/>
                  </p:nvCxnSpPr>
                  <p:spPr>
                    <a:xfrm>
                      <a:off x="6058425" y="3939082"/>
                      <a:ext cx="113416" cy="696"/>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62" name="直接箭头连接符 161">
                    <a:extLst>
                      <a:ext uri="{FF2B5EF4-FFF2-40B4-BE49-F238E27FC236}">
                        <a16:creationId xmlns:a16="http://schemas.microsoft.com/office/drawing/2014/main" id="{40BCFBFC-618D-9840-8087-22FC99D457E0}"/>
                      </a:ext>
                    </a:extLst>
                  </p:cNvPr>
                  <p:cNvCxnSpPr>
                    <a:cxnSpLocks/>
                  </p:cNvCxnSpPr>
                  <p:nvPr/>
                </p:nvCxnSpPr>
                <p:spPr>
                  <a:xfrm flipV="1">
                    <a:off x="5247119" y="3897114"/>
                    <a:ext cx="229489" cy="435"/>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58" name="组合 57">
                  <a:extLst>
                    <a:ext uri="{FF2B5EF4-FFF2-40B4-BE49-F238E27FC236}">
                      <a16:creationId xmlns:a16="http://schemas.microsoft.com/office/drawing/2014/main" id="{C89C5456-5440-3A01-79A3-A6D67382C12C}"/>
                    </a:ext>
                  </a:extLst>
                </p:cNvPr>
                <p:cNvGrpSpPr/>
                <p:nvPr/>
              </p:nvGrpSpPr>
              <p:grpSpPr>
                <a:xfrm>
                  <a:off x="8670304" y="3013648"/>
                  <a:ext cx="230118" cy="331211"/>
                  <a:chOff x="6808261" y="3616302"/>
                  <a:chExt cx="230118" cy="331211"/>
                </a:xfrm>
              </p:grpSpPr>
              <p:sp>
                <p:nvSpPr>
                  <p:cNvPr id="159" name="矩形 158">
                    <a:extLst>
                      <a:ext uri="{FF2B5EF4-FFF2-40B4-BE49-F238E27FC236}">
                        <a16:creationId xmlns:a16="http://schemas.microsoft.com/office/drawing/2014/main" id="{DAA3C484-044C-2251-AC54-DF3E01846674}"/>
                      </a:ext>
                    </a:extLst>
                  </p:cNvPr>
                  <p:cNvSpPr/>
                  <p:nvPr/>
                </p:nvSpPr>
                <p:spPr>
                  <a:xfrm>
                    <a:off x="6808261" y="3616302"/>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0" name="等腰三角形 159">
                    <a:extLst>
                      <a:ext uri="{FF2B5EF4-FFF2-40B4-BE49-F238E27FC236}">
                        <a16:creationId xmlns:a16="http://schemas.microsoft.com/office/drawing/2014/main" id="{369441F8-908C-EBFB-4D50-365956F8BEEE}"/>
                      </a:ext>
                    </a:extLst>
                  </p:cNvPr>
                  <p:cNvSpPr/>
                  <p:nvPr/>
                </p:nvSpPr>
                <p:spPr>
                  <a:xfrm rot="5400000">
                    <a:off x="6792644" y="3685571"/>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60" name="直接箭头连接符 59">
                  <a:extLst>
                    <a:ext uri="{FF2B5EF4-FFF2-40B4-BE49-F238E27FC236}">
                      <a16:creationId xmlns:a16="http://schemas.microsoft.com/office/drawing/2014/main" id="{403CDA0D-61F0-E291-A749-CDF03C8FE6F9}"/>
                    </a:ext>
                  </a:extLst>
                </p:cNvPr>
                <p:cNvCxnSpPr>
                  <a:cxnSpLocks/>
                  <a:endCxn id="160" idx="3"/>
                </p:cNvCxnSpPr>
                <p:nvPr/>
              </p:nvCxnSpPr>
              <p:spPr>
                <a:xfrm>
                  <a:off x="7190779" y="3137721"/>
                  <a:ext cx="1479525" cy="0"/>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1F128E09-30B5-A64B-C768-4C76FF97BED0}"/>
                    </a:ext>
                  </a:extLst>
                </p:cNvPr>
                <p:cNvCxnSpPr>
                  <a:cxnSpLocks/>
                </p:cNvCxnSpPr>
                <p:nvPr/>
              </p:nvCxnSpPr>
              <p:spPr>
                <a:xfrm flipV="1">
                  <a:off x="9076457" y="3179254"/>
                  <a:ext cx="0" cy="682046"/>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92015516-2A05-B24F-962E-206E4518B844}"/>
                    </a:ext>
                  </a:extLst>
                </p:cNvPr>
                <p:cNvCxnSpPr>
                  <a:cxnSpLocks/>
                  <a:endCxn id="159" idx="3"/>
                </p:cNvCxnSpPr>
                <p:nvPr/>
              </p:nvCxnSpPr>
              <p:spPr>
                <a:xfrm flipH="1">
                  <a:off x="8900422" y="3179254"/>
                  <a:ext cx="176035" cy="0"/>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grpSp>
              <p:nvGrpSpPr>
                <p:cNvPr id="63" name="组合 62">
                  <a:extLst>
                    <a:ext uri="{FF2B5EF4-FFF2-40B4-BE49-F238E27FC236}">
                      <a16:creationId xmlns:a16="http://schemas.microsoft.com/office/drawing/2014/main" id="{40C23210-3838-B0CD-04F0-A5F0BE1C0D39}"/>
                    </a:ext>
                  </a:extLst>
                </p:cNvPr>
                <p:cNvGrpSpPr/>
                <p:nvPr/>
              </p:nvGrpSpPr>
              <p:grpSpPr>
                <a:xfrm>
                  <a:off x="9076457" y="3370256"/>
                  <a:ext cx="1420946" cy="1123799"/>
                  <a:chOff x="5247119" y="3406070"/>
                  <a:chExt cx="1420946" cy="1123799"/>
                </a:xfrm>
              </p:grpSpPr>
              <p:grpSp>
                <p:nvGrpSpPr>
                  <p:cNvPr id="143" name="组合 142">
                    <a:extLst>
                      <a:ext uri="{FF2B5EF4-FFF2-40B4-BE49-F238E27FC236}">
                        <a16:creationId xmlns:a16="http://schemas.microsoft.com/office/drawing/2014/main" id="{17F46ED4-090A-A3DC-C44B-04BF8F72F2A8}"/>
                      </a:ext>
                    </a:extLst>
                  </p:cNvPr>
                  <p:cNvGrpSpPr/>
                  <p:nvPr/>
                </p:nvGrpSpPr>
                <p:grpSpPr>
                  <a:xfrm>
                    <a:off x="5400844" y="3406070"/>
                    <a:ext cx="1267221" cy="1123799"/>
                    <a:chOff x="5400844" y="3406070"/>
                    <a:chExt cx="1267221" cy="1123799"/>
                  </a:xfrm>
                </p:grpSpPr>
                <p:sp>
                  <p:nvSpPr>
                    <p:cNvPr id="145" name="立方体 144">
                      <a:extLst>
                        <a:ext uri="{FF2B5EF4-FFF2-40B4-BE49-F238E27FC236}">
                          <a16:creationId xmlns:a16="http://schemas.microsoft.com/office/drawing/2014/main" id="{B11C74B2-056A-65C6-BE58-42788FE1B624}"/>
                        </a:ext>
                      </a:extLst>
                    </p:cNvPr>
                    <p:cNvSpPr/>
                    <p:nvPr/>
                  </p:nvSpPr>
                  <p:spPr>
                    <a:xfrm>
                      <a:off x="5400844" y="3406070"/>
                      <a:ext cx="1267221" cy="1123799"/>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grpSp>
                  <p:nvGrpSpPr>
                    <p:cNvPr id="146" name="组合 145">
                      <a:extLst>
                        <a:ext uri="{FF2B5EF4-FFF2-40B4-BE49-F238E27FC236}">
                          <a16:creationId xmlns:a16="http://schemas.microsoft.com/office/drawing/2014/main" id="{47FFF285-68E8-EB08-B41A-DCB9F7C5C002}"/>
                        </a:ext>
                      </a:extLst>
                    </p:cNvPr>
                    <p:cNvGrpSpPr/>
                    <p:nvPr/>
                  </p:nvGrpSpPr>
                  <p:grpSpPr>
                    <a:xfrm>
                      <a:off x="5476608" y="3773476"/>
                      <a:ext cx="581817" cy="331211"/>
                      <a:chOff x="7224637" y="3388229"/>
                      <a:chExt cx="581817" cy="331211"/>
                    </a:xfrm>
                  </p:grpSpPr>
                  <p:sp>
                    <p:nvSpPr>
                      <p:cNvPr id="154" name="椭圆 153">
                        <a:extLst>
                          <a:ext uri="{FF2B5EF4-FFF2-40B4-BE49-F238E27FC236}">
                            <a16:creationId xmlns:a16="http://schemas.microsoft.com/office/drawing/2014/main" id="{D37AD705-DBA3-1884-6FCA-69F59485464B}"/>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155" name="组合 154">
                        <a:extLst>
                          <a:ext uri="{FF2B5EF4-FFF2-40B4-BE49-F238E27FC236}">
                            <a16:creationId xmlns:a16="http://schemas.microsoft.com/office/drawing/2014/main" id="{4F0E7A72-EA81-75F1-B4D6-519A00EA2D61}"/>
                          </a:ext>
                        </a:extLst>
                      </p:cNvPr>
                      <p:cNvGrpSpPr/>
                      <p:nvPr/>
                    </p:nvGrpSpPr>
                    <p:grpSpPr>
                      <a:xfrm>
                        <a:off x="7576336" y="3388229"/>
                        <a:ext cx="230118" cy="331211"/>
                        <a:chOff x="7576336" y="3388229"/>
                        <a:chExt cx="230118" cy="331211"/>
                      </a:xfrm>
                    </p:grpSpPr>
                    <p:sp>
                      <p:nvSpPr>
                        <p:cNvPr id="157" name="矩形 156">
                          <a:extLst>
                            <a:ext uri="{FF2B5EF4-FFF2-40B4-BE49-F238E27FC236}">
                              <a16:creationId xmlns:a16="http://schemas.microsoft.com/office/drawing/2014/main" id="{B35278D4-6855-0EA0-DAC8-B7EC45F8DE05}"/>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8" name="等腰三角形 157">
                          <a:extLst>
                            <a:ext uri="{FF2B5EF4-FFF2-40B4-BE49-F238E27FC236}">
                              <a16:creationId xmlns:a16="http://schemas.microsoft.com/office/drawing/2014/main" id="{BD599CA3-4B94-A6F0-5410-F55897D1BE5B}"/>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56" name="直接箭头连接符 155">
                        <a:extLst>
                          <a:ext uri="{FF2B5EF4-FFF2-40B4-BE49-F238E27FC236}">
                            <a16:creationId xmlns:a16="http://schemas.microsoft.com/office/drawing/2014/main" id="{D7F1F6E3-F4C9-67BD-4D65-C6CB84F0AE0B}"/>
                          </a:ext>
                        </a:extLst>
                      </p:cNvPr>
                      <p:cNvCxnSpPr>
                        <a:cxnSpLocks/>
                        <a:endCxn id="158"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147" name="组合 146">
                      <a:extLst>
                        <a:ext uri="{FF2B5EF4-FFF2-40B4-BE49-F238E27FC236}">
                          <a16:creationId xmlns:a16="http://schemas.microsoft.com/office/drawing/2014/main" id="{7A82CE1C-6E5B-88C9-4175-E66037B0C17C}"/>
                        </a:ext>
                      </a:extLst>
                    </p:cNvPr>
                    <p:cNvGrpSpPr/>
                    <p:nvPr/>
                  </p:nvGrpSpPr>
                  <p:grpSpPr>
                    <a:xfrm rot="5400000">
                      <a:off x="5967328" y="3939081"/>
                      <a:ext cx="581817" cy="331211"/>
                      <a:chOff x="7224637" y="3388229"/>
                      <a:chExt cx="581817" cy="331211"/>
                    </a:xfrm>
                  </p:grpSpPr>
                  <p:sp>
                    <p:nvSpPr>
                      <p:cNvPr id="149" name="椭圆 148">
                        <a:extLst>
                          <a:ext uri="{FF2B5EF4-FFF2-40B4-BE49-F238E27FC236}">
                            <a16:creationId xmlns:a16="http://schemas.microsoft.com/office/drawing/2014/main" id="{A6C07E78-6FFA-2D8D-A059-1150A1FD1182}"/>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cs typeface="Times New Roman" panose="02020603050405020304" pitchFamily="18" charset="0"/>
                          </a:rPr>
                          <a:t>＋</a:t>
                        </a:r>
                      </a:p>
                    </p:txBody>
                  </p:sp>
                  <p:grpSp>
                    <p:nvGrpSpPr>
                      <p:cNvPr id="150" name="组合 149">
                        <a:extLst>
                          <a:ext uri="{FF2B5EF4-FFF2-40B4-BE49-F238E27FC236}">
                            <a16:creationId xmlns:a16="http://schemas.microsoft.com/office/drawing/2014/main" id="{86470775-9276-D07C-4BB0-032E797F88F0}"/>
                          </a:ext>
                        </a:extLst>
                      </p:cNvPr>
                      <p:cNvGrpSpPr/>
                      <p:nvPr/>
                    </p:nvGrpSpPr>
                    <p:grpSpPr>
                      <a:xfrm>
                        <a:off x="7576336" y="3388229"/>
                        <a:ext cx="230118" cy="331211"/>
                        <a:chOff x="7576336" y="3388229"/>
                        <a:chExt cx="230118" cy="331211"/>
                      </a:xfrm>
                    </p:grpSpPr>
                    <p:sp>
                      <p:nvSpPr>
                        <p:cNvPr id="152" name="矩形 151">
                          <a:extLst>
                            <a:ext uri="{FF2B5EF4-FFF2-40B4-BE49-F238E27FC236}">
                              <a16:creationId xmlns:a16="http://schemas.microsoft.com/office/drawing/2014/main" id="{7214C20F-A73B-9E0D-D681-FA7CAC456B24}"/>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3" name="等腰三角形 152">
                          <a:extLst>
                            <a:ext uri="{FF2B5EF4-FFF2-40B4-BE49-F238E27FC236}">
                              <a16:creationId xmlns:a16="http://schemas.microsoft.com/office/drawing/2014/main" id="{2E28E051-3B2D-4864-291B-2B94FC74F2A3}"/>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51" name="直接箭头连接符 150">
                        <a:extLst>
                          <a:ext uri="{FF2B5EF4-FFF2-40B4-BE49-F238E27FC236}">
                            <a16:creationId xmlns:a16="http://schemas.microsoft.com/office/drawing/2014/main" id="{68562134-CE64-9F8F-DCD4-40B3EEAB5813}"/>
                          </a:ext>
                        </a:extLst>
                      </p:cNvPr>
                      <p:cNvCxnSpPr>
                        <a:cxnSpLocks/>
                        <a:endCxn id="153"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48" name="直接箭头连接符 147">
                      <a:extLst>
                        <a:ext uri="{FF2B5EF4-FFF2-40B4-BE49-F238E27FC236}">
                          <a16:creationId xmlns:a16="http://schemas.microsoft.com/office/drawing/2014/main" id="{6E6AB659-5DD8-56D7-BFCF-952ADFA7DD34}"/>
                        </a:ext>
                      </a:extLst>
                    </p:cNvPr>
                    <p:cNvCxnSpPr>
                      <a:cxnSpLocks/>
                      <a:stCxn id="157" idx="3"/>
                      <a:endCxn id="149" idx="4"/>
                    </p:cNvCxnSpPr>
                    <p:nvPr/>
                  </p:nvCxnSpPr>
                  <p:spPr>
                    <a:xfrm>
                      <a:off x="6058425" y="3939082"/>
                      <a:ext cx="113416" cy="696"/>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44" name="直接箭头连接符 143">
                    <a:extLst>
                      <a:ext uri="{FF2B5EF4-FFF2-40B4-BE49-F238E27FC236}">
                        <a16:creationId xmlns:a16="http://schemas.microsoft.com/office/drawing/2014/main" id="{BF867392-F69A-EB3A-CAD7-FB87A3A0AEF2}"/>
                      </a:ext>
                    </a:extLst>
                  </p:cNvPr>
                  <p:cNvCxnSpPr>
                    <a:cxnSpLocks/>
                  </p:cNvCxnSpPr>
                  <p:nvPr/>
                </p:nvCxnSpPr>
                <p:spPr>
                  <a:xfrm flipV="1">
                    <a:off x="5247119" y="3897114"/>
                    <a:ext cx="229489" cy="435"/>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sp>
              <p:nvSpPr>
                <p:cNvPr id="64" name="文本框 63">
                  <a:extLst>
                    <a:ext uri="{FF2B5EF4-FFF2-40B4-BE49-F238E27FC236}">
                      <a16:creationId xmlns:a16="http://schemas.microsoft.com/office/drawing/2014/main" id="{F6D3A673-7B6C-A586-5F9A-09345105FB60}"/>
                    </a:ext>
                  </a:extLst>
                </p:cNvPr>
                <p:cNvSpPr txBox="1"/>
                <p:nvPr/>
              </p:nvSpPr>
              <p:spPr>
                <a:xfrm flipH="1">
                  <a:off x="10664820" y="3295799"/>
                  <a:ext cx="590035" cy="930460"/>
                </a:xfrm>
                <a:prstGeom prst="rect">
                  <a:avLst/>
                </a:prstGeom>
                <a:noFill/>
              </p:spPr>
              <p:txBody>
                <a:bodyPr wrap="square" rtlCol="0">
                  <a:spAutoFit/>
                </a:bodyPr>
                <a:lstStyle/>
                <a:p>
                  <a:r>
                    <a:rPr lang="en-US" altLang="zh-CN" sz="4000" b="1">
                      <a:solidFill>
                        <a:schemeClr val="accent1">
                          <a:lumMod val="50000"/>
                        </a:schemeClr>
                      </a:solidFill>
                      <a:latin typeface="Times New Roman" panose="02020603050405020304" pitchFamily="18" charset="0"/>
                      <a:cs typeface="Times New Roman" panose="02020603050405020304" pitchFamily="18" charset="0"/>
                    </a:rPr>
                    <a:t>…</a:t>
                  </a:r>
                  <a:endParaRPr lang="zh-CN" altLang="en-US" sz="4000" b="1" dirty="0">
                    <a:solidFill>
                      <a:schemeClr val="accent1">
                        <a:lumMod val="50000"/>
                      </a:schemeClr>
                    </a:solidFill>
                    <a:latin typeface="Times New Roman" panose="02020603050405020304" pitchFamily="18" charset="0"/>
                    <a:cs typeface="Times New Roman" panose="02020603050405020304" pitchFamily="18" charset="0"/>
                  </a:endParaRPr>
                </a:p>
              </p:txBody>
            </p:sp>
            <p:grpSp>
              <p:nvGrpSpPr>
                <p:cNvPr id="65" name="组合 64">
                  <a:extLst>
                    <a:ext uri="{FF2B5EF4-FFF2-40B4-BE49-F238E27FC236}">
                      <a16:creationId xmlns:a16="http://schemas.microsoft.com/office/drawing/2014/main" id="{88714EDC-72AC-7935-BC7A-64065F62CD66}"/>
                    </a:ext>
                  </a:extLst>
                </p:cNvPr>
                <p:cNvGrpSpPr/>
                <p:nvPr/>
              </p:nvGrpSpPr>
              <p:grpSpPr>
                <a:xfrm>
                  <a:off x="4141051" y="4930014"/>
                  <a:ext cx="2527014" cy="1123799"/>
                  <a:chOff x="4141051" y="3406070"/>
                  <a:chExt cx="2527014" cy="1123799"/>
                </a:xfrm>
              </p:grpSpPr>
              <p:grpSp>
                <p:nvGrpSpPr>
                  <p:cNvPr id="127" name="组合 126">
                    <a:extLst>
                      <a:ext uri="{FF2B5EF4-FFF2-40B4-BE49-F238E27FC236}">
                        <a16:creationId xmlns:a16="http://schemas.microsoft.com/office/drawing/2014/main" id="{AC57B9C0-9789-03C1-10A5-4452F55ED757}"/>
                      </a:ext>
                    </a:extLst>
                  </p:cNvPr>
                  <p:cNvGrpSpPr/>
                  <p:nvPr/>
                </p:nvGrpSpPr>
                <p:grpSpPr>
                  <a:xfrm>
                    <a:off x="5400844" y="3406070"/>
                    <a:ext cx="1267221" cy="1123799"/>
                    <a:chOff x="5400844" y="3406070"/>
                    <a:chExt cx="1267221" cy="1123799"/>
                  </a:xfrm>
                </p:grpSpPr>
                <p:sp>
                  <p:nvSpPr>
                    <p:cNvPr id="129" name="立方体 128">
                      <a:extLst>
                        <a:ext uri="{FF2B5EF4-FFF2-40B4-BE49-F238E27FC236}">
                          <a16:creationId xmlns:a16="http://schemas.microsoft.com/office/drawing/2014/main" id="{49DC7675-6667-3C3C-60D6-FA25328A57A4}"/>
                        </a:ext>
                      </a:extLst>
                    </p:cNvPr>
                    <p:cNvSpPr/>
                    <p:nvPr/>
                  </p:nvSpPr>
                  <p:spPr>
                    <a:xfrm>
                      <a:off x="5400844" y="3406070"/>
                      <a:ext cx="1267221" cy="1123799"/>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grpSp>
                  <p:nvGrpSpPr>
                    <p:cNvPr id="130" name="组合 129">
                      <a:extLst>
                        <a:ext uri="{FF2B5EF4-FFF2-40B4-BE49-F238E27FC236}">
                          <a16:creationId xmlns:a16="http://schemas.microsoft.com/office/drawing/2014/main" id="{6DD407FB-5FD2-49D4-15AF-B97A90ED7700}"/>
                        </a:ext>
                      </a:extLst>
                    </p:cNvPr>
                    <p:cNvGrpSpPr/>
                    <p:nvPr/>
                  </p:nvGrpSpPr>
                  <p:grpSpPr>
                    <a:xfrm>
                      <a:off x="5476608" y="3773476"/>
                      <a:ext cx="581817" cy="331211"/>
                      <a:chOff x="7224637" y="3388229"/>
                      <a:chExt cx="581817" cy="331211"/>
                    </a:xfrm>
                  </p:grpSpPr>
                  <p:sp>
                    <p:nvSpPr>
                      <p:cNvPr id="138" name="椭圆 137">
                        <a:extLst>
                          <a:ext uri="{FF2B5EF4-FFF2-40B4-BE49-F238E27FC236}">
                            <a16:creationId xmlns:a16="http://schemas.microsoft.com/office/drawing/2014/main" id="{C34C3C0C-0D83-804F-5AEF-ADB2040C1ABD}"/>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139" name="组合 138">
                        <a:extLst>
                          <a:ext uri="{FF2B5EF4-FFF2-40B4-BE49-F238E27FC236}">
                            <a16:creationId xmlns:a16="http://schemas.microsoft.com/office/drawing/2014/main" id="{FC86CFB1-F266-B1DF-D8F0-2EF65D220E25}"/>
                          </a:ext>
                        </a:extLst>
                      </p:cNvPr>
                      <p:cNvGrpSpPr/>
                      <p:nvPr/>
                    </p:nvGrpSpPr>
                    <p:grpSpPr>
                      <a:xfrm>
                        <a:off x="7576336" y="3388229"/>
                        <a:ext cx="230118" cy="331211"/>
                        <a:chOff x="7576336" y="3388229"/>
                        <a:chExt cx="230118" cy="331211"/>
                      </a:xfrm>
                    </p:grpSpPr>
                    <p:sp>
                      <p:nvSpPr>
                        <p:cNvPr id="141" name="矩形 140">
                          <a:extLst>
                            <a:ext uri="{FF2B5EF4-FFF2-40B4-BE49-F238E27FC236}">
                              <a16:creationId xmlns:a16="http://schemas.microsoft.com/office/drawing/2014/main" id="{251A7ABC-DCCD-09D0-8F58-C6F7A9282AB9}"/>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2" name="等腰三角形 141">
                          <a:extLst>
                            <a:ext uri="{FF2B5EF4-FFF2-40B4-BE49-F238E27FC236}">
                              <a16:creationId xmlns:a16="http://schemas.microsoft.com/office/drawing/2014/main" id="{1CC8573F-D32B-5A58-47B1-CB3813A90F9A}"/>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40" name="直接箭头连接符 139">
                        <a:extLst>
                          <a:ext uri="{FF2B5EF4-FFF2-40B4-BE49-F238E27FC236}">
                            <a16:creationId xmlns:a16="http://schemas.microsoft.com/office/drawing/2014/main" id="{9BA3F637-1C53-9715-3E0C-BE4840AE7872}"/>
                          </a:ext>
                        </a:extLst>
                      </p:cNvPr>
                      <p:cNvCxnSpPr>
                        <a:cxnSpLocks/>
                        <a:endCxn id="142"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131" name="组合 130">
                      <a:extLst>
                        <a:ext uri="{FF2B5EF4-FFF2-40B4-BE49-F238E27FC236}">
                          <a16:creationId xmlns:a16="http://schemas.microsoft.com/office/drawing/2014/main" id="{C2A9EFA9-8513-D686-B857-86DEC08B4818}"/>
                        </a:ext>
                      </a:extLst>
                    </p:cNvPr>
                    <p:cNvGrpSpPr/>
                    <p:nvPr/>
                  </p:nvGrpSpPr>
                  <p:grpSpPr>
                    <a:xfrm rot="5400000">
                      <a:off x="5967328" y="3939081"/>
                      <a:ext cx="581817" cy="331211"/>
                      <a:chOff x="7224637" y="3388229"/>
                      <a:chExt cx="581817" cy="331211"/>
                    </a:xfrm>
                  </p:grpSpPr>
                  <p:sp>
                    <p:nvSpPr>
                      <p:cNvPr id="133" name="椭圆 132">
                        <a:extLst>
                          <a:ext uri="{FF2B5EF4-FFF2-40B4-BE49-F238E27FC236}">
                            <a16:creationId xmlns:a16="http://schemas.microsoft.com/office/drawing/2014/main" id="{0CD9DF6C-763A-C2DD-0507-66521520A4E9}"/>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cs typeface="Times New Roman" panose="02020603050405020304" pitchFamily="18" charset="0"/>
                          </a:rPr>
                          <a:t>＋</a:t>
                        </a:r>
                      </a:p>
                    </p:txBody>
                  </p:sp>
                  <p:grpSp>
                    <p:nvGrpSpPr>
                      <p:cNvPr id="134" name="组合 133">
                        <a:extLst>
                          <a:ext uri="{FF2B5EF4-FFF2-40B4-BE49-F238E27FC236}">
                            <a16:creationId xmlns:a16="http://schemas.microsoft.com/office/drawing/2014/main" id="{734C4554-5B7B-3120-3F1D-621B900B5DA4}"/>
                          </a:ext>
                        </a:extLst>
                      </p:cNvPr>
                      <p:cNvGrpSpPr/>
                      <p:nvPr/>
                    </p:nvGrpSpPr>
                    <p:grpSpPr>
                      <a:xfrm>
                        <a:off x="7576336" y="3388229"/>
                        <a:ext cx="230118" cy="331211"/>
                        <a:chOff x="7576336" y="3388229"/>
                        <a:chExt cx="230118" cy="331211"/>
                      </a:xfrm>
                    </p:grpSpPr>
                    <p:sp>
                      <p:nvSpPr>
                        <p:cNvPr id="136" name="矩形 135">
                          <a:extLst>
                            <a:ext uri="{FF2B5EF4-FFF2-40B4-BE49-F238E27FC236}">
                              <a16:creationId xmlns:a16="http://schemas.microsoft.com/office/drawing/2014/main" id="{AA339516-58F1-5987-47BB-C64C7ECB80DA}"/>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7" name="等腰三角形 136">
                          <a:extLst>
                            <a:ext uri="{FF2B5EF4-FFF2-40B4-BE49-F238E27FC236}">
                              <a16:creationId xmlns:a16="http://schemas.microsoft.com/office/drawing/2014/main" id="{C6FFEE0C-397B-21BC-7A2D-5BD368DBCA7F}"/>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35" name="直接箭头连接符 134">
                        <a:extLst>
                          <a:ext uri="{FF2B5EF4-FFF2-40B4-BE49-F238E27FC236}">
                            <a16:creationId xmlns:a16="http://schemas.microsoft.com/office/drawing/2014/main" id="{EF9B28F5-0F2B-8FA8-133E-D1FFF01B9A5B}"/>
                          </a:ext>
                        </a:extLst>
                      </p:cNvPr>
                      <p:cNvCxnSpPr>
                        <a:cxnSpLocks/>
                        <a:endCxn id="137"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32" name="直接箭头连接符 131">
                      <a:extLst>
                        <a:ext uri="{FF2B5EF4-FFF2-40B4-BE49-F238E27FC236}">
                          <a16:creationId xmlns:a16="http://schemas.microsoft.com/office/drawing/2014/main" id="{BCC9D8BB-6BB6-D451-10F1-A20DAC42DAF6}"/>
                        </a:ext>
                      </a:extLst>
                    </p:cNvPr>
                    <p:cNvCxnSpPr>
                      <a:cxnSpLocks/>
                      <a:stCxn id="141" idx="3"/>
                      <a:endCxn id="133" idx="4"/>
                    </p:cNvCxnSpPr>
                    <p:nvPr/>
                  </p:nvCxnSpPr>
                  <p:spPr>
                    <a:xfrm>
                      <a:off x="6058425" y="3939082"/>
                      <a:ext cx="113416" cy="696"/>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28" name="直接箭头连接符 127">
                    <a:extLst>
                      <a:ext uri="{FF2B5EF4-FFF2-40B4-BE49-F238E27FC236}">
                        <a16:creationId xmlns:a16="http://schemas.microsoft.com/office/drawing/2014/main" id="{D1F7EE65-A6B7-A8EF-24A5-A89C08DED72A}"/>
                      </a:ext>
                    </a:extLst>
                  </p:cNvPr>
                  <p:cNvCxnSpPr>
                    <a:cxnSpLocks/>
                  </p:cNvCxnSpPr>
                  <p:nvPr/>
                </p:nvCxnSpPr>
                <p:spPr>
                  <a:xfrm>
                    <a:off x="4141051" y="3897114"/>
                    <a:ext cx="1335557" cy="0"/>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67" name="组合 66">
                  <a:extLst>
                    <a:ext uri="{FF2B5EF4-FFF2-40B4-BE49-F238E27FC236}">
                      <a16:creationId xmlns:a16="http://schemas.microsoft.com/office/drawing/2014/main" id="{FFEE4876-DC6E-4011-C58D-33EE765C0BF1}"/>
                    </a:ext>
                  </a:extLst>
                </p:cNvPr>
                <p:cNvGrpSpPr/>
                <p:nvPr/>
              </p:nvGrpSpPr>
              <p:grpSpPr>
                <a:xfrm>
                  <a:off x="6784626" y="4537592"/>
                  <a:ext cx="230118" cy="331211"/>
                  <a:chOff x="6808261" y="3616302"/>
                  <a:chExt cx="230118" cy="331211"/>
                </a:xfrm>
              </p:grpSpPr>
              <p:sp>
                <p:nvSpPr>
                  <p:cNvPr id="125" name="矩形 124">
                    <a:extLst>
                      <a:ext uri="{FF2B5EF4-FFF2-40B4-BE49-F238E27FC236}">
                        <a16:creationId xmlns:a16="http://schemas.microsoft.com/office/drawing/2014/main" id="{5CD15DC3-8DA3-382B-44BF-DDE975060E17}"/>
                      </a:ext>
                    </a:extLst>
                  </p:cNvPr>
                  <p:cNvSpPr/>
                  <p:nvPr/>
                </p:nvSpPr>
                <p:spPr>
                  <a:xfrm>
                    <a:off x="6808261" y="3616302"/>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6" name="等腰三角形 125">
                    <a:extLst>
                      <a:ext uri="{FF2B5EF4-FFF2-40B4-BE49-F238E27FC236}">
                        <a16:creationId xmlns:a16="http://schemas.microsoft.com/office/drawing/2014/main" id="{1398F5DD-CE5D-C698-A542-DAD7024932FA}"/>
                      </a:ext>
                    </a:extLst>
                  </p:cNvPr>
                  <p:cNvSpPr/>
                  <p:nvPr/>
                </p:nvSpPr>
                <p:spPr>
                  <a:xfrm rot="5400000">
                    <a:off x="6792644" y="3685571"/>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68" name="直接箭头连接符 67">
                  <a:extLst>
                    <a:ext uri="{FF2B5EF4-FFF2-40B4-BE49-F238E27FC236}">
                      <a16:creationId xmlns:a16="http://schemas.microsoft.com/office/drawing/2014/main" id="{8C26CA90-1180-DBFF-A863-4BC361C5BFBB}"/>
                    </a:ext>
                  </a:extLst>
                </p:cNvPr>
                <p:cNvCxnSpPr>
                  <a:cxnSpLocks/>
                  <a:endCxn id="126" idx="3"/>
                </p:cNvCxnSpPr>
                <p:nvPr/>
              </p:nvCxnSpPr>
              <p:spPr>
                <a:xfrm>
                  <a:off x="5289550" y="4661665"/>
                  <a:ext cx="1495076" cy="0"/>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17FD4906-0855-A89D-D972-4439D7DE0590}"/>
                    </a:ext>
                  </a:extLst>
                </p:cNvPr>
                <p:cNvCxnSpPr>
                  <a:cxnSpLocks/>
                </p:cNvCxnSpPr>
                <p:nvPr/>
              </p:nvCxnSpPr>
              <p:spPr>
                <a:xfrm flipV="1">
                  <a:off x="5289550" y="4661665"/>
                  <a:ext cx="0" cy="759393"/>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23C08AD6-1562-4763-9A56-25E84570D539}"/>
                    </a:ext>
                  </a:extLst>
                </p:cNvPr>
                <p:cNvCxnSpPr>
                  <a:cxnSpLocks/>
                </p:cNvCxnSpPr>
                <p:nvPr/>
              </p:nvCxnSpPr>
              <p:spPr>
                <a:xfrm flipV="1">
                  <a:off x="7190779" y="4661665"/>
                  <a:ext cx="0" cy="723579"/>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26D1C8EB-6348-32AF-F647-3E785E1307A6}"/>
                    </a:ext>
                  </a:extLst>
                </p:cNvPr>
                <p:cNvCxnSpPr>
                  <a:cxnSpLocks/>
                  <a:endCxn id="125" idx="3"/>
                </p:cNvCxnSpPr>
                <p:nvPr/>
              </p:nvCxnSpPr>
              <p:spPr>
                <a:xfrm flipH="1">
                  <a:off x="7014744" y="4703198"/>
                  <a:ext cx="176035" cy="0"/>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grpSp>
              <p:nvGrpSpPr>
                <p:cNvPr id="72" name="组合 71">
                  <a:extLst>
                    <a:ext uri="{FF2B5EF4-FFF2-40B4-BE49-F238E27FC236}">
                      <a16:creationId xmlns:a16="http://schemas.microsoft.com/office/drawing/2014/main" id="{54207520-673A-2D9D-9511-39142006565F}"/>
                    </a:ext>
                  </a:extLst>
                </p:cNvPr>
                <p:cNvGrpSpPr/>
                <p:nvPr/>
              </p:nvGrpSpPr>
              <p:grpSpPr>
                <a:xfrm>
                  <a:off x="7190779" y="4894200"/>
                  <a:ext cx="1420946" cy="1123799"/>
                  <a:chOff x="5247119" y="3406070"/>
                  <a:chExt cx="1420946" cy="1123799"/>
                </a:xfrm>
              </p:grpSpPr>
              <p:grpSp>
                <p:nvGrpSpPr>
                  <p:cNvPr id="109" name="组合 108">
                    <a:extLst>
                      <a:ext uri="{FF2B5EF4-FFF2-40B4-BE49-F238E27FC236}">
                        <a16:creationId xmlns:a16="http://schemas.microsoft.com/office/drawing/2014/main" id="{24957271-4D23-C88D-CC2F-8FAAD9455BB6}"/>
                      </a:ext>
                    </a:extLst>
                  </p:cNvPr>
                  <p:cNvGrpSpPr/>
                  <p:nvPr/>
                </p:nvGrpSpPr>
                <p:grpSpPr>
                  <a:xfrm>
                    <a:off x="5400844" y="3406070"/>
                    <a:ext cx="1267221" cy="1123799"/>
                    <a:chOff x="5400844" y="3406070"/>
                    <a:chExt cx="1267221" cy="1123799"/>
                  </a:xfrm>
                </p:grpSpPr>
                <p:sp>
                  <p:nvSpPr>
                    <p:cNvPr id="111" name="立方体 110">
                      <a:extLst>
                        <a:ext uri="{FF2B5EF4-FFF2-40B4-BE49-F238E27FC236}">
                          <a16:creationId xmlns:a16="http://schemas.microsoft.com/office/drawing/2014/main" id="{7D642489-57E4-C1D6-7142-56C72463D5E8}"/>
                        </a:ext>
                      </a:extLst>
                    </p:cNvPr>
                    <p:cNvSpPr/>
                    <p:nvPr/>
                  </p:nvSpPr>
                  <p:spPr>
                    <a:xfrm>
                      <a:off x="5400844" y="3406070"/>
                      <a:ext cx="1267221" cy="1123799"/>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grpSp>
                  <p:nvGrpSpPr>
                    <p:cNvPr id="112" name="组合 111">
                      <a:extLst>
                        <a:ext uri="{FF2B5EF4-FFF2-40B4-BE49-F238E27FC236}">
                          <a16:creationId xmlns:a16="http://schemas.microsoft.com/office/drawing/2014/main" id="{3F3326E8-E46B-261B-F53D-6685868EAB30}"/>
                        </a:ext>
                      </a:extLst>
                    </p:cNvPr>
                    <p:cNvGrpSpPr/>
                    <p:nvPr/>
                  </p:nvGrpSpPr>
                  <p:grpSpPr>
                    <a:xfrm>
                      <a:off x="5476608" y="3773476"/>
                      <a:ext cx="581817" cy="331211"/>
                      <a:chOff x="7224637" y="3388229"/>
                      <a:chExt cx="581817" cy="331211"/>
                    </a:xfrm>
                  </p:grpSpPr>
                  <p:sp>
                    <p:nvSpPr>
                      <p:cNvPr id="120" name="椭圆 119">
                        <a:extLst>
                          <a:ext uri="{FF2B5EF4-FFF2-40B4-BE49-F238E27FC236}">
                            <a16:creationId xmlns:a16="http://schemas.microsoft.com/office/drawing/2014/main" id="{3E8C7F44-6374-70F9-B6F3-CD32BDB43A26}"/>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121" name="组合 120">
                        <a:extLst>
                          <a:ext uri="{FF2B5EF4-FFF2-40B4-BE49-F238E27FC236}">
                            <a16:creationId xmlns:a16="http://schemas.microsoft.com/office/drawing/2014/main" id="{C9FC77B4-690E-B60A-5791-E0443773A6F6}"/>
                          </a:ext>
                        </a:extLst>
                      </p:cNvPr>
                      <p:cNvGrpSpPr/>
                      <p:nvPr/>
                    </p:nvGrpSpPr>
                    <p:grpSpPr>
                      <a:xfrm>
                        <a:off x="7576336" y="3388229"/>
                        <a:ext cx="230118" cy="331211"/>
                        <a:chOff x="7576336" y="3388229"/>
                        <a:chExt cx="230118" cy="331211"/>
                      </a:xfrm>
                    </p:grpSpPr>
                    <p:sp>
                      <p:nvSpPr>
                        <p:cNvPr id="123" name="矩形 122">
                          <a:extLst>
                            <a:ext uri="{FF2B5EF4-FFF2-40B4-BE49-F238E27FC236}">
                              <a16:creationId xmlns:a16="http://schemas.microsoft.com/office/drawing/2014/main" id="{5DEFE29B-A98A-90B0-E160-90D3A8C3D3D7}"/>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4" name="等腰三角形 123">
                          <a:extLst>
                            <a:ext uri="{FF2B5EF4-FFF2-40B4-BE49-F238E27FC236}">
                              <a16:creationId xmlns:a16="http://schemas.microsoft.com/office/drawing/2014/main" id="{F992168E-3FC3-31D6-BC05-D735ED3DECD2}"/>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22" name="直接箭头连接符 121">
                        <a:extLst>
                          <a:ext uri="{FF2B5EF4-FFF2-40B4-BE49-F238E27FC236}">
                            <a16:creationId xmlns:a16="http://schemas.microsoft.com/office/drawing/2014/main" id="{4BF9E2E2-C444-8992-341F-993156C4F94E}"/>
                          </a:ext>
                        </a:extLst>
                      </p:cNvPr>
                      <p:cNvCxnSpPr>
                        <a:cxnSpLocks/>
                        <a:endCxn id="124"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113" name="组合 112">
                      <a:extLst>
                        <a:ext uri="{FF2B5EF4-FFF2-40B4-BE49-F238E27FC236}">
                          <a16:creationId xmlns:a16="http://schemas.microsoft.com/office/drawing/2014/main" id="{44A3864B-9F82-117F-5E4F-7B427F6B3B6C}"/>
                        </a:ext>
                      </a:extLst>
                    </p:cNvPr>
                    <p:cNvGrpSpPr/>
                    <p:nvPr/>
                  </p:nvGrpSpPr>
                  <p:grpSpPr>
                    <a:xfrm rot="5400000">
                      <a:off x="5967328" y="3939081"/>
                      <a:ext cx="581817" cy="331211"/>
                      <a:chOff x="7224637" y="3388229"/>
                      <a:chExt cx="581817" cy="331211"/>
                    </a:xfrm>
                  </p:grpSpPr>
                  <p:sp>
                    <p:nvSpPr>
                      <p:cNvPr id="115" name="椭圆 114">
                        <a:extLst>
                          <a:ext uri="{FF2B5EF4-FFF2-40B4-BE49-F238E27FC236}">
                            <a16:creationId xmlns:a16="http://schemas.microsoft.com/office/drawing/2014/main" id="{E75FFE5F-7124-9C79-B428-925DB5D14790}"/>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cs typeface="Times New Roman" panose="02020603050405020304" pitchFamily="18" charset="0"/>
                          </a:rPr>
                          <a:t>＋</a:t>
                        </a:r>
                      </a:p>
                    </p:txBody>
                  </p:sp>
                  <p:grpSp>
                    <p:nvGrpSpPr>
                      <p:cNvPr id="116" name="组合 115">
                        <a:extLst>
                          <a:ext uri="{FF2B5EF4-FFF2-40B4-BE49-F238E27FC236}">
                            <a16:creationId xmlns:a16="http://schemas.microsoft.com/office/drawing/2014/main" id="{B6AF5EB1-35B5-7609-C78E-898243987245}"/>
                          </a:ext>
                        </a:extLst>
                      </p:cNvPr>
                      <p:cNvGrpSpPr/>
                      <p:nvPr/>
                    </p:nvGrpSpPr>
                    <p:grpSpPr>
                      <a:xfrm>
                        <a:off x="7576336" y="3388229"/>
                        <a:ext cx="230118" cy="331211"/>
                        <a:chOff x="7576336" y="3388229"/>
                        <a:chExt cx="230118" cy="331211"/>
                      </a:xfrm>
                    </p:grpSpPr>
                    <p:sp>
                      <p:nvSpPr>
                        <p:cNvPr id="118" name="矩形 117">
                          <a:extLst>
                            <a:ext uri="{FF2B5EF4-FFF2-40B4-BE49-F238E27FC236}">
                              <a16:creationId xmlns:a16="http://schemas.microsoft.com/office/drawing/2014/main" id="{9D71FD1E-AB7C-DFF7-CECB-1FCFB3F86A21}"/>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9" name="等腰三角形 118">
                          <a:extLst>
                            <a:ext uri="{FF2B5EF4-FFF2-40B4-BE49-F238E27FC236}">
                              <a16:creationId xmlns:a16="http://schemas.microsoft.com/office/drawing/2014/main" id="{DDE9AB0E-E050-EA18-8DB5-C7652EB8DE7C}"/>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17" name="直接箭头连接符 116">
                        <a:extLst>
                          <a:ext uri="{FF2B5EF4-FFF2-40B4-BE49-F238E27FC236}">
                            <a16:creationId xmlns:a16="http://schemas.microsoft.com/office/drawing/2014/main" id="{686D6539-3A4E-FD90-75A6-77F3E1FCAC39}"/>
                          </a:ext>
                        </a:extLst>
                      </p:cNvPr>
                      <p:cNvCxnSpPr>
                        <a:cxnSpLocks/>
                        <a:endCxn id="119"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14" name="直接箭头连接符 113">
                      <a:extLst>
                        <a:ext uri="{FF2B5EF4-FFF2-40B4-BE49-F238E27FC236}">
                          <a16:creationId xmlns:a16="http://schemas.microsoft.com/office/drawing/2014/main" id="{25AFA2DD-E8BF-EC53-9383-DC13D91E42E6}"/>
                        </a:ext>
                      </a:extLst>
                    </p:cNvPr>
                    <p:cNvCxnSpPr>
                      <a:cxnSpLocks/>
                      <a:stCxn id="123" idx="3"/>
                      <a:endCxn id="115" idx="4"/>
                    </p:cNvCxnSpPr>
                    <p:nvPr/>
                  </p:nvCxnSpPr>
                  <p:spPr>
                    <a:xfrm>
                      <a:off x="6058425" y="3939082"/>
                      <a:ext cx="113416" cy="696"/>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10" name="直接箭头连接符 109">
                    <a:extLst>
                      <a:ext uri="{FF2B5EF4-FFF2-40B4-BE49-F238E27FC236}">
                        <a16:creationId xmlns:a16="http://schemas.microsoft.com/office/drawing/2014/main" id="{F51A77D9-5322-1E63-CB34-09940AC59101}"/>
                      </a:ext>
                    </a:extLst>
                  </p:cNvPr>
                  <p:cNvCxnSpPr>
                    <a:cxnSpLocks/>
                  </p:cNvCxnSpPr>
                  <p:nvPr/>
                </p:nvCxnSpPr>
                <p:spPr>
                  <a:xfrm flipV="1">
                    <a:off x="5247119" y="3897114"/>
                    <a:ext cx="229489" cy="435"/>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73" name="组合 72">
                  <a:extLst>
                    <a:ext uri="{FF2B5EF4-FFF2-40B4-BE49-F238E27FC236}">
                      <a16:creationId xmlns:a16="http://schemas.microsoft.com/office/drawing/2014/main" id="{FE5CEEDE-A50E-EAE9-0BBE-B4275785C657}"/>
                    </a:ext>
                  </a:extLst>
                </p:cNvPr>
                <p:cNvGrpSpPr/>
                <p:nvPr/>
              </p:nvGrpSpPr>
              <p:grpSpPr>
                <a:xfrm>
                  <a:off x="8670304" y="4537592"/>
                  <a:ext cx="230118" cy="331211"/>
                  <a:chOff x="6808261" y="3616302"/>
                  <a:chExt cx="230118" cy="331211"/>
                </a:xfrm>
              </p:grpSpPr>
              <p:sp>
                <p:nvSpPr>
                  <p:cNvPr id="107" name="矩形 106">
                    <a:extLst>
                      <a:ext uri="{FF2B5EF4-FFF2-40B4-BE49-F238E27FC236}">
                        <a16:creationId xmlns:a16="http://schemas.microsoft.com/office/drawing/2014/main" id="{FBD084E2-AA1B-81C3-2E47-3B9A144E0973}"/>
                      </a:ext>
                    </a:extLst>
                  </p:cNvPr>
                  <p:cNvSpPr/>
                  <p:nvPr/>
                </p:nvSpPr>
                <p:spPr>
                  <a:xfrm>
                    <a:off x="6808261" y="3616302"/>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8" name="等腰三角形 107">
                    <a:extLst>
                      <a:ext uri="{FF2B5EF4-FFF2-40B4-BE49-F238E27FC236}">
                        <a16:creationId xmlns:a16="http://schemas.microsoft.com/office/drawing/2014/main" id="{1F993CCC-94DD-C944-D561-3F4BCF6DBD1F}"/>
                      </a:ext>
                    </a:extLst>
                  </p:cNvPr>
                  <p:cNvSpPr/>
                  <p:nvPr/>
                </p:nvSpPr>
                <p:spPr>
                  <a:xfrm rot="5400000">
                    <a:off x="6792644" y="3685571"/>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75" name="直接箭头连接符 74">
                  <a:extLst>
                    <a:ext uri="{FF2B5EF4-FFF2-40B4-BE49-F238E27FC236}">
                      <a16:creationId xmlns:a16="http://schemas.microsoft.com/office/drawing/2014/main" id="{C38B6583-C60C-5D6D-E1B3-30EE5267FA5B}"/>
                    </a:ext>
                  </a:extLst>
                </p:cNvPr>
                <p:cNvCxnSpPr>
                  <a:cxnSpLocks/>
                  <a:endCxn id="108" idx="3"/>
                </p:cNvCxnSpPr>
                <p:nvPr/>
              </p:nvCxnSpPr>
              <p:spPr>
                <a:xfrm>
                  <a:off x="7190779" y="4661665"/>
                  <a:ext cx="1479525" cy="0"/>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B295842F-9E59-BF09-34EA-19CD1E7E95E7}"/>
                    </a:ext>
                  </a:extLst>
                </p:cNvPr>
                <p:cNvCxnSpPr>
                  <a:cxnSpLocks/>
                </p:cNvCxnSpPr>
                <p:nvPr/>
              </p:nvCxnSpPr>
              <p:spPr>
                <a:xfrm flipV="1">
                  <a:off x="9076457" y="4703198"/>
                  <a:ext cx="0" cy="682046"/>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8EBCBC97-3A33-E00B-F45E-898CE524E7F1}"/>
                    </a:ext>
                  </a:extLst>
                </p:cNvPr>
                <p:cNvCxnSpPr>
                  <a:cxnSpLocks/>
                  <a:endCxn id="107" idx="3"/>
                </p:cNvCxnSpPr>
                <p:nvPr/>
              </p:nvCxnSpPr>
              <p:spPr>
                <a:xfrm flipH="1">
                  <a:off x="8900422" y="4703198"/>
                  <a:ext cx="176035" cy="0"/>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grpSp>
              <p:nvGrpSpPr>
                <p:cNvPr id="81" name="组合 80">
                  <a:extLst>
                    <a:ext uri="{FF2B5EF4-FFF2-40B4-BE49-F238E27FC236}">
                      <a16:creationId xmlns:a16="http://schemas.microsoft.com/office/drawing/2014/main" id="{D44B975A-B53B-BA92-1060-24E803BEFBA8}"/>
                    </a:ext>
                  </a:extLst>
                </p:cNvPr>
                <p:cNvGrpSpPr/>
                <p:nvPr/>
              </p:nvGrpSpPr>
              <p:grpSpPr>
                <a:xfrm>
                  <a:off x="9076457" y="4894200"/>
                  <a:ext cx="1420946" cy="1123799"/>
                  <a:chOff x="5247119" y="3406070"/>
                  <a:chExt cx="1420946" cy="1123799"/>
                </a:xfrm>
              </p:grpSpPr>
              <p:grpSp>
                <p:nvGrpSpPr>
                  <p:cNvPr id="89" name="组合 88">
                    <a:extLst>
                      <a:ext uri="{FF2B5EF4-FFF2-40B4-BE49-F238E27FC236}">
                        <a16:creationId xmlns:a16="http://schemas.microsoft.com/office/drawing/2014/main" id="{03D6CCF4-EB5B-33FD-E76C-9BE832C282A3}"/>
                      </a:ext>
                    </a:extLst>
                  </p:cNvPr>
                  <p:cNvGrpSpPr/>
                  <p:nvPr/>
                </p:nvGrpSpPr>
                <p:grpSpPr>
                  <a:xfrm>
                    <a:off x="5400844" y="3406070"/>
                    <a:ext cx="1267221" cy="1123799"/>
                    <a:chOff x="5400844" y="3406070"/>
                    <a:chExt cx="1267221" cy="1123799"/>
                  </a:xfrm>
                </p:grpSpPr>
                <p:sp>
                  <p:nvSpPr>
                    <p:cNvPr id="91" name="立方体 90">
                      <a:extLst>
                        <a:ext uri="{FF2B5EF4-FFF2-40B4-BE49-F238E27FC236}">
                          <a16:creationId xmlns:a16="http://schemas.microsoft.com/office/drawing/2014/main" id="{9E44F6B1-281A-7C75-587D-3B7519742563}"/>
                        </a:ext>
                      </a:extLst>
                    </p:cNvPr>
                    <p:cNvSpPr/>
                    <p:nvPr/>
                  </p:nvSpPr>
                  <p:spPr>
                    <a:xfrm>
                      <a:off x="5400844" y="3406070"/>
                      <a:ext cx="1267221" cy="1123799"/>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grpSp>
                  <p:nvGrpSpPr>
                    <p:cNvPr id="92" name="组合 91">
                      <a:extLst>
                        <a:ext uri="{FF2B5EF4-FFF2-40B4-BE49-F238E27FC236}">
                          <a16:creationId xmlns:a16="http://schemas.microsoft.com/office/drawing/2014/main" id="{9CC10406-BBC9-1E81-EE44-4185AB1E5AD0}"/>
                        </a:ext>
                      </a:extLst>
                    </p:cNvPr>
                    <p:cNvGrpSpPr/>
                    <p:nvPr/>
                  </p:nvGrpSpPr>
                  <p:grpSpPr>
                    <a:xfrm>
                      <a:off x="5476608" y="3773476"/>
                      <a:ext cx="581817" cy="331211"/>
                      <a:chOff x="7224637" y="3388229"/>
                      <a:chExt cx="581817" cy="331211"/>
                    </a:xfrm>
                  </p:grpSpPr>
                  <p:sp>
                    <p:nvSpPr>
                      <p:cNvPr id="102" name="椭圆 101">
                        <a:extLst>
                          <a:ext uri="{FF2B5EF4-FFF2-40B4-BE49-F238E27FC236}">
                            <a16:creationId xmlns:a16="http://schemas.microsoft.com/office/drawing/2014/main" id="{A395B7B6-6151-62C2-0981-EA9CF1690EE8}"/>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103" name="组合 102">
                        <a:extLst>
                          <a:ext uri="{FF2B5EF4-FFF2-40B4-BE49-F238E27FC236}">
                            <a16:creationId xmlns:a16="http://schemas.microsoft.com/office/drawing/2014/main" id="{65437BF2-0116-35F2-1499-3B7FC60A027C}"/>
                          </a:ext>
                        </a:extLst>
                      </p:cNvPr>
                      <p:cNvGrpSpPr/>
                      <p:nvPr/>
                    </p:nvGrpSpPr>
                    <p:grpSpPr>
                      <a:xfrm>
                        <a:off x="7576336" y="3388229"/>
                        <a:ext cx="230118" cy="331211"/>
                        <a:chOff x="7576336" y="3388229"/>
                        <a:chExt cx="230118" cy="331211"/>
                      </a:xfrm>
                    </p:grpSpPr>
                    <p:sp>
                      <p:nvSpPr>
                        <p:cNvPr id="105" name="矩形 104">
                          <a:extLst>
                            <a:ext uri="{FF2B5EF4-FFF2-40B4-BE49-F238E27FC236}">
                              <a16:creationId xmlns:a16="http://schemas.microsoft.com/office/drawing/2014/main" id="{9A04654D-12D7-3A18-9311-A2E5A8DE9FD3}"/>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6" name="等腰三角形 105">
                          <a:extLst>
                            <a:ext uri="{FF2B5EF4-FFF2-40B4-BE49-F238E27FC236}">
                              <a16:creationId xmlns:a16="http://schemas.microsoft.com/office/drawing/2014/main" id="{33CA0425-99AF-91EC-A5B4-1E5E744A1D2E}"/>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04" name="直接箭头连接符 103">
                        <a:extLst>
                          <a:ext uri="{FF2B5EF4-FFF2-40B4-BE49-F238E27FC236}">
                            <a16:creationId xmlns:a16="http://schemas.microsoft.com/office/drawing/2014/main" id="{5636703E-F3B6-5C51-6767-B3F1EEA5A7CA}"/>
                          </a:ext>
                        </a:extLst>
                      </p:cNvPr>
                      <p:cNvCxnSpPr>
                        <a:cxnSpLocks/>
                        <a:endCxn id="106"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94" name="组合 93">
                      <a:extLst>
                        <a:ext uri="{FF2B5EF4-FFF2-40B4-BE49-F238E27FC236}">
                          <a16:creationId xmlns:a16="http://schemas.microsoft.com/office/drawing/2014/main" id="{678A7AC7-5ED5-651C-A9D7-8A0C5DF45F8B}"/>
                        </a:ext>
                      </a:extLst>
                    </p:cNvPr>
                    <p:cNvGrpSpPr/>
                    <p:nvPr/>
                  </p:nvGrpSpPr>
                  <p:grpSpPr>
                    <a:xfrm rot="5400000">
                      <a:off x="5967328" y="3939081"/>
                      <a:ext cx="581817" cy="331211"/>
                      <a:chOff x="7224637" y="3388229"/>
                      <a:chExt cx="581817" cy="331211"/>
                    </a:xfrm>
                  </p:grpSpPr>
                  <p:sp>
                    <p:nvSpPr>
                      <p:cNvPr id="96" name="椭圆 95">
                        <a:extLst>
                          <a:ext uri="{FF2B5EF4-FFF2-40B4-BE49-F238E27FC236}">
                            <a16:creationId xmlns:a16="http://schemas.microsoft.com/office/drawing/2014/main" id="{07F34071-35C7-5BEB-7C1D-7EACDC4E0459}"/>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cs typeface="Times New Roman" panose="02020603050405020304" pitchFamily="18" charset="0"/>
                          </a:rPr>
                          <a:t>＋</a:t>
                        </a:r>
                      </a:p>
                    </p:txBody>
                  </p:sp>
                  <p:grpSp>
                    <p:nvGrpSpPr>
                      <p:cNvPr id="97" name="组合 96">
                        <a:extLst>
                          <a:ext uri="{FF2B5EF4-FFF2-40B4-BE49-F238E27FC236}">
                            <a16:creationId xmlns:a16="http://schemas.microsoft.com/office/drawing/2014/main" id="{DFA0AC7F-FC2B-C615-07BF-2F7B95E0842E}"/>
                          </a:ext>
                        </a:extLst>
                      </p:cNvPr>
                      <p:cNvGrpSpPr/>
                      <p:nvPr/>
                    </p:nvGrpSpPr>
                    <p:grpSpPr>
                      <a:xfrm>
                        <a:off x="7576336" y="3388229"/>
                        <a:ext cx="230118" cy="331211"/>
                        <a:chOff x="7576336" y="3388229"/>
                        <a:chExt cx="230118" cy="331211"/>
                      </a:xfrm>
                    </p:grpSpPr>
                    <p:sp>
                      <p:nvSpPr>
                        <p:cNvPr id="99" name="矩形 98">
                          <a:extLst>
                            <a:ext uri="{FF2B5EF4-FFF2-40B4-BE49-F238E27FC236}">
                              <a16:creationId xmlns:a16="http://schemas.microsoft.com/office/drawing/2014/main" id="{AB933AD1-B5A3-DEC1-66B0-EC1DAF3D37EF}"/>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0" name="等腰三角形 99">
                          <a:extLst>
                            <a:ext uri="{FF2B5EF4-FFF2-40B4-BE49-F238E27FC236}">
                              <a16:creationId xmlns:a16="http://schemas.microsoft.com/office/drawing/2014/main" id="{BE32AB61-0212-3C30-4A4B-4370A0F05087}"/>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98" name="直接箭头连接符 97">
                        <a:extLst>
                          <a:ext uri="{FF2B5EF4-FFF2-40B4-BE49-F238E27FC236}">
                            <a16:creationId xmlns:a16="http://schemas.microsoft.com/office/drawing/2014/main" id="{02E45CB8-79B3-01C5-AC78-DE61389691BF}"/>
                          </a:ext>
                        </a:extLst>
                      </p:cNvPr>
                      <p:cNvCxnSpPr>
                        <a:cxnSpLocks/>
                        <a:endCxn id="100"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95" name="直接箭头连接符 94">
                      <a:extLst>
                        <a:ext uri="{FF2B5EF4-FFF2-40B4-BE49-F238E27FC236}">
                          <a16:creationId xmlns:a16="http://schemas.microsoft.com/office/drawing/2014/main" id="{01DF4415-BD2F-5B0F-E1AF-8B36BBFE7DEC}"/>
                        </a:ext>
                      </a:extLst>
                    </p:cNvPr>
                    <p:cNvCxnSpPr>
                      <a:cxnSpLocks/>
                      <a:stCxn id="105" idx="3"/>
                      <a:endCxn id="96" idx="4"/>
                    </p:cNvCxnSpPr>
                    <p:nvPr/>
                  </p:nvCxnSpPr>
                  <p:spPr>
                    <a:xfrm>
                      <a:off x="6058425" y="3939082"/>
                      <a:ext cx="113416" cy="696"/>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90" name="直接箭头连接符 89">
                    <a:extLst>
                      <a:ext uri="{FF2B5EF4-FFF2-40B4-BE49-F238E27FC236}">
                        <a16:creationId xmlns:a16="http://schemas.microsoft.com/office/drawing/2014/main" id="{3C6F56A4-D483-2014-5BC8-FF531D135CAA}"/>
                      </a:ext>
                    </a:extLst>
                  </p:cNvPr>
                  <p:cNvCxnSpPr>
                    <a:cxnSpLocks/>
                  </p:cNvCxnSpPr>
                  <p:nvPr/>
                </p:nvCxnSpPr>
                <p:spPr>
                  <a:xfrm flipV="1">
                    <a:off x="5247119" y="3897114"/>
                    <a:ext cx="229489" cy="435"/>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sp>
              <p:nvSpPr>
                <p:cNvPr id="83" name="文本框 82">
                  <a:extLst>
                    <a:ext uri="{FF2B5EF4-FFF2-40B4-BE49-F238E27FC236}">
                      <a16:creationId xmlns:a16="http://schemas.microsoft.com/office/drawing/2014/main" id="{4A3E9CA2-6112-7790-6CF4-86C5FA0B566B}"/>
                    </a:ext>
                  </a:extLst>
                </p:cNvPr>
                <p:cNvSpPr txBox="1"/>
                <p:nvPr/>
              </p:nvSpPr>
              <p:spPr>
                <a:xfrm flipH="1">
                  <a:off x="10682231" y="4778998"/>
                  <a:ext cx="590035" cy="930460"/>
                </a:xfrm>
                <a:prstGeom prst="rect">
                  <a:avLst/>
                </a:prstGeom>
                <a:noFill/>
              </p:spPr>
              <p:txBody>
                <a:bodyPr wrap="square" rtlCol="0">
                  <a:spAutoFit/>
                </a:bodyPr>
                <a:lstStyle/>
                <a:p>
                  <a:r>
                    <a:rPr lang="en-US" altLang="zh-CN" sz="4000" b="1">
                      <a:solidFill>
                        <a:schemeClr val="accent1">
                          <a:lumMod val="50000"/>
                        </a:schemeClr>
                      </a:solidFill>
                      <a:latin typeface="Times New Roman" panose="02020603050405020304" pitchFamily="18" charset="0"/>
                      <a:cs typeface="Times New Roman" panose="02020603050405020304" pitchFamily="18" charset="0"/>
                    </a:rPr>
                    <a:t>…</a:t>
                  </a:r>
                  <a:endParaRPr lang="zh-CN" altLang="en-US" sz="4000" b="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85" name="直接箭头连接符 84">
                  <a:extLst>
                    <a:ext uri="{FF2B5EF4-FFF2-40B4-BE49-F238E27FC236}">
                      <a16:creationId xmlns:a16="http://schemas.microsoft.com/office/drawing/2014/main" id="{E47B91A9-425B-9831-D858-31A5ECAA8000}"/>
                    </a:ext>
                  </a:extLst>
                </p:cNvPr>
                <p:cNvCxnSpPr>
                  <a:cxnSpLocks/>
                  <a:endCxn id="133" idx="2"/>
                </p:cNvCxnSpPr>
                <p:nvPr/>
              </p:nvCxnSpPr>
              <p:spPr>
                <a:xfrm>
                  <a:off x="6297841" y="4402931"/>
                  <a:ext cx="0" cy="934791"/>
                </a:xfrm>
                <a:prstGeom prst="straightConnector1">
                  <a:avLst/>
                </a:prstGeom>
                <a:ln w="9525">
                  <a:solidFill>
                    <a:schemeClr val="tx1">
                      <a:lumMod val="95000"/>
                      <a:lumOff val="5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66FE00E4-4555-A4EC-5EA2-488DA408B560}"/>
                    </a:ext>
                  </a:extLst>
                </p:cNvPr>
                <p:cNvCxnSpPr>
                  <a:cxnSpLocks/>
                </p:cNvCxnSpPr>
                <p:nvPr/>
              </p:nvCxnSpPr>
              <p:spPr>
                <a:xfrm>
                  <a:off x="8238193" y="4364065"/>
                  <a:ext cx="0" cy="934791"/>
                </a:xfrm>
                <a:prstGeom prst="straightConnector1">
                  <a:avLst/>
                </a:prstGeom>
                <a:ln w="9525">
                  <a:solidFill>
                    <a:schemeClr val="tx1">
                      <a:lumMod val="95000"/>
                      <a:lumOff val="5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01FB623A-A3F5-DE89-0B00-CFDD5D4127B2}"/>
                    </a:ext>
                  </a:extLst>
                </p:cNvPr>
                <p:cNvCxnSpPr>
                  <a:cxnSpLocks/>
                </p:cNvCxnSpPr>
                <p:nvPr/>
              </p:nvCxnSpPr>
              <p:spPr>
                <a:xfrm>
                  <a:off x="10124143" y="4364065"/>
                  <a:ext cx="0" cy="934791"/>
                </a:xfrm>
                <a:prstGeom prst="straightConnector1">
                  <a:avLst/>
                </a:prstGeom>
                <a:ln w="9525">
                  <a:solidFill>
                    <a:schemeClr val="tx1">
                      <a:lumMod val="95000"/>
                      <a:lumOff val="5000"/>
                    </a:schemeClr>
                  </a:solidFill>
                  <a:tailEnd type="triangle" w="sm" len="sm"/>
                </a:ln>
              </p:spPr>
              <p:style>
                <a:lnRef idx="1">
                  <a:schemeClr val="accent1"/>
                </a:lnRef>
                <a:fillRef idx="0">
                  <a:schemeClr val="accent1"/>
                </a:fillRef>
                <a:effectRef idx="0">
                  <a:schemeClr val="accent1"/>
                </a:effectRef>
                <a:fontRef idx="minor">
                  <a:schemeClr val="tx1"/>
                </a:fontRef>
              </p:style>
            </p:cxnSp>
          </p:grpSp>
          <p:sp>
            <p:nvSpPr>
              <p:cNvPr id="195" name="文本框 194">
                <a:extLst>
                  <a:ext uri="{FF2B5EF4-FFF2-40B4-BE49-F238E27FC236}">
                    <a16:creationId xmlns:a16="http://schemas.microsoft.com/office/drawing/2014/main" id="{9C7D818D-8492-852E-63EA-89C071B430A4}"/>
                  </a:ext>
                </a:extLst>
              </p:cNvPr>
              <p:cNvSpPr txBox="1"/>
              <p:nvPr/>
            </p:nvSpPr>
            <p:spPr>
              <a:xfrm rot="5400000" flipH="1">
                <a:off x="3561333" y="4835653"/>
                <a:ext cx="453284" cy="707886"/>
              </a:xfrm>
              <a:prstGeom prst="rect">
                <a:avLst/>
              </a:prstGeom>
              <a:noFill/>
            </p:spPr>
            <p:txBody>
              <a:bodyPr wrap="square" rtlCol="0">
                <a:spAutoFit/>
              </a:bodyPr>
              <a:lstStyle/>
              <a:p>
                <a:r>
                  <a:rPr lang="en-US" altLang="zh-CN" sz="4000" b="1">
                    <a:solidFill>
                      <a:schemeClr val="accent1">
                        <a:lumMod val="50000"/>
                      </a:schemeClr>
                    </a:solidFill>
                    <a:latin typeface="Times New Roman" panose="02020603050405020304" pitchFamily="18" charset="0"/>
                    <a:cs typeface="Times New Roman" panose="02020603050405020304" pitchFamily="18" charset="0"/>
                  </a:rPr>
                  <a:t>…</a:t>
                </a:r>
                <a:endParaRPr lang="zh-CN" altLang="en-US" sz="40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96" name="文本框 195">
                <a:extLst>
                  <a:ext uri="{FF2B5EF4-FFF2-40B4-BE49-F238E27FC236}">
                    <a16:creationId xmlns:a16="http://schemas.microsoft.com/office/drawing/2014/main" id="{5C0171F1-BD05-D498-8EBC-B04F947E5654}"/>
                  </a:ext>
                </a:extLst>
              </p:cNvPr>
              <p:cNvSpPr txBox="1"/>
              <p:nvPr/>
            </p:nvSpPr>
            <p:spPr>
              <a:xfrm rot="5400000" flipH="1">
                <a:off x="5074869" y="4804496"/>
                <a:ext cx="453284" cy="707886"/>
              </a:xfrm>
              <a:prstGeom prst="rect">
                <a:avLst/>
              </a:prstGeom>
              <a:noFill/>
            </p:spPr>
            <p:txBody>
              <a:bodyPr wrap="square" rtlCol="0">
                <a:spAutoFit/>
              </a:bodyPr>
              <a:lstStyle/>
              <a:p>
                <a:r>
                  <a:rPr lang="en-US" altLang="zh-CN" sz="4000" b="1">
                    <a:solidFill>
                      <a:schemeClr val="accent1">
                        <a:lumMod val="50000"/>
                      </a:schemeClr>
                    </a:solidFill>
                    <a:latin typeface="Times New Roman" panose="02020603050405020304" pitchFamily="18" charset="0"/>
                    <a:cs typeface="Times New Roman" panose="02020603050405020304" pitchFamily="18" charset="0"/>
                  </a:rPr>
                  <a:t>…</a:t>
                </a:r>
                <a:endParaRPr lang="zh-CN" altLang="en-US" sz="40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97" name="文本框 196">
                <a:extLst>
                  <a:ext uri="{FF2B5EF4-FFF2-40B4-BE49-F238E27FC236}">
                    <a16:creationId xmlns:a16="http://schemas.microsoft.com/office/drawing/2014/main" id="{027CE4B5-7BD9-B025-2131-D2BC3E030C3D}"/>
                  </a:ext>
                </a:extLst>
              </p:cNvPr>
              <p:cNvSpPr txBox="1"/>
              <p:nvPr/>
            </p:nvSpPr>
            <p:spPr>
              <a:xfrm rot="5400000" flipH="1">
                <a:off x="6583214" y="4791076"/>
                <a:ext cx="453284" cy="707886"/>
              </a:xfrm>
              <a:prstGeom prst="rect">
                <a:avLst/>
              </a:prstGeom>
              <a:noFill/>
            </p:spPr>
            <p:txBody>
              <a:bodyPr wrap="square" rtlCol="0">
                <a:spAutoFit/>
              </a:bodyPr>
              <a:lstStyle/>
              <a:p>
                <a:r>
                  <a:rPr lang="en-US" altLang="zh-CN" sz="4000" b="1">
                    <a:solidFill>
                      <a:schemeClr val="accent1">
                        <a:lumMod val="50000"/>
                      </a:schemeClr>
                    </a:solidFill>
                    <a:latin typeface="Times New Roman" panose="02020603050405020304" pitchFamily="18" charset="0"/>
                    <a:cs typeface="Times New Roman" panose="02020603050405020304" pitchFamily="18" charset="0"/>
                  </a:rPr>
                  <a:t>…</a:t>
                </a:r>
                <a:endParaRPr lang="zh-CN" altLang="en-US" sz="40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98" name="矩形: 圆角 197">
                <a:extLst>
                  <a:ext uri="{FF2B5EF4-FFF2-40B4-BE49-F238E27FC236}">
                    <a16:creationId xmlns:a16="http://schemas.microsoft.com/office/drawing/2014/main" id="{17FD7154-CD6B-8C2A-375C-918E1782A876}"/>
                  </a:ext>
                </a:extLst>
              </p:cNvPr>
              <p:cNvSpPr/>
              <p:nvPr/>
            </p:nvSpPr>
            <p:spPr>
              <a:xfrm>
                <a:off x="3128380" y="5583461"/>
                <a:ext cx="4644647" cy="277000"/>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accent1">
                        <a:lumMod val="50000"/>
                      </a:schemeClr>
                    </a:solidFill>
                    <a:latin typeface="Times New Roman" panose="02020603050405020304" pitchFamily="18" charset="0"/>
                    <a:cs typeface="Times New Roman" panose="02020603050405020304" pitchFamily="18" charset="0"/>
                  </a:rPr>
                  <a:t>输出同步单元</a:t>
                </a:r>
              </a:p>
            </p:txBody>
          </p:sp>
          <p:sp>
            <p:nvSpPr>
              <p:cNvPr id="199" name="文本框 198">
                <a:extLst>
                  <a:ext uri="{FF2B5EF4-FFF2-40B4-BE49-F238E27FC236}">
                    <a16:creationId xmlns:a16="http://schemas.microsoft.com/office/drawing/2014/main" id="{AB2CF37F-5DF5-297D-73B4-AF7C3C5ACF50}"/>
                  </a:ext>
                </a:extLst>
              </p:cNvPr>
              <p:cNvSpPr txBox="1"/>
              <p:nvPr/>
            </p:nvSpPr>
            <p:spPr>
              <a:xfrm>
                <a:off x="4064428" y="2363476"/>
                <a:ext cx="2514600" cy="307777"/>
              </a:xfrm>
              <a:prstGeom prst="rect">
                <a:avLst/>
              </a:prstGeom>
              <a:noFill/>
            </p:spPr>
            <p:txBody>
              <a:bodyPr wrap="square" rtlCol="0">
                <a:spAutoFit/>
              </a:bodyPr>
              <a:lstStyle/>
              <a:p>
                <a:pPr algn="ctr"/>
                <a:r>
                  <a:rPr lang="zh-CN" altLang="en-US" sz="1400" b="1" dirty="0">
                    <a:latin typeface="Times New Roman" panose="02020603050405020304" pitchFamily="18" charset="0"/>
                    <a:cs typeface="Times New Roman" panose="02020603050405020304" pitchFamily="18" charset="0"/>
                  </a:rPr>
                  <a:t>三维脉动卷积阵列</a:t>
                </a:r>
                <a:endParaRPr lang="en-US" altLang="zh-CN" sz="1400" b="1" dirty="0">
                  <a:latin typeface="Times New Roman" panose="02020603050405020304" pitchFamily="18" charset="0"/>
                  <a:cs typeface="Times New Roman" panose="02020603050405020304" pitchFamily="18" charset="0"/>
                </a:endParaRPr>
              </a:p>
            </p:txBody>
          </p:sp>
          <p:grpSp>
            <p:nvGrpSpPr>
              <p:cNvPr id="211" name="组合 210">
                <a:extLst>
                  <a:ext uri="{FF2B5EF4-FFF2-40B4-BE49-F238E27FC236}">
                    <a16:creationId xmlns:a16="http://schemas.microsoft.com/office/drawing/2014/main" id="{4373E229-953A-3E2B-509B-27ABF2188A1F}"/>
                  </a:ext>
                </a:extLst>
              </p:cNvPr>
              <p:cNvGrpSpPr/>
              <p:nvPr/>
            </p:nvGrpSpPr>
            <p:grpSpPr>
              <a:xfrm>
                <a:off x="3283109" y="1535152"/>
                <a:ext cx="22340" cy="2930405"/>
                <a:chOff x="3283109" y="1535152"/>
                <a:chExt cx="22340" cy="2930405"/>
              </a:xfrm>
            </p:grpSpPr>
            <p:cxnSp>
              <p:nvCxnSpPr>
                <p:cNvPr id="205" name="直接箭头连接符 204">
                  <a:extLst>
                    <a:ext uri="{FF2B5EF4-FFF2-40B4-BE49-F238E27FC236}">
                      <a16:creationId xmlns:a16="http://schemas.microsoft.com/office/drawing/2014/main" id="{27D3ABFC-AD68-1C2F-DE1D-07CA40F9ED04}"/>
                    </a:ext>
                  </a:extLst>
                </p:cNvPr>
                <p:cNvCxnSpPr>
                  <a:cxnSpLocks/>
                  <a:endCxn id="190" idx="0"/>
                </p:cNvCxnSpPr>
                <p:nvPr/>
              </p:nvCxnSpPr>
              <p:spPr>
                <a:xfrm>
                  <a:off x="3283109" y="1535152"/>
                  <a:ext cx="22340" cy="1771001"/>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8" name="直接箭头连接符 207">
                  <a:extLst>
                    <a:ext uri="{FF2B5EF4-FFF2-40B4-BE49-F238E27FC236}">
                      <a16:creationId xmlns:a16="http://schemas.microsoft.com/office/drawing/2014/main" id="{5C4D858F-25E4-9ADB-7148-755A324F85D4}"/>
                    </a:ext>
                  </a:extLst>
                </p:cNvPr>
                <p:cNvCxnSpPr>
                  <a:cxnSpLocks/>
                  <a:endCxn id="138" idx="0"/>
                </p:cNvCxnSpPr>
                <p:nvPr/>
              </p:nvCxnSpPr>
              <p:spPr>
                <a:xfrm>
                  <a:off x="3295674" y="1535152"/>
                  <a:ext cx="9775" cy="2930405"/>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212" name="组合 211">
                <a:extLst>
                  <a:ext uri="{FF2B5EF4-FFF2-40B4-BE49-F238E27FC236}">
                    <a16:creationId xmlns:a16="http://schemas.microsoft.com/office/drawing/2014/main" id="{7A5E6002-FF03-E7A5-610C-F7F064F2995B}"/>
                  </a:ext>
                </a:extLst>
              </p:cNvPr>
              <p:cNvGrpSpPr/>
              <p:nvPr/>
            </p:nvGrpSpPr>
            <p:grpSpPr>
              <a:xfrm>
                <a:off x="4773793" y="1510249"/>
                <a:ext cx="22340" cy="2930405"/>
                <a:chOff x="4550834" y="1458150"/>
                <a:chExt cx="22340" cy="2930405"/>
              </a:xfrm>
            </p:grpSpPr>
            <p:cxnSp>
              <p:nvCxnSpPr>
                <p:cNvPr id="213" name="直接箭头连接符 212">
                  <a:extLst>
                    <a:ext uri="{FF2B5EF4-FFF2-40B4-BE49-F238E27FC236}">
                      <a16:creationId xmlns:a16="http://schemas.microsoft.com/office/drawing/2014/main" id="{97929742-5A61-6D34-8B57-0760B375B1B9}"/>
                    </a:ext>
                  </a:extLst>
                </p:cNvPr>
                <p:cNvCxnSpPr>
                  <a:cxnSpLocks/>
                </p:cNvCxnSpPr>
                <p:nvPr/>
              </p:nvCxnSpPr>
              <p:spPr>
                <a:xfrm>
                  <a:off x="4550834" y="1458150"/>
                  <a:ext cx="22340" cy="1771001"/>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4" name="直接箭头连接符 213">
                  <a:extLst>
                    <a:ext uri="{FF2B5EF4-FFF2-40B4-BE49-F238E27FC236}">
                      <a16:creationId xmlns:a16="http://schemas.microsoft.com/office/drawing/2014/main" id="{AA58605B-2FAD-A1ED-0FD3-3FB1A290956B}"/>
                    </a:ext>
                  </a:extLst>
                </p:cNvPr>
                <p:cNvCxnSpPr>
                  <a:cxnSpLocks/>
                </p:cNvCxnSpPr>
                <p:nvPr/>
              </p:nvCxnSpPr>
              <p:spPr>
                <a:xfrm>
                  <a:off x="4563399" y="1458150"/>
                  <a:ext cx="9775" cy="2930405"/>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215" name="组合 214">
                <a:extLst>
                  <a:ext uri="{FF2B5EF4-FFF2-40B4-BE49-F238E27FC236}">
                    <a16:creationId xmlns:a16="http://schemas.microsoft.com/office/drawing/2014/main" id="{848FFEEA-C611-2F44-8F6F-A1B0FA7ED3B1}"/>
                  </a:ext>
                </a:extLst>
              </p:cNvPr>
              <p:cNvGrpSpPr/>
              <p:nvPr/>
            </p:nvGrpSpPr>
            <p:grpSpPr>
              <a:xfrm>
                <a:off x="6216228" y="1494683"/>
                <a:ext cx="22340" cy="2930405"/>
                <a:chOff x="4550834" y="1458150"/>
                <a:chExt cx="22340" cy="2930405"/>
              </a:xfrm>
            </p:grpSpPr>
            <p:cxnSp>
              <p:nvCxnSpPr>
                <p:cNvPr id="216" name="直接箭头连接符 215">
                  <a:extLst>
                    <a:ext uri="{FF2B5EF4-FFF2-40B4-BE49-F238E27FC236}">
                      <a16:creationId xmlns:a16="http://schemas.microsoft.com/office/drawing/2014/main" id="{F93AE600-A161-A47F-0EF9-4F49413DACA5}"/>
                    </a:ext>
                  </a:extLst>
                </p:cNvPr>
                <p:cNvCxnSpPr>
                  <a:cxnSpLocks/>
                </p:cNvCxnSpPr>
                <p:nvPr/>
              </p:nvCxnSpPr>
              <p:spPr>
                <a:xfrm>
                  <a:off x="4550834" y="1458150"/>
                  <a:ext cx="22340" cy="1771001"/>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7" name="直接箭头连接符 216">
                  <a:extLst>
                    <a:ext uri="{FF2B5EF4-FFF2-40B4-BE49-F238E27FC236}">
                      <a16:creationId xmlns:a16="http://schemas.microsoft.com/office/drawing/2014/main" id="{7563648E-2D97-AEAE-87C1-577F1AF70F7D}"/>
                    </a:ext>
                  </a:extLst>
                </p:cNvPr>
                <p:cNvCxnSpPr>
                  <a:cxnSpLocks/>
                </p:cNvCxnSpPr>
                <p:nvPr/>
              </p:nvCxnSpPr>
              <p:spPr>
                <a:xfrm>
                  <a:off x="4563399" y="1458150"/>
                  <a:ext cx="9775" cy="2930405"/>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sp>
            <p:nvSpPr>
              <p:cNvPr id="219" name="矩形: 圆角 218">
                <a:extLst>
                  <a:ext uri="{FF2B5EF4-FFF2-40B4-BE49-F238E27FC236}">
                    <a16:creationId xmlns:a16="http://schemas.microsoft.com/office/drawing/2014/main" id="{DCBE33B3-9D7A-3975-E6A1-D6D639A94AD4}"/>
                  </a:ext>
                </a:extLst>
              </p:cNvPr>
              <p:cNvSpPr/>
              <p:nvPr/>
            </p:nvSpPr>
            <p:spPr>
              <a:xfrm>
                <a:off x="2553647" y="1491836"/>
                <a:ext cx="5495727" cy="420762"/>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Times New Roman" panose="02020603050405020304" pitchFamily="18" charset="0"/>
                    <a:cs typeface="Times New Roman" panose="02020603050405020304" pitchFamily="18" charset="0"/>
                  </a:rPr>
                  <a:t>权重管理单元</a:t>
                </a:r>
              </a:p>
            </p:txBody>
          </p:sp>
          <p:sp>
            <p:nvSpPr>
              <p:cNvPr id="221" name="矩形: 圆角 220">
                <a:extLst>
                  <a:ext uri="{FF2B5EF4-FFF2-40B4-BE49-F238E27FC236}">
                    <a16:creationId xmlns:a16="http://schemas.microsoft.com/office/drawing/2014/main" id="{1B7590CB-56E5-0520-FE9C-365428C5EEE9}"/>
                  </a:ext>
                </a:extLst>
              </p:cNvPr>
              <p:cNvSpPr/>
              <p:nvPr/>
            </p:nvSpPr>
            <p:spPr>
              <a:xfrm>
                <a:off x="1662990" y="2286771"/>
                <a:ext cx="519643" cy="3797361"/>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Times New Roman" panose="02020603050405020304" pitchFamily="18" charset="0"/>
                    <a:cs typeface="Times New Roman" panose="02020603050405020304" pitchFamily="18" charset="0"/>
                  </a:rPr>
                  <a:t>数据管理单元</a:t>
                </a:r>
              </a:p>
            </p:txBody>
          </p:sp>
          <p:sp>
            <p:nvSpPr>
              <p:cNvPr id="225" name="文本框 224">
                <a:extLst>
                  <a:ext uri="{FF2B5EF4-FFF2-40B4-BE49-F238E27FC236}">
                    <a16:creationId xmlns:a16="http://schemas.microsoft.com/office/drawing/2014/main" id="{43D52F32-79CB-5E26-998C-F0572279E3A8}"/>
                  </a:ext>
                </a:extLst>
              </p:cNvPr>
              <p:cNvSpPr txBox="1"/>
              <p:nvPr/>
            </p:nvSpPr>
            <p:spPr>
              <a:xfrm>
                <a:off x="2594516" y="4345724"/>
                <a:ext cx="553358" cy="276999"/>
              </a:xfrm>
              <a:prstGeom prst="rect">
                <a:avLst/>
              </a:prstGeom>
              <a:noFill/>
            </p:spPr>
            <p:txBody>
              <a:bodyPr wrap="none" rtlCol="0">
                <a:spAutoFit/>
              </a:bodyPr>
              <a:lstStyle/>
              <a:p>
                <a:pPr algn="ctr"/>
                <a:r>
                  <a:rPr lang="en-US" altLang="zh-CN" sz="1200" dirty="0">
                    <a:latin typeface="Times New Roman" panose="02020603050405020304" pitchFamily="18" charset="0"/>
                    <a:cs typeface="Times New Roman" panose="02020603050405020304" pitchFamily="18" charset="0"/>
                  </a:rPr>
                  <a:t>Data1</a:t>
                </a:r>
                <a:endParaRPr lang="zh-CN" altLang="en-US" sz="1200" dirty="0">
                  <a:latin typeface="Times New Roman" panose="02020603050405020304" pitchFamily="18" charset="0"/>
                  <a:cs typeface="Times New Roman" panose="02020603050405020304" pitchFamily="18" charset="0"/>
                </a:endParaRPr>
              </a:p>
            </p:txBody>
          </p:sp>
          <p:cxnSp>
            <p:nvCxnSpPr>
              <p:cNvPr id="228" name="直接箭头连接符 227">
                <a:extLst>
                  <a:ext uri="{FF2B5EF4-FFF2-40B4-BE49-F238E27FC236}">
                    <a16:creationId xmlns:a16="http://schemas.microsoft.com/office/drawing/2014/main" id="{61F93A50-15EF-34A0-33B4-01BA0D70C08B}"/>
                  </a:ext>
                </a:extLst>
              </p:cNvPr>
              <p:cNvCxnSpPr>
                <a:cxnSpLocks/>
                <a:endCxn id="221" idx="1"/>
              </p:cNvCxnSpPr>
              <p:nvPr/>
            </p:nvCxnSpPr>
            <p:spPr>
              <a:xfrm>
                <a:off x="644893" y="4185452"/>
                <a:ext cx="101809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2" name="文本框 231">
                <a:extLst>
                  <a:ext uri="{FF2B5EF4-FFF2-40B4-BE49-F238E27FC236}">
                    <a16:creationId xmlns:a16="http://schemas.microsoft.com/office/drawing/2014/main" id="{C847641B-2511-9920-E970-2BF705B816B6}"/>
                  </a:ext>
                </a:extLst>
              </p:cNvPr>
              <p:cNvSpPr txBox="1"/>
              <p:nvPr/>
            </p:nvSpPr>
            <p:spPr>
              <a:xfrm>
                <a:off x="641265" y="3834408"/>
                <a:ext cx="954107" cy="276999"/>
              </a:xfrm>
              <a:prstGeom prst="rect">
                <a:avLst/>
              </a:prstGeom>
              <a:noFill/>
            </p:spPr>
            <p:txBody>
              <a:bodyPr wrap="none" rtlCol="0">
                <a:spAutoFit/>
              </a:bodyPr>
              <a:lstStyle/>
              <a:p>
                <a:pPr algn="ctr"/>
                <a:r>
                  <a:rPr lang="zh-CN" altLang="en-US" sz="1200" dirty="0">
                    <a:latin typeface="Times New Roman" panose="02020603050405020304" pitchFamily="18" charset="0"/>
                    <a:cs typeface="Times New Roman" panose="02020603050405020304" pitchFamily="18" charset="0"/>
                  </a:rPr>
                  <a:t>上一层输出</a:t>
                </a:r>
              </a:p>
            </p:txBody>
          </p:sp>
          <p:sp>
            <p:nvSpPr>
              <p:cNvPr id="234" name="文本框 233">
                <a:extLst>
                  <a:ext uri="{FF2B5EF4-FFF2-40B4-BE49-F238E27FC236}">
                    <a16:creationId xmlns:a16="http://schemas.microsoft.com/office/drawing/2014/main" id="{A266EF9D-73F1-390D-E175-4BDF87E37C22}"/>
                  </a:ext>
                </a:extLst>
              </p:cNvPr>
              <p:cNvSpPr txBox="1"/>
              <p:nvPr/>
            </p:nvSpPr>
            <p:spPr>
              <a:xfrm>
                <a:off x="4428165" y="6319215"/>
                <a:ext cx="800219" cy="276999"/>
              </a:xfrm>
              <a:prstGeom prst="rect">
                <a:avLst/>
              </a:prstGeom>
              <a:noFill/>
            </p:spPr>
            <p:txBody>
              <a:bodyPr wrap="none" rtlCol="0">
                <a:spAutoFit/>
              </a:bodyPr>
              <a:lstStyle/>
              <a:p>
                <a:pPr algn="ctr"/>
                <a:r>
                  <a:rPr lang="zh-CN" altLang="en-US" sz="1200" dirty="0">
                    <a:latin typeface="Times New Roman" panose="02020603050405020304" pitchFamily="18" charset="0"/>
                    <a:cs typeface="Times New Roman" panose="02020603050405020304" pitchFamily="18" charset="0"/>
                  </a:rPr>
                  <a:t>本层输出</a:t>
                </a:r>
              </a:p>
            </p:txBody>
          </p:sp>
        </p:grpSp>
      </p:grpSp>
      <p:grpSp>
        <p:nvGrpSpPr>
          <p:cNvPr id="7" name="组合 6">
            <a:extLst>
              <a:ext uri="{FF2B5EF4-FFF2-40B4-BE49-F238E27FC236}">
                <a16:creationId xmlns:a16="http://schemas.microsoft.com/office/drawing/2014/main" id="{536FF8CF-0063-7137-60F4-D5982EFCB988}"/>
              </a:ext>
            </a:extLst>
          </p:cNvPr>
          <p:cNvGrpSpPr/>
          <p:nvPr/>
        </p:nvGrpSpPr>
        <p:grpSpPr>
          <a:xfrm>
            <a:off x="65394" y="5465161"/>
            <a:ext cx="2721863" cy="1103016"/>
            <a:chOff x="1118671" y="1518093"/>
            <a:chExt cx="3483414" cy="1103016"/>
          </a:xfrm>
        </p:grpSpPr>
        <p:sp>
          <p:nvSpPr>
            <p:cNvPr id="8" name="矩形: 圆角 19">
              <a:extLst>
                <a:ext uri="{FF2B5EF4-FFF2-40B4-BE49-F238E27FC236}">
                  <a16:creationId xmlns:a16="http://schemas.microsoft.com/office/drawing/2014/main" id="{5197795F-BDB0-D71D-5EF6-CA8DCA94FFEF}"/>
                </a:ext>
              </a:extLst>
            </p:cNvPr>
            <p:cNvSpPr/>
            <p:nvPr>
              <p:custDataLst>
                <p:tags r:id="rId10"/>
              </p:custDataLst>
            </p:nvPr>
          </p:nvSpPr>
          <p:spPr>
            <a:xfrm>
              <a:off x="1118671" y="1518093"/>
              <a:ext cx="3306290" cy="1103016"/>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10" name="文本框 17">
              <a:extLst>
                <a:ext uri="{FF2B5EF4-FFF2-40B4-BE49-F238E27FC236}">
                  <a16:creationId xmlns:a16="http://schemas.microsoft.com/office/drawing/2014/main" id="{079B27EF-D502-FF48-17EE-6F2826DBB5A4}"/>
                </a:ext>
              </a:extLst>
            </p:cNvPr>
            <p:cNvSpPr txBox="1"/>
            <p:nvPr>
              <p:custDataLst>
                <p:tags r:id="rId11"/>
              </p:custDataLst>
            </p:nvPr>
          </p:nvSpPr>
          <p:spPr>
            <a:xfrm>
              <a:off x="1632160" y="1603036"/>
              <a:ext cx="2969925"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zh-CN" b="1" dirty="0"/>
                <a:t>数据重组与窗口生成</a:t>
              </a:r>
              <a:endParaRPr lang="zh-CN" dirty="0">
                <a:latin typeface="微软雅黑" panose="020B0503020204020204" pitchFamily="34" charset="-122"/>
                <a:ea typeface="微软雅黑" panose="020B0503020204020204" pitchFamily="34" charset="-122"/>
              </a:endParaRPr>
            </a:p>
          </p:txBody>
        </p:sp>
        <p:sp>
          <p:nvSpPr>
            <p:cNvPr id="12" name="文本框 18">
              <a:extLst>
                <a:ext uri="{FF2B5EF4-FFF2-40B4-BE49-F238E27FC236}">
                  <a16:creationId xmlns:a16="http://schemas.microsoft.com/office/drawing/2014/main" id="{2B31AC81-2512-B2FC-60A0-49F96E025EE0}"/>
                </a:ext>
              </a:extLst>
            </p:cNvPr>
            <p:cNvSpPr txBox="1"/>
            <p:nvPr>
              <p:custDataLst>
                <p:tags r:id="rId12"/>
              </p:custDataLst>
            </p:nvPr>
          </p:nvSpPr>
          <p:spPr>
            <a:xfrm>
              <a:off x="1370674" y="1929488"/>
              <a:ext cx="2969925" cy="61369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pPr marL="171450" indent="-171450">
                <a:buFontTx/>
                <a:buChar char="-"/>
              </a:pPr>
              <a:r>
                <a:rPr lang="zh-CN" altLang="en-US" sz="1200" dirty="0">
                  <a:solidFill>
                    <a:schemeClr val="tx2"/>
                  </a:solidFill>
                  <a:latin typeface="微软雅黑" panose="020B0503020204020204" pitchFamily="34" charset="-122"/>
                  <a:ea typeface="微软雅黑" panose="020B0503020204020204" pitchFamily="34" charset="-122"/>
                </a:rPr>
                <a:t>窗口滑动提取，匹配脉动节奏</a:t>
              </a:r>
              <a:endParaRPr lang="en-US" altLang="zh-CN" sz="1200" dirty="0">
                <a:solidFill>
                  <a:schemeClr val="tx2"/>
                </a:solidFill>
                <a:latin typeface="微软雅黑" panose="020B0503020204020204" pitchFamily="34" charset="-122"/>
                <a:ea typeface="微软雅黑" panose="020B0503020204020204" pitchFamily="34" charset="-122"/>
              </a:endParaRPr>
            </a:p>
            <a:p>
              <a:pPr marL="171450" indent="-171450">
                <a:buFontTx/>
                <a:buChar char="-"/>
              </a:pPr>
              <a:r>
                <a:rPr lang="zh-CN" altLang="en-US" sz="1200" dirty="0">
                  <a:solidFill>
                    <a:schemeClr val="tx2"/>
                  </a:solidFill>
                  <a:latin typeface="微软雅黑" panose="020B0503020204020204" pitchFamily="34" charset="-122"/>
                  <a:ea typeface="微软雅黑" panose="020B0503020204020204" pitchFamily="34" charset="-122"/>
                </a:rPr>
                <a:t>行缓存精细控制，边存边算</a:t>
              </a:r>
              <a:endParaRPr lang="en-US" altLang="zh-CN" sz="1200" dirty="0">
                <a:solidFill>
                  <a:schemeClr val="tx2"/>
                </a:solidFill>
                <a:latin typeface="微软雅黑" panose="020B0503020204020204" pitchFamily="34" charset="-122"/>
                <a:ea typeface="微软雅黑" panose="020B0503020204020204" pitchFamily="34" charset="-122"/>
              </a:endParaRPr>
            </a:p>
          </p:txBody>
        </p:sp>
        <p:sp>
          <p:nvSpPr>
            <p:cNvPr id="13" name="椭圆 14">
              <a:extLst>
                <a:ext uri="{FF2B5EF4-FFF2-40B4-BE49-F238E27FC236}">
                  <a16:creationId xmlns:a16="http://schemas.microsoft.com/office/drawing/2014/main" id="{DAA5537D-520F-4F5B-91A8-691B68A92057}"/>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grpSp>
        <p:nvGrpSpPr>
          <p:cNvPr id="14" name="组合 13">
            <a:extLst>
              <a:ext uri="{FF2B5EF4-FFF2-40B4-BE49-F238E27FC236}">
                <a16:creationId xmlns:a16="http://schemas.microsoft.com/office/drawing/2014/main" id="{5E85BD43-E842-CCEC-BE72-978354E8DD31}"/>
              </a:ext>
            </a:extLst>
          </p:cNvPr>
          <p:cNvGrpSpPr/>
          <p:nvPr/>
        </p:nvGrpSpPr>
        <p:grpSpPr>
          <a:xfrm>
            <a:off x="267248" y="1669738"/>
            <a:ext cx="2187611" cy="1103016"/>
            <a:chOff x="1118671" y="1518093"/>
            <a:chExt cx="3681851" cy="1103016"/>
          </a:xfrm>
        </p:grpSpPr>
        <p:sp>
          <p:nvSpPr>
            <p:cNvPr id="15" name="矩形: 圆角 19">
              <a:extLst>
                <a:ext uri="{FF2B5EF4-FFF2-40B4-BE49-F238E27FC236}">
                  <a16:creationId xmlns:a16="http://schemas.microsoft.com/office/drawing/2014/main" id="{C0D43C22-007F-AD44-CFB6-A9F477A68656}"/>
                </a:ext>
              </a:extLst>
            </p:cNvPr>
            <p:cNvSpPr/>
            <p:nvPr>
              <p:custDataLst>
                <p:tags r:id="rId7"/>
              </p:custDataLst>
            </p:nvPr>
          </p:nvSpPr>
          <p:spPr>
            <a:xfrm>
              <a:off x="1118671" y="1518093"/>
              <a:ext cx="3681851" cy="1103016"/>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16" name="文本框 17">
              <a:extLst>
                <a:ext uri="{FF2B5EF4-FFF2-40B4-BE49-F238E27FC236}">
                  <a16:creationId xmlns:a16="http://schemas.microsoft.com/office/drawing/2014/main" id="{7560ACE7-F040-E144-AC6E-6CFB8251B429}"/>
                </a:ext>
              </a:extLst>
            </p:cNvPr>
            <p:cNvSpPr txBox="1"/>
            <p:nvPr>
              <p:custDataLst>
                <p:tags r:id="rId8"/>
              </p:custDataLst>
            </p:nvPr>
          </p:nvSpPr>
          <p:spPr>
            <a:xfrm>
              <a:off x="1632160" y="1603036"/>
              <a:ext cx="2969925"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b="1" dirty="0"/>
                <a:t>权重管理</a:t>
              </a:r>
              <a:endParaRPr lang="zh-CN" dirty="0">
                <a:latin typeface="微软雅黑" panose="020B0503020204020204" pitchFamily="34" charset="-122"/>
                <a:ea typeface="微软雅黑" panose="020B0503020204020204" pitchFamily="34" charset="-122"/>
              </a:endParaRPr>
            </a:p>
          </p:txBody>
        </p:sp>
        <p:sp>
          <p:nvSpPr>
            <p:cNvPr id="17" name="文本框 18">
              <a:extLst>
                <a:ext uri="{FF2B5EF4-FFF2-40B4-BE49-F238E27FC236}">
                  <a16:creationId xmlns:a16="http://schemas.microsoft.com/office/drawing/2014/main" id="{0E532E3E-276A-1A6D-4397-F08F73D8E287}"/>
                </a:ext>
              </a:extLst>
            </p:cNvPr>
            <p:cNvSpPr txBox="1"/>
            <p:nvPr>
              <p:custDataLst>
                <p:tags r:id="rId9"/>
              </p:custDataLst>
            </p:nvPr>
          </p:nvSpPr>
          <p:spPr>
            <a:xfrm>
              <a:off x="1370674" y="1929488"/>
              <a:ext cx="3309049" cy="61369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pPr marL="171450" indent="-171450">
                <a:buFontTx/>
                <a:buChar char="-"/>
              </a:pPr>
              <a:r>
                <a:rPr lang="en-US" altLang="zh-CN" sz="1200" dirty="0">
                  <a:solidFill>
                    <a:schemeClr val="tx2"/>
                  </a:solidFill>
                  <a:latin typeface="微软雅黑" panose="020B0503020204020204" pitchFamily="34" charset="-122"/>
                  <a:ea typeface="微软雅黑" panose="020B0503020204020204" pitchFamily="34" charset="-122"/>
                </a:rPr>
                <a:t>mem</a:t>
              </a:r>
              <a:r>
                <a:rPr lang="zh-CN" altLang="en-US" sz="1200" dirty="0">
                  <a:solidFill>
                    <a:schemeClr val="tx2"/>
                  </a:solidFill>
                  <a:latin typeface="微软雅黑" panose="020B0503020204020204" pitchFamily="34" charset="-122"/>
                  <a:ea typeface="微软雅黑" panose="020B0503020204020204" pitchFamily="34" charset="-122"/>
                </a:rPr>
                <a:t>文件初始化</a:t>
              </a:r>
              <a:r>
                <a:rPr lang="en-US" altLang="zh-CN" sz="1200" dirty="0">
                  <a:solidFill>
                    <a:schemeClr val="tx2"/>
                  </a:solidFill>
                  <a:latin typeface="微软雅黑" panose="020B0503020204020204" pitchFamily="34" charset="-122"/>
                  <a:ea typeface="微软雅黑" panose="020B0503020204020204" pitchFamily="34" charset="-122"/>
                </a:rPr>
                <a:t>BRAM</a:t>
              </a:r>
            </a:p>
            <a:p>
              <a:pPr marL="171450" indent="-171450">
                <a:buFontTx/>
                <a:buChar char="-"/>
              </a:pPr>
              <a:r>
                <a:rPr lang="zh-CN" altLang="en-US" sz="1200" dirty="0">
                  <a:solidFill>
                    <a:schemeClr val="tx2"/>
                  </a:solidFill>
                  <a:latin typeface="微软雅黑" panose="020B0503020204020204" pitchFamily="34" charset="-122"/>
                  <a:ea typeface="微软雅黑" panose="020B0503020204020204" pitchFamily="34" charset="-122"/>
                </a:rPr>
                <a:t>控制权重读取分发</a:t>
              </a:r>
              <a:endParaRPr sz="1200" dirty="0">
                <a:solidFill>
                  <a:schemeClr val="tx2"/>
                </a:solidFill>
                <a:latin typeface="微软雅黑" panose="020B0503020204020204" pitchFamily="34" charset="-122"/>
                <a:ea typeface="微软雅黑" panose="020B0503020204020204" pitchFamily="34" charset="-122"/>
              </a:endParaRPr>
            </a:p>
          </p:txBody>
        </p:sp>
        <p:sp>
          <p:nvSpPr>
            <p:cNvPr id="18" name="椭圆 14">
              <a:extLst>
                <a:ext uri="{FF2B5EF4-FFF2-40B4-BE49-F238E27FC236}">
                  <a16:creationId xmlns:a16="http://schemas.microsoft.com/office/drawing/2014/main" id="{C815382F-1C97-E71D-983B-35735A1C80FE}"/>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cxnSp>
        <p:nvCxnSpPr>
          <p:cNvPr id="19" name="连接符: 曲线 18">
            <a:extLst>
              <a:ext uri="{FF2B5EF4-FFF2-40B4-BE49-F238E27FC236}">
                <a16:creationId xmlns:a16="http://schemas.microsoft.com/office/drawing/2014/main" id="{CC606232-63EF-8438-4D16-6DEDE16E7C08}"/>
              </a:ext>
            </a:extLst>
          </p:cNvPr>
          <p:cNvCxnSpPr>
            <a:cxnSpLocks/>
          </p:cNvCxnSpPr>
          <p:nvPr/>
        </p:nvCxnSpPr>
        <p:spPr>
          <a:xfrm rot="5400000">
            <a:off x="2594094" y="5023132"/>
            <a:ext cx="542183" cy="454407"/>
          </a:xfrm>
          <a:prstGeom prst="curvedConnector3">
            <a:avLst>
              <a:gd name="adj1" fmla="val 50000"/>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连接符: 曲线 21">
            <a:extLst>
              <a:ext uri="{FF2B5EF4-FFF2-40B4-BE49-F238E27FC236}">
                <a16:creationId xmlns:a16="http://schemas.microsoft.com/office/drawing/2014/main" id="{9B9CCC88-6696-E4C9-C2CD-72C329D0EE91}"/>
              </a:ext>
            </a:extLst>
          </p:cNvPr>
          <p:cNvCxnSpPr>
            <a:cxnSpLocks/>
            <a:stCxn id="219" idx="1"/>
          </p:cNvCxnSpPr>
          <p:nvPr/>
        </p:nvCxnSpPr>
        <p:spPr>
          <a:xfrm rot="10800000">
            <a:off x="2455510" y="1717604"/>
            <a:ext cx="1432828" cy="362144"/>
          </a:xfrm>
          <a:prstGeom prst="curvedConnector3">
            <a:avLst>
              <a:gd name="adj1" fmla="val 50000"/>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26" name="组合 25">
            <a:extLst>
              <a:ext uri="{FF2B5EF4-FFF2-40B4-BE49-F238E27FC236}">
                <a16:creationId xmlns:a16="http://schemas.microsoft.com/office/drawing/2014/main" id="{0B83EADF-9A84-0388-13F0-B8934340F821}"/>
              </a:ext>
            </a:extLst>
          </p:cNvPr>
          <p:cNvGrpSpPr/>
          <p:nvPr/>
        </p:nvGrpSpPr>
        <p:grpSpPr>
          <a:xfrm>
            <a:off x="9210319" y="1110732"/>
            <a:ext cx="2638254" cy="2964082"/>
            <a:chOff x="1118671" y="1518092"/>
            <a:chExt cx="3681851" cy="2964082"/>
          </a:xfrm>
        </p:grpSpPr>
        <p:sp>
          <p:nvSpPr>
            <p:cNvPr id="27" name="矩形: 圆角 19">
              <a:extLst>
                <a:ext uri="{FF2B5EF4-FFF2-40B4-BE49-F238E27FC236}">
                  <a16:creationId xmlns:a16="http://schemas.microsoft.com/office/drawing/2014/main" id="{45C21D37-F528-924F-ACAB-67498242BB0D}"/>
                </a:ext>
              </a:extLst>
            </p:cNvPr>
            <p:cNvSpPr/>
            <p:nvPr>
              <p:custDataLst>
                <p:tags r:id="rId4"/>
              </p:custDataLst>
            </p:nvPr>
          </p:nvSpPr>
          <p:spPr>
            <a:xfrm>
              <a:off x="1118671" y="1518092"/>
              <a:ext cx="3681851" cy="2964082"/>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28" name="文本框 17">
              <a:extLst>
                <a:ext uri="{FF2B5EF4-FFF2-40B4-BE49-F238E27FC236}">
                  <a16:creationId xmlns:a16="http://schemas.microsoft.com/office/drawing/2014/main" id="{F617FBF7-500E-3C31-B640-B3824A4F7775}"/>
                </a:ext>
              </a:extLst>
            </p:cNvPr>
            <p:cNvSpPr txBox="1"/>
            <p:nvPr>
              <p:custDataLst>
                <p:tags r:id="rId5"/>
              </p:custDataLst>
            </p:nvPr>
          </p:nvSpPr>
          <p:spPr>
            <a:xfrm>
              <a:off x="1632160" y="1603036"/>
              <a:ext cx="2969925"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b="1" dirty="0"/>
                <a:t>核心乘加阵列</a:t>
              </a:r>
              <a:endParaRPr lang="zh-CN" dirty="0">
                <a:latin typeface="微软雅黑" panose="020B0503020204020204" pitchFamily="34" charset="-122"/>
                <a:ea typeface="微软雅黑" panose="020B0503020204020204" pitchFamily="34" charset="-122"/>
              </a:endParaRPr>
            </a:p>
          </p:txBody>
        </p:sp>
        <p:sp>
          <p:nvSpPr>
            <p:cNvPr id="29" name="文本框 18">
              <a:extLst>
                <a:ext uri="{FF2B5EF4-FFF2-40B4-BE49-F238E27FC236}">
                  <a16:creationId xmlns:a16="http://schemas.microsoft.com/office/drawing/2014/main" id="{3B8875D2-F236-F832-DCDA-D83E5A2BD16F}"/>
                </a:ext>
              </a:extLst>
            </p:cNvPr>
            <p:cNvSpPr txBox="1"/>
            <p:nvPr>
              <p:custDataLst>
                <p:tags r:id="rId6"/>
              </p:custDataLst>
            </p:nvPr>
          </p:nvSpPr>
          <p:spPr>
            <a:xfrm>
              <a:off x="1370673" y="1929488"/>
              <a:ext cx="3429849" cy="2552686"/>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pPr marL="171450" indent="-171450">
                <a:buFontTx/>
                <a:buChar char="-"/>
              </a:pPr>
              <a:r>
                <a:rPr lang="zh-CN" altLang="en-US" sz="1200" dirty="0">
                  <a:solidFill>
                    <a:schemeClr val="tx2"/>
                  </a:solidFill>
                  <a:latin typeface="微软雅黑" panose="020B0503020204020204" pitchFamily="34" charset="-122"/>
                  <a:ea typeface="微软雅黑" panose="020B0503020204020204" pitchFamily="34" charset="-122"/>
                </a:rPr>
                <a:t>每个计算单元分别完成一次乘加运算，并将产生的部分和向下传递给下一个单元。这个过程像水流一样连续不断，无需等待整个卷积核算完。</a:t>
              </a:r>
            </a:p>
            <a:p>
              <a:pPr marL="171450" indent="-171450">
                <a:buFontTx/>
                <a:buChar char="-"/>
              </a:pPr>
              <a:r>
                <a:rPr lang="zh-CN" altLang="en-US" sz="1200" dirty="0">
                  <a:solidFill>
                    <a:schemeClr val="tx2"/>
                  </a:solidFill>
                  <a:latin typeface="微软雅黑" panose="020B0503020204020204" pitchFamily="34" charset="-122"/>
                  <a:ea typeface="微软雅黑" panose="020B0503020204020204" pitchFamily="34" charset="-122"/>
                </a:rPr>
                <a:t>三维结构，行数</a:t>
              </a:r>
              <a:r>
                <a:rPr lang="en-US" altLang="zh-CN" sz="1200" dirty="0">
                  <a:solidFill>
                    <a:schemeClr val="tx2"/>
                  </a:solidFill>
                  <a:latin typeface="微软雅黑" panose="020B0503020204020204" pitchFamily="34" charset="-122"/>
                  <a:ea typeface="微软雅黑" panose="020B0503020204020204" pitchFamily="34" charset="-122"/>
                </a:rPr>
                <a:t>-</a:t>
              </a:r>
              <a:r>
                <a:rPr lang="zh-CN" altLang="en-US" sz="1200" dirty="0">
                  <a:solidFill>
                    <a:schemeClr val="tx2"/>
                  </a:solidFill>
                  <a:latin typeface="微软雅黑" panose="020B0503020204020204" pitchFamily="34" charset="-122"/>
                  <a:ea typeface="微软雅黑" panose="020B0503020204020204" pitchFamily="34" charset="-122"/>
                </a:rPr>
                <a:t>卷积核大小，列数</a:t>
              </a:r>
              <a:r>
                <a:rPr lang="en-US" altLang="zh-CN" sz="1200" dirty="0">
                  <a:solidFill>
                    <a:schemeClr val="tx2"/>
                  </a:solidFill>
                  <a:latin typeface="微软雅黑" panose="020B0503020204020204" pitchFamily="34" charset="-122"/>
                  <a:ea typeface="微软雅黑" panose="020B0503020204020204" pitchFamily="34" charset="-122"/>
                </a:rPr>
                <a:t>-</a:t>
              </a:r>
              <a:r>
                <a:rPr lang="zh-CN" altLang="en-US" sz="1200" dirty="0">
                  <a:solidFill>
                    <a:schemeClr val="tx2"/>
                  </a:solidFill>
                  <a:latin typeface="微软雅黑" panose="020B0503020204020204" pitchFamily="34" charset="-122"/>
                  <a:ea typeface="微软雅黑" panose="020B0503020204020204" pitchFamily="34" charset="-122"/>
                </a:rPr>
                <a:t>输出通道并行度，页数</a:t>
              </a:r>
              <a:r>
                <a:rPr lang="en-US" altLang="zh-CN" sz="1200" dirty="0">
                  <a:solidFill>
                    <a:schemeClr val="tx2"/>
                  </a:solidFill>
                  <a:latin typeface="微软雅黑" panose="020B0503020204020204" pitchFamily="34" charset="-122"/>
                  <a:ea typeface="微软雅黑" panose="020B0503020204020204" pitchFamily="34" charset="-122"/>
                </a:rPr>
                <a:t>-</a:t>
              </a:r>
              <a:r>
                <a:rPr lang="zh-CN" altLang="en-US" sz="1200" dirty="0">
                  <a:solidFill>
                    <a:schemeClr val="tx2"/>
                  </a:solidFill>
                  <a:latin typeface="微软雅黑" panose="020B0503020204020204" pitchFamily="34" charset="-122"/>
                  <a:ea typeface="微软雅黑" panose="020B0503020204020204" pitchFamily="34" charset="-122"/>
                </a:rPr>
                <a:t>输入通道并行度。</a:t>
              </a:r>
              <a:endParaRPr lang="en-US" altLang="zh-CN" sz="1200" dirty="0">
                <a:solidFill>
                  <a:schemeClr val="tx2"/>
                </a:solidFill>
                <a:latin typeface="微软雅黑" panose="020B0503020204020204" pitchFamily="34" charset="-122"/>
                <a:ea typeface="微软雅黑" panose="020B0503020204020204" pitchFamily="34" charset="-122"/>
              </a:endParaRPr>
            </a:p>
            <a:p>
              <a:pPr marL="171450" indent="-171450">
                <a:buFontTx/>
                <a:buChar char="-"/>
              </a:pPr>
              <a:r>
                <a:rPr lang="zh-CN" altLang="en-US" sz="1200" dirty="0">
                  <a:solidFill>
                    <a:schemeClr val="tx2"/>
                  </a:solidFill>
                  <a:latin typeface="微软雅黑" panose="020B0503020204020204" pitchFamily="34" charset="-122"/>
                  <a:ea typeface="微软雅黑" panose="020B0503020204020204" pitchFamily="34" charset="-122"/>
                </a:rPr>
                <a:t>分时复用</a:t>
              </a:r>
              <a:r>
                <a:rPr lang="en-US" altLang="zh-CN" sz="1200" dirty="0">
                  <a:solidFill>
                    <a:schemeClr val="tx2"/>
                  </a:solidFill>
                  <a:latin typeface="微软雅黑" panose="020B0503020204020204" pitchFamily="34" charset="-122"/>
                  <a:ea typeface="微软雅黑" panose="020B0503020204020204" pitchFamily="34" charset="-122"/>
                </a:rPr>
                <a:t>-</a:t>
              </a:r>
              <a:r>
                <a:rPr lang="zh-CN" altLang="en-US" sz="1200" dirty="0">
                  <a:solidFill>
                    <a:schemeClr val="tx2"/>
                  </a:solidFill>
                  <a:latin typeface="微软雅黑" panose="020B0503020204020204" pitchFamily="34" charset="-122"/>
                  <a:ea typeface="微软雅黑" panose="020B0503020204020204" pitchFamily="34" charset="-122"/>
                </a:rPr>
                <a:t>多通道脉动计算</a:t>
              </a:r>
              <a:endParaRPr sz="1200" dirty="0">
                <a:solidFill>
                  <a:schemeClr val="tx2"/>
                </a:solidFill>
                <a:latin typeface="微软雅黑" panose="020B0503020204020204" pitchFamily="34" charset="-122"/>
                <a:ea typeface="微软雅黑" panose="020B0503020204020204" pitchFamily="34" charset="-122"/>
              </a:endParaRPr>
            </a:p>
          </p:txBody>
        </p:sp>
        <p:sp>
          <p:nvSpPr>
            <p:cNvPr id="30" name="椭圆 14">
              <a:extLst>
                <a:ext uri="{FF2B5EF4-FFF2-40B4-BE49-F238E27FC236}">
                  <a16:creationId xmlns:a16="http://schemas.microsoft.com/office/drawing/2014/main" id="{DDD30245-E2EE-AF07-AEA0-8F512D8EBE9E}"/>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cxnSp>
        <p:nvCxnSpPr>
          <p:cNvPr id="31" name="连接符: 曲线 30">
            <a:extLst>
              <a:ext uri="{FF2B5EF4-FFF2-40B4-BE49-F238E27FC236}">
                <a16:creationId xmlns:a16="http://schemas.microsoft.com/office/drawing/2014/main" id="{B36B34C0-B4A6-CFB9-6FFD-43A0FBEC0527}"/>
              </a:ext>
            </a:extLst>
          </p:cNvPr>
          <p:cNvCxnSpPr>
            <a:cxnSpLocks/>
            <a:stCxn id="2" idx="3"/>
          </p:cNvCxnSpPr>
          <p:nvPr/>
        </p:nvCxnSpPr>
        <p:spPr>
          <a:xfrm flipV="1">
            <a:off x="8790681" y="4080794"/>
            <a:ext cx="447025" cy="148893"/>
          </a:xfrm>
          <a:prstGeom prst="curvedConnector3">
            <a:avLst>
              <a:gd name="adj1" fmla="val 50000"/>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34" name="组合 33">
            <a:extLst>
              <a:ext uri="{FF2B5EF4-FFF2-40B4-BE49-F238E27FC236}">
                <a16:creationId xmlns:a16="http://schemas.microsoft.com/office/drawing/2014/main" id="{5FF2F387-802A-80FE-7596-8E21D0473715}"/>
              </a:ext>
            </a:extLst>
          </p:cNvPr>
          <p:cNvGrpSpPr/>
          <p:nvPr/>
        </p:nvGrpSpPr>
        <p:grpSpPr>
          <a:xfrm>
            <a:off x="9154331" y="5461091"/>
            <a:ext cx="2187611" cy="1302088"/>
            <a:chOff x="1118671" y="1518093"/>
            <a:chExt cx="3681851" cy="1302088"/>
          </a:xfrm>
        </p:grpSpPr>
        <p:sp>
          <p:nvSpPr>
            <p:cNvPr id="35" name="矩形: 圆角 19">
              <a:extLst>
                <a:ext uri="{FF2B5EF4-FFF2-40B4-BE49-F238E27FC236}">
                  <a16:creationId xmlns:a16="http://schemas.microsoft.com/office/drawing/2014/main" id="{A16135F3-3CF4-6EEB-DCC5-E7F4DEEE17F4}"/>
                </a:ext>
              </a:extLst>
            </p:cNvPr>
            <p:cNvSpPr/>
            <p:nvPr>
              <p:custDataLst>
                <p:tags r:id="rId1"/>
              </p:custDataLst>
            </p:nvPr>
          </p:nvSpPr>
          <p:spPr>
            <a:xfrm>
              <a:off x="1118671" y="1518093"/>
              <a:ext cx="3681851" cy="1288481"/>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36" name="文本框 17">
              <a:extLst>
                <a:ext uri="{FF2B5EF4-FFF2-40B4-BE49-F238E27FC236}">
                  <a16:creationId xmlns:a16="http://schemas.microsoft.com/office/drawing/2014/main" id="{8C742027-FFA9-F8D5-875E-FB038CCB50F8}"/>
                </a:ext>
              </a:extLst>
            </p:cNvPr>
            <p:cNvSpPr txBox="1"/>
            <p:nvPr>
              <p:custDataLst>
                <p:tags r:id="rId2"/>
              </p:custDataLst>
            </p:nvPr>
          </p:nvSpPr>
          <p:spPr>
            <a:xfrm>
              <a:off x="1632160" y="1603036"/>
              <a:ext cx="2969925"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b="1" dirty="0">
                  <a:latin typeface="微软雅黑" panose="020B0503020204020204" pitchFamily="34" charset="-122"/>
                  <a:ea typeface="微软雅黑" panose="020B0503020204020204" pitchFamily="34" charset="-122"/>
                </a:rPr>
                <a:t>累加输出</a:t>
              </a:r>
              <a:endParaRPr lang="zh-CN" dirty="0">
                <a:latin typeface="微软雅黑" panose="020B0503020204020204" pitchFamily="34" charset="-122"/>
                <a:ea typeface="微软雅黑" panose="020B0503020204020204" pitchFamily="34" charset="-122"/>
              </a:endParaRPr>
            </a:p>
          </p:txBody>
        </p:sp>
        <p:sp>
          <p:nvSpPr>
            <p:cNvPr id="37" name="文本框 18">
              <a:extLst>
                <a:ext uri="{FF2B5EF4-FFF2-40B4-BE49-F238E27FC236}">
                  <a16:creationId xmlns:a16="http://schemas.microsoft.com/office/drawing/2014/main" id="{F0E92423-2C21-8F6D-4084-B447B26A069A}"/>
                </a:ext>
              </a:extLst>
            </p:cNvPr>
            <p:cNvSpPr txBox="1"/>
            <p:nvPr>
              <p:custDataLst>
                <p:tags r:id="rId3"/>
              </p:custDataLst>
            </p:nvPr>
          </p:nvSpPr>
          <p:spPr>
            <a:xfrm>
              <a:off x="1370674" y="1929488"/>
              <a:ext cx="3429848" cy="890693"/>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pPr marL="171450" indent="-171450">
                <a:buFontTx/>
                <a:buChar char="-"/>
              </a:pPr>
              <a:r>
                <a:rPr lang="zh-CN" altLang="en-US" sz="1200" dirty="0">
                  <a:solidFill>
                    <a:schemeClr val="tx2"/>
                  </a:solidFill>
                  <a:latin typeface="微软雅黑" panose="020B0503020204020204" pitchFamily="34" charset="-122"/>
                  <a:ea typeface="微软雅黑" panose="020B0503020204020204" pitchFamily="34" charset="-122"/>
                </a:rPr>
                <a:t>多通道时空累加</a:t>
              </a:r>
              <a:endParaRPr lang="en-US" altLang="zh-CN" sz="1200" dirty="0">
                <a:solidFill>
                  <a:schemeClr val="tx2"/>
                </a:solidFill>
                <a:latin typeface="微软雅黑" panose="020B0503020204020204" pitchFamily="34" charset="-122"/>
                <a:ea typeface="微软雅黑" panose="020B0503020204020204" pitchFamily="34" charset="-122"/>
              </a:endParaRPr>
            </a:p>
            <a:p>
              <a:pPr marL="171450" indent="-171450">
                <a:buFontTx/>
                <a:buChar char="-"/>
              </a:pPr>
              <a:r>
                <a:rPr lang="zh-CN" altLang="en-US" sz="1200" dirty="0">
                  <a:solidFill>
                    <a:schemeClr val="tx2"/>
                  </a:solidFill>
                  <a:latin typeface="微软雅黑" panose="020B0503020204020204" pitchFamily="34" charset="-122"/>
                  <a:ea typeface="微软雅黑" panose="020B0503020204020204" pitchFamily="34" charset="-122"/>
                </a:rPr>
                <a:t>偏置叠加，移位反量化</a:t>
              </a:r>
              <a:endParaRPr lang="en-US" altLang="zh-CN" sz="1200" dirty="0">
                <a:solidFill>
                  <a:schemeClr val="tx2"/>
                </a:solidFill>
                <a:latin typeface="微软雅黑" panose="020B0503020204020204" pitchFamily="34" charset="-122"/>
                <a:ea typeface="微软雅黑" panose="020B0503020204020204" pitchFamily="34" charset="-122"/>
              </a:endParaRPr>
            </a:p>
            <a:p>
              <a:pPr marL="171450" indent="-171450">
                <a:buFontTx/>
                <a:buChar char="-"/>
              </a:pPr>
              <a:r>
                <a:rPr lang="en-US" altLang="zh-CN" sz="1200" dirty="0" err="1">
                  <a:solidFill>
                    <a:schemeClr val="tx2"/>
                  </a:solidFill>
                  <a:latin typeface="微软雅黑" panose="020B0503020204020204" pitchFamily="34" charset="-122"/>
                  <a:ea typeface="微软雅黑" panose="020B0503020204020204" pitchFamily="34" charset="-122"/>
                </a:rPr>
                <a:t>ReLU</a:t>
              </a:r>
              <a:r>
                <a:rPr lang="zh-CN" altLang="en-US" sz="1200" dirty="0">
                  <a:solidFill>
                    <a:schemeClr val="tx2"/>
                  </a:solidFill>
                  <a:latin typeface="微软雅黑" panose="020B0503020204020204" pitchFamily="34" charset="-122"/>
                  <a:ea typeface="微软雅黑" panose="020B0503020204020204" pitchFamily="34" charset="-122"/>
                </a:rPr>
                <a:t>激活</a:t>
              </a:r>
              <a:endParaRPr sz="1200" dirty="0">
                <a:solidFill>
                  <a:schemeClr val="tx2"/>
                </a:solidFill>
                <a:latin typeface="微软雅黑" panose="020B0503020204020204" pitchFamily="34" charset="-122"/>
                <a:ea typeface="微软雅黑" panose="020B0503020204020204" pitchFamily="34" charset="-122"/>
              </a:endParaRPr>
            </a:p>
          </p:txBody>
        </p:sp>
        <p:sp>
          <p:nvSpPr>
            <p:cNvPr id="38" name="椭圆 14">
              <a:extLst>
                <a:ext uri="{FF2B5EF4-FFF2-40B4-BE49-F238E27FC236}">
                  <a16:creationId xmlns:a16="http://schemas.microsoft.com/office/drawing/2014/main" id="{50575029-3DB9-8C3B-C408-6BE2F9BE3727}"/>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cxnSp>
        <p:nvCxnSpPr>
          <p:cNvPr id="39" name="连接符: 曲线 38">
            <a:extLst>
              <a:ext uri="{FF2B5EF4-FFF2-40B4-BE49-F238E27FC236}">
                <a16:creationId xmlns:a16="http://schemas.microsoft.com/office/drawing/2014/main" id="{DB5BFCA6-ECB5-5324-A37B-595FF3120E50}"/>
              </a:ext>
            </a:extLst>
          </p:cNvPr>
          <p:cNvCxnSpPr>
            <a:cxnSpLocks/>
          </p:cNvCxnSpPr>
          <p:nvPr/>
        </p:nvCxnSpPr>
        <p:spPr>
          <a:xfrm>
            <a:off x="8343616" y="5686515"/>
            <a:ext cx="807897" cy="353470"/>
          </a:xfrm>
          <a:prstGeom prst="curvedConnector3">
            <a:avLst>
              <a:gd name="adj1" fmla="val 50000"/>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2281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4BA65-9668-5D41-00CB-5A3D35E7DF3C}"/>
            </a:ext>
          </a:extLst>
        </p:cNvPr>
        <p:cNvGrpSpPr/>
        <p:nvPr/>
      </p:nvGrpSpPr>
      <p:grpSpPr>
        <a:xfrm>
          <a:off x="0" y="0"/>
          <a:ext cx="0" cy="0"/>
          <a:chOff x="0" y="0"/>
          <a:chExt cx="0" cy="0"/>
        </a:xfrm>
      </p:grpSpPr>
      <p:pic>
        <p:nvPicPr>
          <p:cNvPr id="101" name="图片 100" descr="集创赛1">
            <a:extLst>
              <a:ext uri="{FF2B5EF4-FFF2-40B4-BE49-F238E27FC236}">
                <a16:creationId xmlns:a16="http://schemas.microsoft.com/office/drawing/2014/main" id="{8580AFEB-CA38-B68E-6B6A-B56EB8F7DE0D}"/>
              </a:ext>
            </a:extLst>
          </p:cNvPr>
          <p:cNvPicPr>
            <a:picLocks noChangeAspect="1"/>
          </p:cNvPicPr>
          <p:nvPr/>
        </p:nvPicPr>
        <p:blipFill>
          <a:blip r:embed="rId12"/>
          <a:stretch>
            <a:fillRect/>
          </a:stretch>
        </p:blipFill>
        <p:spPr>
          <a:xfrm>
            <a:off x="166439" y="-36448"/>
            <a:ext cx="2016000" cy="1260000"/>
          </a:xfrm>
          <a:prstGeom prst="rect">
            <a:avLst/>
          </a:prstGeom>
        </p:spPr>
      </p:pic>
      <p:grpSp>
        <p:nvGrpSpPr>
          <p:cNvPr id="204" name="组合 203">
            <a:extLst>
              <a:ext uri="{FF2B5EF4-FFF2-40B4-BE49-F238E27FC236}">
                <a16:creationId xmlns:a16="http://schemas.microsoft.com/office/drawing/2014/main" id="{4DB13027-2D9B-04E8-D4FF-353CACBD815C}"/>
              </a:ext>
            </a:extLst>
          </p:cNvPr>
          <p:cNvGrpSpPr/>
          <p:nvPr/>
        </p:nvGrpSpPr>
        <p:grpSpPr>
          <a:xfrm>
            <a:off x="2457177" y="369697"/>
            <a:ext cx="7277645" cy="720000"/>
            <a:chOff x="7865168" y="237582"/>
            <a:chExt cx="4163290" cy="720000"/>
          </a:xfrm>
        </p:grpSpPr>
        <p:sp>
          <p:nvSpPr>
            <p:cNvPr id="201" name="组合 33">
              <a:extLst>
                <a:ext uri="{FF2B5EF4-FFF2-40B4-BE49-F238E27FC236}">
                  <a16:creationId xmlns:a16="http://schemas.microsoft.com/office/drawing/2014/main" id="{5E4E56DF-EB65-5F6A-0694-D866A34B35B8}"/>
                </a:ext>
              </a:extLst>
            </p:cNvPr>
            <p:cNvSpPr/>
            <p:nvPr/>
          </p:nvSpPr>
          <p:spPr>
            <a:xfrm>
              <a:off x="7865168" y="237582"/>
              <a:ext cx="416329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latin typeface="微软雅黑" panose="020B0503020204020204" pitchFamily="34" charset="-122"/>
                  <a:ea typeface="微软雅黑" panose="020B0503020204020204" pitchFamily="34" charset="-122"/>
                </a:rPr>
                <a:t>定制的计算单元结构</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三维脉动卷积阵列</a:t>
              </a:r>
              <a:endParaRPr lang="zh-CN" dirty="0">
                <a:latin typeface="微软雅黑" panose="020B0503020204020204" pitchFamily="34" charset="-122"/>
                <a:ea typeface="微软雅黑" panose="020B0503020204020204" pitchFamily="34" charset="-122"/>
              </a:endParaRPr>
            </a:p>
          </p:txBody>
        </p:sp>
        <p:sp>
          <p:nvSpPr>
            <p:cNvPr id="203" name="矩形 202">
              <a:extLst>
                <a:ext uri="{FF2B5EF4-FFF2-40B4-BE49-F238E27FC236}">
                  <a16:creationId xmlns:a16="http://schemas.microsoft.com/office/drawing/2014/main" id="{400510CE-486A-0BD4-D152-5E5031FAF094}"/>
                </a:ext>
              </a:extLst>
            </p:cNvPr>
            <p:cNvSpPr/>
            <p:nvPr/>
          </p:nvSpPr>
          <p:spPr>
            <a:xfrm>
              <a:off x="9676813" y="885582"/>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240" name="组合 239">
            <a:extLst>
              <a:ext uri="{FF2B5EF4-FFF2-40B4-BE49-F238E27FC236}">
                <a16:creationId xmlns:a16="http://schemas.microsoft.com/office/drawing/2014/main" id="{7514D4B8-215F-6EDE-A852-0D2D17C9B391}"/>
              </a:ext>
            </a:extLst>
          </p:cNvPr>
          <p:cNvGrpSpPr/>
          <p:nvPr/>
        </p:nvGrpSpPr>
        <p:grpSpPr>
          <a:xfrm>
            <a:off x="220412" y="1277637"/>
            <a:ext cx="7408109" cy="5302376"/>
            <a:chOff x="474826" y="1383925"/>
            <a:chExt cx="7408109" cy="5302376"/>
          </a:xfrm>
        </p:grpSpPr>
        <p:cxnSp>
          <p:nvCxnSpPr>
            <p:cNvPr id="233" name="直接箭头连接符 232">
              <a:extLst>
                <a:ext uri="{FF2B5EF4-FFF2-40B4-BE49-F238E27FC236}">
                  <a16:creationId xmlns:a16="http://schemas.microsoft.com/office/drawing/2014/main" id="{D27D1872-D051-B654-5A0A-0BA972F581DA}"/>
                </a:ext>
              </a:extLst>
            </p:cNvPr>
            <p:cNvCxnSpPr>
              <a:cxnSpLocks/>
            </p:cNvCxnSpPr>
            <p:nvPr/>
          </p:nvCxnSpPr>
          <p:spPr>
            <a:xfrm>
              <a:off x="5180074" y="5976221"/>
              <a:ext cx="0" cy="7100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239" name="组合 238">
              <a:extLst>
                <a:ext uri="{FF2B5EF4-FFF2-40B4-BE49-F238E27FC236}">
                  <a16:creationId xmlns:a16="http://schemas.microsoft.com/office/drawing/2014/main" id="{C36D8B72-F10C-F927-91B1-5B8834969C8E}"/>
                </a:ext>
              </a:extLst>
            </p:cNvPr>
            <p:cNvGrpSpPr/>
            <p:nvPr/>
          </p:nvGrpSpPr>
          <p:grpSpPr>
            <a:xfrm>
              <a:off x="474826" y="1383925"/>
              <a:ext cx="7408109" cy="5104378"/>
              <a:chOff x="641265" y="1491836"/>
              <a:chExt cx="7408109" cy="5104378"/>
            </a:xfrm>
          </p:grpSpPr>
          <p:sp>
            <p:nvSpPr>
              <p:cNvPr id="2" name="矩形: 圆角 1">
                <a:extLst>
                  <a:ext uri="{FF2B5EF4-FFF2-40B4-BE49-F238E27FC236}">
                    <a16:creationId xmlns:a16="http://schemas.microsoft.com/office/drawing/2014/main" id="{C1D28321-1CB9-2479-7E9F-DEB5D69E9D89}"/>
                  </a:ext>
                </a:extLst>
              </p:cNvPr>
              <p:cNvSpPr/>
              <p:nvPr/>
            </p:nvSpPr>
            <p:spPr>
              <a:xfrm>
                <a:off x="2553647" y="2286771"/>
                <a:ext cx="5495727" cy="3797362"/>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603050405020304" pitchFamily="18" charset="0"/>
                  <a:cs typeface="Times New Roman" panose="02020603050405020304" pitchFamily="18" charset="0"/>
                </a:endParaRPr>
              </a:p>
            </p:txBody>
          </p:sp>
          <p:grpSp>
            <p:nvGrpSpPr>
              <p:cNvPr id="3" name="组合 2">
                <a:extLst>
                  <a:ext uri="{FF2B5EF4-FFF2-40B4-BE49-F238E27FC236}">
                    <a16:creationId xmlns:a16="http://schemas.microsoft.com/office/drawing/2014/main" id="{7AA26648-BD51-2C70-E432-2FB7693F5FA1}"/>
                  </a:ext>
                </a:extLst>
              </p:cNvPr>
              <p:cNvGrpSpPr/>
              <p:nvPr/>
            </p:nvGrpSpPr>
            <p:grpSpPr>
              <a:xfrm>
                <a:off x="3260956" y="2891605"/>
                <a:ext cx="3915341" cy="2041627"/>
                <a:chOff x="5402610" y="3041345"/>
                <a:chExt cx="3915341" cy="2041627"/>
              </a:xfrm>
            </p:grpSpPr>
            <p:sp>
              <p:nvSpPr>
                <p:cNvPr id="9" name="立方体 8">
                  <a:extLst>
                    <a:ext uri="{FF2B5EF4-FFF2-40B4-BE49-F238E27FC236}">
                      <a16:creationId xmlns:a16="http://schemas.microsoft.com/office/drawing/2014/main" id="{747DE649-F247-C4D1-4323-7ADF31364283}"/>
                    </a:ext>
                  </a:extLst>
                </p:cNvPr>
                <p:cNvSpPr/>
                <p:nvPr/>
              </p:nvSpPr>
              <p:spPr>
                <a:xfrm>
                  <a:off x="5402610" y="3068592"/>
                  <a:ext cx="973520" cy="854976"/>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sp>
              <p:nvSpPr>
                <p:cNvPr id="11" name="立方体 10">
                  <a:extLst>
                    <a:ext uri="{FF2B5EF4-FFF2-40B4-BE49-F238E27FC236}">
                      <a16:creationId xmlns:a16="http://schemas.microsoft.com/office/drawing/2014/main" id="{5D1A8F7E-018A-C7F2-9856-71D5C5646771}"/>
                    </a:ext>
                  </a:extLst>
                </p:cNvPr>
                <p:cNvSpPr/>
                <p:nvPr/>
              </p:nvSpPr>
              <p:spPr>
                <a:xfrm>
                  <a:off x="6895793" y="3041345"/>
                  <a:ext cx="973520" cy="854976"/>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sp>
              <p:nvSpPr>
                <p:cNvPr id="40" name="立方体 39">
                  <a:extLst>
                    <a:ext uri="{FF2B5EF4-FFF2-40B4-BE49-F238E27FC236}">
                      <a16:creationId xmlns:a16="http://schemas.microsoft.com/office/drawing/2014/main" id="{001D3AC1-79C9-C2BC-54A7-CC3D8FB1B613}"/>
                    </a:ext>
                  </a:extLst>
                </p:cNvPr>
                <p:cNvSpPr/>
                <p:nvPr/>
              </p:nvSpPr>
              <p:spPr>
                <a:xfrm>
                  <a:off x="8344431" y="3041345"/>
                  <a:ext cx="973520" cy="854976"/>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sp>
              <p:nvSpPr>
                <p:cNvPr id="41" name="立方体 40">
                  <a:extLst>
                    <a:ext uri="{FF2B5EF4-FFF2-40B4-BE49-F238E27FC236}">
                      <a16:creationId xmlns:a16="http://schemas.microsoft.com/office/drawing/2014/main" id="{45D48B5C-A12C-AA68-6516-BCA307401760}"/>
                    </a:ext>
                  </a:extLst>
                </p:cNvPr>
                <p:cNvSpPr/>
                <p:nvPr/>
              </p:nvSpPr>
              <p:spPr>
                <a:xfrm>
                  <a:off x="5402610" y="4227996"/>
                  <a:ext cx="973520" cy="854976"/>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sp>
              <p:nvSpPr>
                <p:cNvPr id="42" name="立方体 41">
                  <a:extLst>
                    <a:ext uri="{FF2B5EF4-FFF2-40B4-BE49-F238E27FC236}">
                      <a16:creationId xmlns:a16="http://schemas.microsoft.com/office/drawing/2014/main" id="{D455D98E-6547-F207-D845-84D30299F18F}"/>
                    </a:ext>
                  </a:extLst>
                </p:cNvPr>
                <p:cNvSpPr/>
                <p:nvPr/>
              </p:nvSpPr>
              <p:spPr>
                <a:xfrm>
                  <a:off x="6895793" y="4200749"/>
                  <a:ext cx="973520" cy="854976"/>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sp>
              <p:nvSpPr>
                <p:cNvPr id="43" name="立方体 42">
                  <a:extLst>
                    <a:ext uri="{FF2B5EF4-FFF2-40B4-BE49-F238E27FC236}">
                      <a16:creationId xmlns:a16="http://schemas.microsoft.com/office/drawing/2014/main" id="{A8B5B2FC-FFCF-01D8-1823-45641B85B266}"/>
                    </a:ext>
                  </a:extLst>
                </p:cNvPr>
                <p:cNvSpPr/>
                <p:nvPr/>
              </p:nvSpPr>
              <p:spPr>
                <a:xfrm>
                  <a:off x="8344431" y="4200749"/>
                  <a:ext cx="973520" cy="854976"/>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grpSp>
          <p:grpSp>
            <p:nvGrpSpPr>
              <p:cNvPr id="44" name="组合 43">
                <a:extLst>
                  <a:ext uri="{FF2B5EF4-FFF2-40B4-BE49-F238E27FC236}">
                    <a16:creationId xmlns:a16="http://schemas.microsoft.com/office/drawing/2014/main" id="{81D301B9-E5D2-CEA4-4B77-43C45AF094F0}"/>
                  </a:ext>
                </a:extLst>
              </p:cNvPr>
              <p:cNvGrpSpPr/>
              <p:nvPr/>
            </p:nvGrpSpPr>
            <p:grpSpPr>
              <a:xfrm>
                <a:off x="2182633" y="2728082"/>
                <a:ext cx="5478430" cy="2312931"/>
                <a:chOff x="4141051" y="3013648"/>
                <a:chExt cx="7131215" cy="3040165"/>
              </a:xfrm>
            </p:grpSpPr>
            <p:grpSp>
              <p:nvGrpSpPr>
                <p:cNvPr id="48" name="组合 47">
                  <a:extLst>
                    <a:ext uri="{FF2B5EF4-FFF2-40B4-BE49-F238E27FC236}">
                      <a16:creationId xmlns:a16="http://schemas.microsoft.com/office/drawing/2014/main" id="{AC65DE3A-434E-E2F7-4146-4A62616D65BF}"/>
                    </a:ext>
                  </a:extLst>
                </p:cNvPr>
                <p:cNvGrpSpPr/>
                <p:nvPr/>
              </p:nvGrpSpPr>
              <p:grpSpPr>
                <a:xfrm>
                  <a:off x="4141051" y="3406070"/>
                  <a:ext cx="2527014" cy="1123799"/>
                  <a:chOff x="4141051" y="3406070"/>
                  <a:chExt cx="2527014" cy="1123799"/>
                </a:xfrm>
              </p:grpSpPr>
              <p:grpSp>
                <p:nvGrpSpPr>
                  <p:cNvPr id="179" name="组合 178">
                    <a:extLst>
                      <a:ext uri="{FF2B5EF4-FFF2-40B4-BE49-F238E27FC236}">
                        <a16:creationId xmlns:a16="http://schemas.microsoft.com/office/drawing/2014/main" id="{F70FED15-0838-248A-762B-0FD9D3BDCA45}"/>
                      </a:ext>
                    </a:extLst>
                  </p:cNvPr>
                  <p:cNvGrpSpPr/>
                  <p:nvPr/>
                </p:nvGrpSpPr>
                <p:grpSpPr>
                  <a:xfrm>
                    <a:off x="5400844" y="3406070"/>
                    <a:ext cx="1267221" cy="1123799"/>
                    <a:chOff x="5400844" y="3406070"/>
                    <a:chExt cx="1267221" cy="1123799"/>
                  </a:xfrm>
                </p:grpSpPr>
                <p:sp>
                  <p:nvSpPr>
                    <p:cNvPr id="181" name="立方体 180">
                      <a:extLst>
                        <a:ext uri="{FF2B5EF4-FFF2-40B4-BE49-F238E27FC236}">
                          <a16:creationId xmlns:a16="http://schemas.microsoft.com/office/drawing/2014/main" id="{5616EF24-06EF-8492-C3DF-292F5EA67025}"/>
                        </a:ext>
                      </a:extLst>
                    </p:cNvPr>
                    <p:cNvSpPr/>
                    <p:nvPr/>
                  </p:nvSpPr>
                  <p:spPr>
                    <a:xfrm>
                      <a:off x="5400844" y="3406070"/>
                      <a:ext cx="1267221" cy="1123799"/>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grpSp>
                  <p:nvGrpSpPr>
                    <p:cNvPr id="182" name="组合 181">
                      <a:extLst>
                        <a:ext uri="{FF2B5EF4-FFF2-40B4-BE49-F238E27FC236}">
                          <a16:creationId xmlns:a16="http://schemas.microsoft.com/office/drawing/2014/main" id="{56A0E5DE-CF02-76BE-DAFD-DCA68CB0CB6A}"/>
                        </a:ext>
                      </a:extLst>
                    </p:cNvPr>
                    <p:cNvGrpSpPr/>
                    <p:nvPr/>
                  </p:nvGrpSpPr>
                  <p:grpSpPr>
                    <a:xfrm>
                      <a:off x="5476608" y="3773476"/>
                      <a:ext cx="581817" cy="331211"/>
                      <a:chOff x="7224637" y="3388229"/>
                      <a:chExt cx="581817" cy="331211"/>
                    </a:xfrm>
                  </p:grpSpPr>
                  <p:sp>
                    <p:nvSpPr>
                      <p:cNvPr id="190" name="椭圆 189">
                        <a:extLst>
                          <a:ext uri="{FF2B5EF4-FFF2-40B4-BE49-F238E27FC236}">
                            <a16:creationId xmlns:a16="http://schemas.microsoft.com/office/drawing/2014/main" id="{F1F87B60-39AC-E8AF-14E3-E571E55F15B8}"/>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191" name="组合 190">
                        <a:extLst>
                          <a:ext uri="{FF2B5EF4-FFF2-40B4-BE49-F238E27FC236}">
                            <a16:creationId xmlns:a16="http://schemas.microsoft.com/office/drawing/2014/main" id="{5474386B-34B8-E90D-07BE-D11A6BF1F78E}"/>
                          </a:ext>
                        </a:extLst>
                      </p:cNvPr>
                      <p:cNvGrpSpPr/>
                      <p:nvPr/>
                    </p:nvGrpSpPr>
                    <p:grpSpPr>
                      <a:xfrm>
                        <a:off x="7576336" y="3388229"/>
                        <a:ext cx="230118" cy="331211"/>
                        <a:chOff x="7576336" y="3388229"/>
                        <a:chExt cx="230118" cy="331211"/>
                      </a:xfrm>
                    </p:grpSpPr>
                    <p:sp>
                      <p:nvSpPr>
                        <p:cNvPr id="193" name="矩形 192">
                          <a:extLst>
                            <a:ext uri="{FF2B5EF4-FFF2-40B4-BE49-F238E27FC236}">
                              <a16:creationId xmlns:a16="http://schemas.microsoft.com/office/drawing/2014/main" id="{1551BF2F-30AE-505D-E912-13872FAA231F}"/>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4" name="等腰三角形 193">
                          <a:extLst>
                            <a:ext uri="{FF2B5EF4-FFF2-40B4-BE49-F238E27FC236}">
                              <a16:creationId xmlns:a16="http://schemas.microsoft.com/office/drawing/2014/main" id="{7A57932A-1556-2748-214F-183A40FB9504}"/>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92" name="直接箭头连接符 191">
                        <a:extLst>
                          <a:ext uri="{FF2B5EF4-FFF2-40B4-BE49-F238E27FC236}">
                            <a16:creationId xmlns:a16="http://schemas.microsoft.com/office/drawing/2014/main" id="{B7BD5F9C-0773-A7AB-B4EB-FCC9C75F11F4}"/>
                          </a:ext>
                        </a:extLst>
                      </p:cNvPr>
                      <p:cNvCxnSpPr>
                        <a:cxnSpLocks/>
                        <a:endCxn id="194"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183" name="组合 182">
                      <a:extLst>
                        <a:ext uri="{FF2B5EF4-FFF2-40B4-BE49-F238E27FC236}">
                          <a16:creationId xmlns:a16="http://schemas.microsoft.com/office/drawing/2014/main" id="{3764DE0E-40C9-DC61-F506-FB065B203A9C}"/>
                        </a:ext>
                      </a:extLst>
                    </p:cNvPr>
                    <p:cNvGrpSpPr/>
                    <p:nvPr/>
                  </p:nvGrpSpPr>
                  <p:grpSpPr>
                    <a:xfrm rot="5400000">
                      <a:off x="5967328" y="3939081"/>
                      <a:ext cx="581817" cy="331211"/>
                      <a:chOff x="7224637" y="3388229"/>
                      <a:chExt cx="581817" cy="331211"/>
                    </a:xfrm>
                  </p:grpSpPr>
                  <p:sp>
                    <p:nvSpPr>
                      <p:cNvPr id="185" name="椭圆 184">
                        <a:extLst>
                          <a:ext uri="{FF2B5EF4-FFF2-40B4-BE49-F238E27FC236}">
                            <a16:creationId xmlns:a16="http://schemas.microsoft.com/office/drawing/2014/main" id="{FB0BA77F-60D6-6BA7-F714-F21750D502C3}"/>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cs typeface="Times New Roman" panose="02020603050405020304" pitchFamily="18" charset="0"/>
                          </a:rPr>
                          <a:t>＋</a:t>
                        </a:r>
                      </a:p>
                    </p:txBody>
                  </p:sp>
                  <p:grpSp>
                    <p:nvGrpSpPr>
                      <p:cNvPr id="186" name="组合 185">
                        <a:extLst>
                          <a:ext uri="{FF2B5EF4-FFF2-40B4-BE49-F238E27FC236}">
                            <a16:creationId xmlns:a16="http://schemas.microsoft.com/office/drawing/2014/main" id="{E87947BB-E15F-F91C-C8C5-D7CE8BF3F19A}"/>
                          </a:ext>
                        </a:extLst>
                      </p:cNvPr>
                      <p:cNvGrpSpPr/>
                      <p:nvPr/>
                    </p:nvGrpSpPr>
                    <p:grpSpPr>
                      <a:xfrm>
                        <a:off x="7576336" y="3388229"/>
                        <a:ext cx="230118" cy="331211"/>
                        <a:chOff x="7576336" y="3388229"/>
                        <a:chExt cx="230118" cy="331211"/>
                      </a:xfrm>
                    </p:grpSpPr>
                    <p:sp>
                      <p:nvSpPr>
                        <p:cNvPr id="188" name="矩形 187">
                          <a:extLst>
                            <a:ext uri="{FF2B5EF4-FFF2-40B4-BE49-F238E27FC236}">
                              <a16:creationId xmlns:a16="http://schemas.microsoft.com/office/drawing/2014/main" id="{A636EAE4-EDE1-FC27-5ED6-F0B4E513BF41}"/>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9" name="等腰三角形 188">
                          <a:extLst>
                            <a:ext uri="{FF2B5EF4-FFF2-40B4-BE49-F238E27FC236}">
                              <a16:creationId xmlns:a16="http://schemas.microsoft.com/office/drawing/2014/main" id="{15AE34DE-05AB-D05D-1B3F-596822651867}"/>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87" name="直接箭头连接符 186">
                        <a:extLst>
                          <a:ext uri="{FF2B5EF4-FFF2-40B4-BE49-F238E27FC236}">
                            <a16:creationId xmlns:a16="http://schemas.microsoft.com/office/drawing/2014/main" id="{A1E03113-63DC-45EB-0EFA-58264AD290B4}"/>
                          </a:ext>
                        </a:extLst>
                      </p:cNvPr>
                      <p:cNvCxnSpPr>
                        <a:cxnSpLocks/>
                        <a:endCxn id="189"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84" name="直接箭头连接符 183">
                      <a:extLst>
                        <a:ext uri="{FF2B5EF4-FFF2-40B4-BE49-F238E27FC236}">
                          <a16:creationId xmlns:a16="http://schemas.microsoft.com/office/drawing/2014/main" id="{B2CDAB8D-21EE-9F27-A6A9-041203660B94}"/>
                        </a:ext>
                      </a:extLst>
                    </p:cNvPr>
                    <p:cNvCxnSpPr>
                      <a:cxnSpLocks/>
                      <a:stCxn id="193" idx="3"/>
                      <a:endCxn id="185" idx="4"/>
                    </p:cNvCxnSpPr>
                    <p:nvPr/>
                  </p:nvCxnSpPr>
                  <p:spPr>
                    <a:xfrm>
                      <a:off x="6058425" y="3939082"/>
                      <a:ext cx="113416" cy="696"/>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80" name="直接箭头连接符 179">
                    <a:extLst>
                      <a:ext uri="{FF2B5EF4-FFF2-40B4-BE49-F238E27FC236}">
                        <a16:creationId xmlns:a16="http://schemas.microsoft.com/office/drawing/2014/main" id="{A938F6F8-157F-896F-DCD9-A3BAB1BC74A2}"/>
                      </a:ext>
                    </a:extLst>
                  </p:cNvPr>
                  <p:cNvCxnSpPr>
                    <a:cxnSpLocks/>
                  </p:cNvCxnSpPr>
                  <p:nvPr/>
                </p:nvCxnSpPr>
                <p:spPr>
                  <a:xfrm>
                    <a:off x="4141051" y="3897114"/>
                    <a:ext cx="1335557" cy="0"/>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sp>
              <p:nvSpPr>
                <p:cNvPr id="49" name="文本框 48">
                  <a:extLst>
                    <a:ext uri="{FF2B5EF4-FFF2-40B4-BE49-F238E27FC236}">
                      <a16:creationId xmlns:a16="http://schemas.microsoft.com/office/drawing/2014/main" id="{541EB4AE-4F51-7C6D-A0A6-C77C0859EEF3}"/>
                    </a:ext>
                  </a:extLst>
                </p:cNvPr>
                <p:cNvSpPr txBox="1"/>
                <p:nvPr/>
              </p:nvSpPr>
              <p:spPr>
                <a:xfrm>
                  <a:off x="4677195" y="3615967"/>
                  <a:ext cx="720300" cy="364093"/>
                </a:xfrm>
                <a:prstGeom prst="rect">
                  <a:avLst/>
                </a:prstGeom>
                <a:noFill/>
              </p:spPr>
              <p:txBody>
                <a:bodyPr wrap="none" rtlCol="0">
                  <a:spAutoFit/>
                </a:bodyPr>
                <a:lstStyle/>
                <a:p>
                  <a:pPr algn="ctr"/>
                  <a:r>
                    <a:rPr lang="en-US" altLang="zh-CN" sz="1200" dirty="0">
                      <a:latin typeface="Times New Roman" panose="02020603050405020304" pitchFamily="18" charset="0"/>
                      <a:cs typeface="Times New Roman" panose="02020603050405020304" pitchFamily="18" charset="0"/>
                    </a:rPr>
                    <a:t>Data0</a:t>
                  </a:r>
                  <a:endParaRPr lang="zh-CN" altLang="en-US" sz="1200" dirty="0">
                    <a:latin typeface="Times New Roman" panose="02020603050405020304" pitchFamily="18" charset="0"/>
                    <a:cs typeface="Times New Roman" panose="02020603050405020304" pitchFamily="18" charset="0"/>
                  </a:endParaRPr>
                </a:p>
              </p:txBody>
            </p:sp>
            <p:grpSp>
              <p:nvGrpSpPr>
                <p:cNvPr id="50" name="组合 49">
                  <a:extLst>
                    <a:ext uri="{FF2B5EF4-FFF2-40B4-BE49-F238E27FC236}">
                      <a16:creationId xmlns:a16="http://schemas.microsoft.com/office/drawing/2014/main" id="{0E76767C-D497-8D1B-39E5-C6154E968A4F}"/>
                    </a:ext>
                  </a:extLst>
                </p:cNvPr>
                <p:cNvGrpSpPr/>
                <p:nvPr/>
              </p:nvGrpSpPr>
              <p:grpSpPr>
                <a:xfrm>
                  <a:off x="6784626" y="3013648"/>
                  <a:ext cx="230118" cy="331211"/>
                  <a:chOff x="6808261" y="3616302"/>
                  <a:chExt cx="230118" cy="331211"/>
                </a:xfrm>
              </p:grpSpPr>
              <p:sp>
                <p:nvSpPr>
                  <p:cNvPr id="177" name="矩形 176">
                    <a:extLst>
                      <a:ext uri="{FF2B5EF4-FFF2-40B4-BE49-F238E27FC236}">
                        <a16:creationId xmlns:a16="http://schemas.microsoft.com/office/drawing/2014/main" id="{B4A1D945-5FDF-F94F-560F-D10FF070C044}"/>
                      </a:ext>
                    </a:extLst>
                  </p:cNvPr>
                  <p:cNvSpPr/>
                  <p:nvPr/>
                </p:nvSpPr>
                <p:spPr>
                  <a:xfrm>
                    <a:off x="6808261" y="3616302"/>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8" name="等腰三角形 177">
                    <a:extLst>
                      <a:ext uri="{FF2B5EF4-FFF2-40B4-BE49-F238E27FC236}">
                        <a16:creationId xmlns:a16="http://schemas.microsoft.com/office/drawing/2014/main" id="{64A50AFC-86A2-3D73-B398-AD90FE195460}"/>
                      </a:ext>
                    </a:extLst>
                  </p:cNvPr>
                  <p:cNvSpPr/>
                  <p:nvPr/>
                </p:nvSpPr>
                <p:spPr>
                  <a:xfrm rot="5400000">
                    <a:off x="6792644" y="3685571"/>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51" name="直接箭头连接符 50">
                  <a:extLst>
                    <a:ext uri="{FF2B5EF4-FFF2-40B4-BE49-F238E27FC236}">
                      <a16:creationId xmlns:a16="http://schemas.microsoft.com/office/drawing/2014/main" id="{F7C2B7E9-D60D-69FB-1DBA-45A1BB192E30}"/>
                    </a:ext>
                  </a:extLst>
                </p:cNvPr>
                <p:cNvCxnSpPr>
                  <a:cxnSpLocks/>
                  <a:endCxn id="178" idx="3"/>
                </p:cNvCxnSpPr>
                <p:nvPr/>
              </p:nvCxnSpPr>
              <p:spPr>
                <a:xfrm>
                  <a:off x="5289550" y="3137721"/>
                  <a:ext cx="1495076" cy="0"/>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EDBC3DBB-843E-8D68-9C25-ECA62F52AF75}"/>
                    </a:ext>
                  </a:extLst>
                </p:cNvPr>
                <p:cNvCxnSpPr>
                  <a:cxnSpLocks/>
                </p:cNvCxnSpPr>
                <p:nvPr/>
              </p:nvCxnSpPr>
              <p:spPr>
                <a:xfrm flipV="1">
                  <a:off x="5289550" y="3137721"/>
                  <a:ext cx="0" cy="759393"/>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77D211D8-5329-B1A8-5DA5-96CD656DBFBB}"/>
                    </a:ext>
                  </a:extLst>
                </p:cNvPr>
                <p:cNvCxnSpPr>
                  <a:cxnSpLocks/>
                </p:cNvCxnSpPr>
                <p:nvPr/>
              </p:nvCxnSpPr>
              <p:spPr>
                <a:xfrm flipV="1">
                  <a:off x="7190779" y="3137721"/>
                  <a:ext cx="0" cy="723579"/>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E35F0B68-007E-0585-4B18-9E91B4A90CA1}"/>
                    </a:ext>
                  </a:extLst>
                </p:cNvPr>
                <p:cNvCxnSpPr>
                  <a:cxnSpLocks/>
                  <a:endCxn id="177" idx="3"/>
                </p:cNvCxnSpPr>
                <p:nvPr/>
              </p:nvCxnSpPr>
              <p:spPr>
                <a:xfrm flipH="1">
                  <a:off x="7014744" y="3179254"/>
                  <a:ext cx="176035" cy="0"/>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grpSp>
              <p:nvGrpSpPr>
                <p:cNvPr id="57" name="组合 56">
                  <a:extLst>
                    <a:ext uri="{FF2B5EF4-FFF2-40B4-BE49-F238E27FC236}">
                      <a16:creationId xmlns:a16="http://schemas.microsoft.com/office/drawing/2014/main" id="{7C871B59-7501-85DD-C797-BB6B312348E0}"/>
                    </a:ext>
                  </a:extLst>
                </p:cNvPr>
                <p:cNvGrpSpPr/>
                <p:nvPr/>
              </p:nvGrpSpPr>
              <p:grpSpPr>
                <a:xfrm>
                  <a:off x="7190779" y="3370256"/>
                  <a:ext cx="1420946" cy="1123799"/>
                  <a:chOff x="5247119" y="3406070"/>
                  <a:chExt cx="1420946" cy="1123799"/>
                </a:xfrm>
              </p:grpSpPr>
              <p:grpSp>
                <p:nvGrpSpPr>
                  <p:cNvPr id="161" name="组合 160">
                    <a:extLst>
                      <a:ext uri="{FF2B5EF4-FFF2-40B4-BE49-F238E27FC236}">
                        <a16:creationId xmlns:a16="http://schemas.microsoft.com/office/drawing/2014/main" id="{1A9C50C9-7DF3-F669-B13D-986CB1C9F973}"/>
                      </a:ext>
                    </a:extLst>
                  </p:cNvPr>
                  <p:cNvGrpSpPr/>
                  <p:nvPr/>
                </p:nvGrpSpPr>
                <p:grpSpPr>
                  <a:xfrm>
                    <a:off x="5400844" y="3406070"/>
                    <a:ext cx="1267221" cy="1123799"/>
                    <a:chOff x="5400844" y="3406070"/>
                    <a:chExt cx="1267221" cy="1123799"/>
                  </a:xfrm>
                </p:grpSpPr>
                <p:sp>
                  <p:nvSpPr>
                    <p:cNvPr id="163" name="立方体 162">
                      <a:extLst>
                        <a:ext uri="{FF2B5EF4-FFF2-40B4-BE49-F238E27FC236}">
                          <a16:creationId xmlns:a16="http://schemas.microsoft.com/office/drawing/2014/main" id="{05490247-AFE6-C611-607F-FF8EB062F5A6}"/>
                        </a:ext>
                      </a:extLst>
                    </p:cNvPr>
                    <p:cNvSpPr/>
                    <p:nvPr/>
                  </p:nvSpPr>
                  <p:spPr>
                    <a:xfrm>
                      <a:off x="5400844" y="3406070"/>
                      <a:ext cx="1267221" cy="1123799"/>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grpSp>
                  <p:nvGrpSpPr>
                    <p:cNvPr id="164" name="组合 163">
                      <a:extLst>
                        <a:ext uri="{FF2B5EF4-FFF2-40B4-BE49-F238E27FC236}">
                          <a16:creationId xmlns:a16="http://schemas.microsoft.com/office/drawing/2014/main" id="{CBE76FAC-216C-AC50-DE74-990C9163E7D1}"/>
                        </a:ext>
                      </a:extLst>
                    </p:cNvPr>
                    <p:cNvGrpSpPr/>
                    <p:nvPr/>
                  </p:nvGrpSpPr>
                  <p:grpSpPr>
                    <a:xfrm>
                      <a:off x="5476608" y="3773476"/>
                      <a:ext cx="581817" cy="331211"/>
                      <a:chOff x="7224637" y="3388229"/>
                      <a:chExt cx="581817" cy="331211"/>
                    </a:xfrm>
                  </p:grpSpPr>
                  <p:sp>
                    <p:nvSpPr>
                      <p:cNvPr id="172" name="椭圆 171">
                        <a:extLst>
                          <a:ext uri="{FF2B5EF4-FFF2-40B4-BE49-F238E27FC236}">
                            <a16:creationId xmlns:a16="http://schemas.microsoft.com/office/drawing/2014/main" id="{DDA3A51C-6EB6-B07F-AFDB-A9CB1FA1D6EC}"/>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173" name="组合 172">
                        <a:extLst>
                          <a:ext uri="{FF2B5EF4-FFF2-40B4-BE49-F238E27FC236}">
                            <a16:creationId xmlns:a16="http://schemas.microsoft.com/office/drawing/2014/main" id="{E6CDF226-8D63-3620-E53C-7582A4758D3A}"/>
                          </a:ext>
                        </a:extLst>
                      </p:cNvPr>
                      <p:cNvGrpSpPr/>
                      <p:nvPr/>
                    </p:nvGrpSpPr>
                    <p:grpSpPr>
                      <a:xfrm>
                        <a:off x="7576336" y="3388229"/>
                        <a:ext cx="230118" cy="331211"/>
                        <a:chOff x="7576336" y="3388229"/>
                        <a:chExt cx="230118" cy="331211"/>
                      </a:xfrm>
                    </p:grpSpPr>
                    <p:sp>
                      <p:nvSpPr>
                        <p:cNvPr id="175" name="矩形 174">
                          <a:extLst>
                            <a:ext uri="{FF2B5EF4-FFF2-40B4-BE49-F238E27FC236}">
                              <a16:creationId xmlns:a16="http://schemas.microsoft.com/office/drawing/2014/main" id="{4FF0916C-D004-007A-D091-93F8F1BA9A5D}"/>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6" name="等腰三角形 175">
                          <a:extLst>
                            <a:ext uri="{FF2B5EF4-FFF2-40B4-BE49-F238E27FC236}">
                              <a16:creationId xmlns:a16="http://schemas.microsoft.com/office/drawing/2014/main" id="{C2E0D0CD-AB4C-475F-41E7-037AB2EFFA71}"/>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74" name="直接箭头连接符 173">
                        <a:extLst>
                          <a:ext uri="{FF2B5EF4-FFF2-40B4-BE49-F238E27FC236}">
                            <a16:creationId xmlns:a16="http://schemas.microsoft.com/office/drawing/2014/main" id="{F4EE0BDC-84E7-8AB2-87AA-E6FB2C621994}"/>
                          </a:ext>
                        </a:extLst>
                      </p:cNvPr>
                      <p:cNvCxnSpPr>
                        <a:cxnSpLocks/>
                        <a:endCxn id="176"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165" name="组合 164">
                      <a:extLst>
                        <a:ext uri="{FF2B5EF4-FFF2-40B4-BE49-F238E27FC236}">
                          <a16:creationId xmlns:a16="http://schemas.microsoft.com/office/drawing/2014/main" id="{701ADF3B-93AB-193C-8BAC-8A65B0A8280A}"/>
                        </a:ext>
                      </a:extLst>
                    </p:cNvPr>
                    <p:cNvGrpSpPr/>
                    <p:nvPr/>
                  </p:nvGrpSpPr>
                  <p:grpSpPr>
                    <a:xfrm rot="5400000">
                      <a:off x="5967328" y="3939081"/>
                      <a:ext cx="581817" cy="331211"/>
                      <a:chOff x="7224637" y="3388229"/>
                      <a:chExt cx="581817" cy="331211"/>
                    </a:xfrm>
                  </p:grpSpPr>
                  <p:sp>
                    <p:nvSpPr>
                      <p:cNvPr id="167" name="椭圆 166">
                        <a:extLst>
                          <a:ext uri="{FF2B5EF4-FFF2-40B4-BE49-F238E27FC236}">
                            <a16:creationId xmlns:a16="http://schemas.microsoft.com/office/drawing/2014/main" id="{53EFDC9C-7B6B-B236-D4D2-E92600470485}"/>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cs typeface="Times New Roman" panose="02020603050405020304" pitchFamily="18" charset="0"/>
                          </a:rPr>
                          <a:t>＋</a:t>
                        </a:r>
                      </a:p>
                    </p:txBody>
                  </p:sp>
                  <p:grpSp>
                    <p:nvGrpSpPr>
                      <p:cNvPr id="168" name="组合 167">
                        <a:extLst>
                          <a:ext uri="{FF2B5EF4-FFF2-40B4-BE49-F238E27FC236}">
                            <a16:creationId xmlns:a16="http://schemas.microsoft.com/office/drawing/2014/main" id="{7D5487A8-5FFD-6C4C-1C99-F7A351328225}"/>
                          </a:ext>
                        </a:extLst>
                      </p:cNvPr>
                      <p:cNvGrpSpPr/>
                      <p:nvPr/>
                    </p:nvGrpSpPr>
                    <p:grpSpPr>
                      <a:xfrm>
                        <a:off x="7576336" y="3388229"/>
                        <a:ext cx="230118" cy="331211"/>
                        <a:chOff x="7576336" y="3388229"/>
                        <a:chExt cx="230118" cy="331211"/>
                      </a:xfrm>
                    </p:grpSpPr>
                    <p:sp>
                      <p:nvSpPr>
                        <p:cNvPr id="170" name="矩形 169">
                          <a:extLst>
                            <a:ext uri="{FF2B5EF4-FFF2-40B4-BE49-F238E27FC236}">
                              <a16:creationId xmlns:a16="http://schemas.microsoft.com/office/drawing/2014/main" id="{5278D927-BB30-3BD3-5652-9B56BE1D817B}"/>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1" name="等腰三角形 170">
                          <a:extLst>
                            <a:ext uri="{FF2B5EF4-FFF2-40B4-BE49-F238E27FC236}">
                              <a16:creationId xmlns:a16="http://schemas.microsoft.com/office/drawing/2014/main" id="{3CFFD06F-0272-F0BB-A3AD-3F059257B47A}"/>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69" name="直接箭头连接符 168">
                        <a:extLst>
                          <a:ext uri="{FF2B5EF4-FFF2-40B4-BE49-F238E27FC236}">
                            <a16:creationId xmlns:a16="http://schemas.microsoft.com/office/drawing/2014/main" id="{788FD182-9177-136E-B060-DDF46A235D65}"/>
                          </a:ext>
                        </a:extLst>
                      </p:cNvPr>
                      <p:cNvCxnSpPr>
                        <a:cxnSpLocks/>
                        <a:endCxn id="171"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66" name="直接箭头连接符 165">
                      <a:extLst>
                        <a:ext uri="{FF2B5EF4-FFF2-40B4-BE49-F238E27FC236}">
                          <a16:creationId xmlns:a16="http://schemas.microsoft.com/office/drawing/2014/main" id="{D134EF21-ABB0-DE49-398E-951C2492D23A}"/>
                        </a:ext>
                      </a:extLst>
                    </p:cNvPr>
                    <p:cNvCxnSpPr>
                      <a:cxnSpLocks/>
                      <a:stCxn id="175" idx="3"/>
                      <a:endCxn id="167" idx="4"/>
                    </p:cNvCxnSpPr>
                    <p:nvPr/>
                  </p:nvCxnSpPr>
                  <p:spPr>
                    <a:xfrm>
                      <a:off x="6058425" y="3939082"/>
                      <a:ext cx="113416" cy="696"/>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62" name="直接箭头连接符 161">
                    <a:extLst>
                      <a:ext uri="{FF2B5EF4-FFF2-40B4-BE49-F238E27FC236}">
                        <a16:creationId xmlns:a16="http://schemas.microsoft.com/office/drawing/2014/main" id="{2A658C88-68F2-F033-17D8-AD0720BF8F41}"/>
                      </a:ext>
                    </a:extLst>
                  </p:cNvPr>
                  <p:cNvCxnSpPr>
                    <a:cxnSpLocks/>
                  </p:cNvCxnSpPr>
                  <p:nvPr/>
                </p:nvCxnSpPr>
                <p:spPr>
                  <a:xfrm flipV="1">
                    <a:off x="5247119" y="3897114"/>
                    <a:ext cx="229489" cy="435"/>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58" name="组合 57">
                  <a:extLst>
                    <a:ext uri="{FF2B5EF4-FFF2-40B4-BE49-F238E27FC236}">
                      <a16:creationId xmlns:a16="http://schemas.microsoft.com/office/drawing/2014/main" id="{D2B8328E-1544-0B0C-1775-F6C78D4F0B4C}"/>
                    </a:ext>
                  </a:extLst>
                </p:cNvPr>
                <p:cNvGrpSpPr/>
                <p:nvPr/>
              </p:nvGrpSpPr>
              <p:grpSpPr>
                <a:xfrm>
                  <a:off x="8670304" y="3013648"/>
                  <a:ext cx="230118" cy="331211"/>
                  <a:chOff x="6808261" y="3616302"/>
                  <a:chExt cx="230118" cy="331211"/>
                </a:xfrm>
              </p:grpSpPr>
              <p:sp>
                <p:nvSpPr>
                  <p:cNvPr id="159" name="矩形 158">
                    <a:extLst>
                      <a:ext uri="{FF2B5EF4-FFF2-40B4-BE49-F238E27FC236}">
                        <a16:creationId xmlns:a16="http://schemas.microsoft.com/office/drawing/2014/main" id="{98E497A4-74FC-1229-5815-830CB1EB6348}"/>
                      </a:ext>
                    </a:extLst>
                  </p:cNvPr>
                  <p:cNvSpPr/>
                  <p:nvPr/>
                </p:nvSpPr>
                <p:spPr>
                  <a:xfrm>
                    <a:off x="6808261" y="3616302"/>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0" name="等腰三角形 159">
                    <a:extLst>
                      <a:ext uri="{FF2B5EF4-FFF2-40B4-BE49-F238E27FC236}">
                        <a16:creationId xmlns:a16="http://schemas.microsoft.com/office/drawing/2014/main" id="{360BB71A-EF2D-2CB0-1373-6EEF9FDCE530}"/>
                      </a:ext>
                    </a:extLst>
                  </p:cNvPr>
                  <p:cNvSpPr/>
                  <p:nvPr/>
                </p:nvSpPr>
                <p:spPr>
                  <a:xfrm rot="5400000">
                    <a:off x="6792644" y="3685571"/>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60" name="直接箭头连接符 59">
                  <a:extLst>
                    <a:ext uri="{FF2B5EF4-FFF2-40B4-BE49-F238E27FC236}">
                      <a16:creationId xmlns:a16="http://schemas.microsoft.com/office/drawing/2014/main" id="{2FAF7FAB-3815-F154-3AC4-E1889507CA42}"/>
                    </a:ext>
                  </a:extLst>
                </p:cNvPr>
                <p:cNvCxnSpPr>
                  <a:cxnSpLocks/>
                  <a:endCxn id="160" idx="3"/>
                </p:cNvCxnSpPr>
                <p:nvPr/>
              </p:nvCxnSpPr>
              <p:spPr>
                <a:xfrm>
                  <a:off x="7190779" y="3137721"/>
                  <a:ext cx="1479525" cy="0"/>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91DF0564-64C3-549D-D22A-C735EDFEE743}"/>
                    </a:ext>
                  </a:extLst>
                </p:cNvPr>
                <p:cNvCxnSpPr>
                  <a:cxnSpLocks/>
                </p:cNvCxnSpPr>
                <p:nvPr/>
              </p:nvCxnSpPr>
              <p:spPr>
                <a:xfrm flipV="1">
                  <a:off x="9076457" y="3179254"/>
                  <a:ext cx="0" cy="682046"/>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446FA4F1-91BB-364E-276A-BE4913C1EE6C}"/>
                    </a:ext>
                  </a:extLst>
                </p:cNvPr>
                <p:cNvCxnSpPr>
                  <a:cxnSpLocks/>
                  <a:endCxn id="159" idx="3"/>
                </p:cNvCxnSpPr>
                <p:nvPr/>
              </p:nvCxnSpPr>
              <p:spPr>
                <a:xfrm flipH="1">
                  <a:off x="8900422" y="3179254"/>
                  <a:ext cx="176035" cy="0"/>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grpSp>
              <p:nvGrpSpPr>
                <p:cNvPr id="63" name="组合 62">
                  <a:extLst>
                    <a:ext uri="{FF2B5EF4-FFF2-40B4-BE49-F238E27FC236}">
                      <a16:creationId xmlns:a16="http://schemas.microsoft.com/office/drawing/2014/main" id="{5D986263-BC72-C0D0-8E9C-A2B111E850C8}"/>
                    </a:ext>
                  </a:extLst>
                </p:cNvPr>
                <p:cNvGrpSpPr/>
                <p:nvPr/>
              </p:nvGrpSpPr>
              <p:grpSpPr>
                <a:xfrm>
                  <a:off x="9076457" y="3370256"/>
                  <a:ext cx="1420946" cy="1123799"/>
                  <a:chOff x="5247119" y="3406070"/>
                  <a:chExt cx="1420946" cy="1123799"/>
                </a:xfrm>
              </p:grpSpPr>
              <p:grpSp>
                <p:nvGrpSpPr>
                  <p:cNvPr id="143" name="组合 142">
                    <a:extLst>
                      <a:ext uri="{FF2B5EF4-FFF2-40B4-BE49-F238E27FC236}">
                        <a16:creationId xmlns:a16="http://schemas.microsoft.com/office/drawing/2014/main" id="{D83CBC8D-02F0-DA80-BF28-E6CCE37DF6F2}"/>
                      </a:ext>
                    </a:extLst>
                  </p:cNvPr>
                  <p:cNvGrpSpPr/>
                  <p:nvPr/>
                </p:nvGrpSpPr>
                <p:grpSpPr>
                  <a:xfrm>
                    <a:off x="5400844" y="3406070"/>
                    <a:ext cx="1267221" cy="1123799"/>
                    <a:chOff x="5400844" y="3406070"/>
                    <a:chExt cx="1267221" cy="1123799"/>
                  </a:xfrm>
                </p:grpSpPr>
                <p:sp>
                  <p:nvSpPr>
                    <p:cNvPr id="145" name="立方体 144">
                      <a:extLst>
                        <a:ext uri="{FF2B5EF4-FFF2-40B4-BE49-F238E27FC236}">
                          <a16:creationId xmlns:a16="http://schemas.microsoft.com/office/drawing/2014/main" id="{4C96924A-E90E-A34C-2489-028FE19AE0E0}"/>
                        </a:ext>
                      </a:extLst>
                    </p:cNvPr>
                    <p:cNvSpPr/>
                    <p:nvPr/>
                  </p:nvSpPr>
                  <p:spPr>
                    <a:xfrm>
                      <a:off x="5400844" y="3406070"/>
                      <a:ext cx="1267221" cy="1123799"/>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grpSp>
                  <p:nvGrpSpPr>
                    <p:cNvPr id="146" name="组合 145">
                      <a:extLst>
                        <a:ext uri="{FF2B5EF4-FFF2-40B4-BE49-F238E27FC236}">
                          <a16:creationId xmlns:a16="http://schemas.microsoft.com/office/drawing/2014/main" id="{2386A9E6-3322-9E91-BC48-E9BEAAC2DCC9}"/>
                        </a:ext>
                      </a:extLst>
                    </p:cNvPr>
                    <p:cNvGrpSpPr/>
                    <p:nvPr/>
                  </p:nvGrpSpPr>
                  <p:grpSpPr>
                    <a:xfrm>
                      <a:off x="5476608" y="3773476"/>
                      <a:ext cx="581817" cy="331211"/>
                      <a:chOff x="7224637" y="3388229"/>
                      <a:chExt cx="581817" cy="331211"/>
                    </a:xfrm>
                  </p:grpSpPr>
                  <p:sp>
                    <p:nvSpPr>
                      <p:cNvPr id="154" name="椭圆 153">
                        <a:extLst>
                          <a:ext uri="{FF2B5EF4-FFF2-40B4-BE49-F238E27FC236}">
                            <a16:creationId xmlns:a16="http://schemas.microsoft.com/office/drawing/2014/main" id="{530CABB8-3EAE-0FBF-ADF7-DBA6B97D38C6}"/>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155" name="组合 154">
                        <a:extLst>
                          <a:ext uri="{FF2B5EF4-FFF2-40B4-BE49-F238E27FC236}">
                            <a16:creationId xmlns:a16="http://schemas.microsoft.com/office/drawing/2014/main" id="{C4EC31B3-AD9D-832C-E704-7F304B2FEA3F}"/>
                          </a:ext>
                        </a:extLst>
                      </p:cNvPr>
                      <p:cNvGrpSpPr/>
                      <p:nvPr/>
                    </p:nvGrpSpPr>
                    <p:grpSpPr>
                      <a:xfrm>
                        <a:off x="7576336" y="3388229"/>
                        <a:ext cx="230118" cy="331211"/>
                        <a:chOff x="7576336" y="3388229"/>
                        <a:chExt cx="230118" cy="331211"/>
                      </a:xfrm>
                    </p:grpSpPr>
                    <p:sp>
                      <p:nvSpPr>
                        <p:cNvPr id="157" name="矩形 156">
                          <a:extLst>
                            <a:ext uri="{FF2B5EF4-FFF2-40B4-BE49-F238E27FC236}">
                              <a16:creationId xmlns:a16="http://schemas.microsoft.com/office/drawing/2014/main" id="{ABFD7299-3157-62E7-4C9A-AF1C1AA38D86}"/>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8" name="等腰三角形 157">
                          <a:extLst>
                            <a:ext uri="{FF2B5EF4-FFF2-40B4-BE49-F238E27FC236}">
                              <a16:creationId xmlns:a16="http://schemas.microsoft.com/office/drawing/2014/main" id="{249F3CE2-F691-5573-E7B2-4BBD53E9F193}"/>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56" name="直接箭头连接符 155">
                        <a:extLst>
                          <a:ext uri="{FF2B5EF4-FFF2-40B4-BE49-F238E27FC236}">
                            <a16:creationId xmlns:a16="http://schemas.microsoft.com/office/drawing/2014/main" id="{A4CA491A-F1AF-FF0B-1C39-3AEA19C52EDF}"/>
                          </a:ext>
                        </a:extLst>
                      </p:cNvPr>
                      <p:cNvCxnSpPr>
                        <a:cxnSpLocks/>
                        <a:endCxn id="158"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147" name="组合 146">
                      <a:extLst>
                        <a:ext uri="{FF2B5EF4-FFF2-40B4-BE49-F238E27FC236}">
                          <a16:creationId xmlns:a16="http://schemas.microsoft.com/office/drawing/2014/main" id="{5BF6C82F-89A6-C083-569F-4C118AA2942C}"/>
                        </a:ext>
                      </a:extLst>
                    </p:cNvPr>
                    <p:cNvGrpSpPr/>
                    <p:nvPr/>
                  </p:nvGrpSpPr>
                  <p:grpSpPr>
                    <a:xfrm rot="5400000">
                      <a:off x="5967328" y="3939081"/>
                      <a:ext cx="581817" cy="331211"/>
                      <a:chOff x="7224637" y="3388229"/>
                      <a:chExt cx="581817" cy="331211"/>
                    </a:xfrm>
                  </p:grpSpPr>
                  <p:sp>
                    <p:nvSpPr>
                      <p:cNvPr id="149" name="椭圆 148">
                        <a:extLst>
                          <a:ext uri="{FF2B5EF4-FFF2-40B4-BE49-F238E27FC236}">
                            <a16:creationId xmlns:a16="http://schemas.microsoft.com/office/drawing/2014/main" id="{5AFD0AC8-50A1-CC8A-D718-3ADC1D00C760}"/>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cs typeface="Times New Roman" panose="02020603050405020304" pitchFamily="18" charset="0"/>
                          </a:rPr>
                          <a:t>＋</a:t>
                        </a:r>
                      </a:p>
                    </p:txBody>
                  </p:sp>
                  <p:grpSp>
                    <p:nvGrpSpPr>
                      <p:cNvPr id="150" name="组合 149">
                        <a:extLst>
                          <a:ext uri="{FF2B5EF4-FFF2-40B4-BE49-F238E27FC236}">
                            <a16:creationId xmlns:a16="http://schemas.microsoft.com/office/drawing/2014/main" id="{F90A421B-9519-7B6E-2CF0-C1C98F43CB47}"/>
                          </a:ext>
                        </a:extLst>
                      </p:cNvPr>
                      <p:cNvGrpSpPr/>
                      <p:nvPr/>
                    </p:nvGrpSpPr>
                    <p:grpSpPr>
                      <a:xfrm>
                        <a:off x="7576336" y="3388229"/>
                        <a:ext cx="230118" cy="331211"/>
                        <a:chOff x="7576336" y="3388229"/>
                        <a:chExt cx="230118" cy="331211"/>
                      </a:xfrm>
                    </p:grpSpPr>
                    <p:sp>
                      <p:nvSpPr>
                        <p:cNvPr id="152" name="矩形 151">
                          <a:extLst>
                            <a:ext uri="{FF2B5EF4-FFF2-40B4-BE49-F238E27FC236}">
                              <a16:creationId xmlns:a16="http://schemas.microsoft.com/office/drawing/2014/main" id="{EC76A9F7-BA51-83D2-342A-C106F0580ED8}"/>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3" name="等腰三角形 152">
                          <a:extLst>
                            <a:ext uri="{FF2B5EF4-FFF2-40B4-BE49-F238E27FC236}">
                              <a16:creationId xmlns:a16="http://schemas.microsoft.com/office/drawing/2014/main" id="{031E9D20-99C5-5EBE-5CA7-B130F3564CBF}"/>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51" name="直接箭头连接符 150">
                        <a:extLst>
                          <a:ext uri="{FF2B5EF4-FFF2-40B4-BE49-F238E27FC236}">
                            <a16:creationId xmlns:a16="http://schemas.microsoft.com/office/drawing/2014/main" id="{DD77A27B-CBEB-491D-7130-E65AC18BDA69}"/>
                          </a:ext>
                        </a:extLst>
                      </p:cNvPr>
                      <p:cNvCxnSpPr>
                        <a:cxnSpLocks/>
                        <a:endCxn id="153"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48" name="直接箭头连接符 147">
                      <a:extLst>
                        <a:ext uri="{FF2B5EF4-FFF2-40B4-BE49-F238E27FC236}">
                          <a16:creationId xmlns:a16="http://schemas.microsoft.com/office/drawing/2014/main" id="{C3541E10-749B-7452-456E-8802DA3F2A2F}"/>
                        </a:ext>
                      </a:extLst>
                    </p:cNvPr>
                    <p:cNvCxnSpPr>
                      <a:cxnSpLocks/>
                      <a:stCxn id="157" idx="3"/>
                      <a:endCxn id="149" idx="4"/>
                    </p:cNvCxnSpPr>
                    <p:nvPr/>
                  </p:nvCxnSpPr>
                  <p:spPr>
                    <a:xfrm>
                      <a:off x="6058425" y="3939082"/>
                      <a:ext cx="113416" cy="696"/>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44" name="直接箭头连接符 143">
                    <a:extLst>
                      <a:ext uri="{FF2B5EF4-FFF2-40B4-BE49-F238E27FC236}">
                        <a16:creationId xmlns:a16="http://schemas.microsoft.com/office/drawing/2014/main" id="{D7E6A0BA-5715-17D5-236A-ADACB9A35EDB}"/>
                      </a:ext>
                    </a:extLst>
                  </p:cNvPr>
                  <p:cNvCxnSpPr>
                    <a:cxnSpLocks/>
                  </p:cNvCxnSpPr>
                  <p:nvPr/>
                </p:nvCxnSpPr>
                <p:spPr>
                  <a:xfrm flipV="1">
                    <a:off x="5247119" y="3897114"/>
                    <a:ext cx="229489" cy="435"/>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sp>
              <p:nvSpPr>
                <p:cNvPr id="64" name="文本框 63">
                  <a:extLst>
                    <a:ext uri="{FF2B5EF4-FFF2-40B4-BE49-F238E27FC236}">
                      <a16:creationId xmlns:a16="http://schemas.microsoft.com/office/drawing/2014/main" id="{5F3FC3EE-190E-EAC0-989C-6643EE24AA9D}"/>
                    </a:ext>
                  </a:extLst>
                </p:cNvPr>
                <p:cNvSpPr txBox="1"/>
                <p:nvPr/>
              </p:nvSpPr>
              <p:spPr>
                <a:xfrm flipH="1">
                  <a:off x="10664820" y="3295799"/>
                  <a:ext cx="590035" cy="930460"/>
                </a:xfrm>
                <a:prstGeom prst="rect">
                  <a:avLst/>
                </a:prstGeom>
                <a:noFill/>
              </p:spPr>
              <p:txBody>
                <a:bodyPr wrap="square" rtlCol="0">
                  <a:spAutoFit/>
                </a:bodyPr>
                <a:lstStyle/>
                <a:p>
                  <a:r>
                    <a:rPr lang="en-US" altLang="zh-CN" sz="4000" b="1">
                      <a:solidFill>
                        <a:schemeClr val="accent1">
                          <a:lumMod val="50000"/>
                        </a:schemeClr>
                      </a:solidFill>
                      <a:latin typeface="Times New Roman" panose="02020603050405020304" pitchFamily="18" charset="0"/>
                      <a:cs typeface="Times New Roman" panose="02020603050405020304" pitchFamily="18" charset="0"/>
                    </a:rPr>
                    <a:t>…</a:t>
                  </a:r>
                  <a:endParaRPr lang="zh-CN" altLang="en-US" sz="4000" b="1" dirty="0">
                    <a:solidFill>
                      <a:schemeClr val="accent1">
                        <a:lumMod val="50000"/>
                      </a:schemeClr>
                    </a:solidFill>
                    <a:latin typeface="Times New Roman" panose="02020603050405020304" pitchFamily="18" charset="0"/>
                    <a:cs typeface="Times New Roman" panose="02020603050405020304" pitchFamily="18" charset="0"/>
                  </a:endParaRPr>
                </a:p>
              </p:txBody>
            </p:sp>
            <p:grpSp>
              <p:nvGrpSpPr>
                <p:cNvPr id="65" name="组合 64">
                  <a:extLst>
                    <a:ext uri="{FF2B5EF4-FFF2-40B4-BE49-F238E27FC236}">
                      <a16:creationId xmlns:a16="http://schemas.microsoft.com/office/drawing/2014/main" id="{D1E0AED8-A98B-236E-7937-976BD7BF42F7}"/>
                    </a:ext>
                  </a:extLst>
                </p:cNvPr>
                <p:cNvGrpSpPr/>
                <p:nvPr/>
              </p:nvGrpSpPr>
              <p:grpSpPr>
                <a:xfrm>
                  <a:off x="4141051" y="4930014"/>
                  <a:ext cx="2527014" cy="1123799"/>
                  <a:chOff x="4141051" y="3406070"/>
                  <a:chExt cx="2527014" cy="1123799"/>
                </a:xfrm>
              </p:grpSpPr>
              <p:grpSp>
                <p:nvGrpSpPr>
                  <p:cNvPr id="127" name="组合 126">
                    <a:extLst>
                      <a:ext uri="{FF2B5EF4-FFF2-40B4-BE49-F238E27FC236}">
                        <a16:creationId xmlns:a16="http://schemas.microsoft.com/office/drawing/2014/main" id="{57D18363-8B42-84D9-2EB7-65844D4AAFA3}"/>
                      </a:ext>
                    </a:extLst>
                  </p:cNvPr>
                  <p:cNvGrpSpPr/>
                  <p:nvPr/>
                </p:nvGrpSpPr>
                <p:grpSpPr>
                  <a:xfrm>
                    <a:off x="5400844" y="3406070"/>
                    <a:ext cx="1267221" cy="1123799"/>
                    <a:chOff x="5400844" y="3406070"/>
                    <a:chExt cx="1267221" cy="1123799"/>
                  </a:xfrm>
                </p:grpSpPr>
                <p:sp>
                  <p:nvSpPr>
                    <p:cNvPr id="129" name="立方体 128">
                      <a:extLst>
                        <a:ext uri="{FF2B5EF4-FFF2-40B4-BE49-F238E27FC236}">
                          <a16:creationId xmlns:a16="http://schemas.microsoft.com/office/drawing/2014/main" id="{00E3A9DF-945F-4D62-331D-EFD2668A3F47}"/>
                        </a:ext>
                      </a:extLst>
                    </p:cNvPr>
                    <p:cNvSpPr/>
                    <p:nvPr/>
                  </p:nvSpPr>
                  <p:spPr>
                    <a:xfrm>
                      <a:off x="5400844" y="3406070"/>
                      <a:ext cx="1267221" cy="1123799"/>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grpSp>
                  <p:nvGrpSpPr>
                    <p:cNvPr id="130" name="组合 129">
                      <a:extLst>
                        <a:ext uri="{FF2B5EF4-FFF2-40B4-BE49-F238E27FC236}">
                          <a16:creationId xmlns:a16="http://schemas.microsoft.com/office/drawing/2014/main" id="{E4BC844D-35F1-DE30-2436-F5B23D3B57C4}"/>
                        </a:ext>
                      </a:extLst>
                    </p:cNvPr>
                    <p:cNvGrpSpPr/>
                    <p:nvPr/>
                  </p:nvGrpSpPr>
                  <p:grpSpPr>
                    <a:xfrm>
                      <a:off x="5476608" y="3773476"/>
                      <a:ext cx="581817" cy="331211"/>
                      <a:chOff x="7224637" y="3388229"/>
                      <a:chExt cx="581817" cy="331211"/>
                    </a:xfrm>
                  </p:grpSpPr>
                  <p:sp>
                    <p:nvSpPr>
                      <p:cNvPr id="138" name="椭圆 137">
                        <a:extLst>
                          <a:ext uri="{FF2B5EF4-FFF2-40B4-BE49-F238E27FC236}">
                            <a16:creationId xmlns:a16="http://schemas.microsoft.com/office/drawing/2014/main" id="{62E57635-F5F3-FFBE-2631-33CB70EDD441}"/>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139" name="组合 138">
                        <a:extLst>
                          <a:ext uri="{FF2B5EF4-FFF2-40B4-BE49-F238E27FC236}">
                            <a16:creationId xmlns:a16="http://schemas.microsoft.com/office/drawing/2014/main" id="{0CFBA4A7-4059-96AC-D3DE-99A31DD49E24}"/>
                          </a:ext>
                        </a:extLst>
                      </p:cNvPr>
                      <p:cNvGrpSpPr/>
                      <p:nvPr/>
                    </p:nvGrpSpPr>
                    <p:grpSpPr>
                      <a:xfrm>
                        <a:off x="7576336" y="3388229"/>
                        <a:ext cx="230118" cy="331211"/>
                        <a:chOff x="7576336" y="3388229"/>
                        <a:chExt cx="230118" cy="331211"/>
                      </a:xfrm>
                    </p:grpSpPr>
                    <p:sp>
                      <p:nvSpPr>
                        <p:cNvPr id="141" name="矩形 140">
                          <a:extLst>
                            <a:ext uri="{FF2B5EF4-FFF2-40B4-BE49-F238E27FC236}">
                              <a16:creationId xmlns:a16="http://schemas.microsoft.com/office/drawing/2014/main" id="{CEFC1A6D-23E4-9BC9-0D6B-5B841E31F9E5}"/>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2" name="等腰三角形 141">
                          <a:extLst>
                            <a:ext uri="{FF2B5EF4-FFF2-40B4-BE49-F238E27FC236}">
                              <a16:creationId xmlns:a16="http://schemas.microsoft.com/office/drawing/2014/main" id="{D73796A7-11D1-4BE4-EA8F-5CFC3DC7040A}"/>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40" name="直接箭头连接符 139">
                        <a:extLst>
                          <a:ext uri="{FF2B5EF4-FFF2-40B4-BE49-F238E27FC236}">
                            <a16:creationId xmlns:a16="http://schemas.microsoft.com/office/drawing/2014/main" id="{6ED88162-2269-91F1-8639-B9590C4457FB}"/>
                          </a:ext>
                        </a:extLst>
                      </p:cNvPr>
                      <p:cNvCxnSpPr>
                        <a:cxnSpLocks/>
                        <a:endCxn id="142"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131" name="组合 130">
                      <a:extLst>
                        <a:ext uri="{FF2B5EF4-FFF2-40B4-BE49-F238E27FC236}">
                          <a16:creationId xmlns:a16="http://schemas.microsoft.com/office/drawing/2014/main" id="{F5F45CEE-B8B4-5EFF-CCF5-31158E5899C5}"/>
                        </a:ext>
                      </a:extLst>
                    </p:cNvPr>
                    <p:cNvGrpSpPr/>
                    <p:nvPr/>
                  </p:nvGrpSpPr>
                  <p:grpSpPr>
                    <a:xfrm rot="5400000">
                      <a:off x="5967328" y="3939081"/>
                      <a:ext cx="581817" cy="331211"/>
                      <a:chOff x="7224637" y="3388229"/>
                      <a:chExt cx="581817" cy="331211"/>
                    </a:xfrm>
                  </p:grpSpPr>
                  <p:sp>
                    <p:nvSpPr>
                      <p:cNvPr id="133" name="椭圆 132">
                        <a:extLst>
                          <a:ext uri="{FF2B5EF4-FFF2-40B4-BE49-F238E27FC236}">
                            <a16:creationId xmlns:a16="http://schemas.microsoft.com/office/drawing/2014/main" id="{CA7FB76A-201B-B530-D899-F4E36B7A8A8E}"/>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cs typeface="Times New Roman" panose="02020603050405020304" pitchFamily="18" charset="0"/>
                          </a:rPr>
                          <a:t>＋</a:t>
                        </a:r>
                      </a:p>
                    </p:txBody>
                  </p:sp>
                  <p:grpSp>
                    <p:nvGrpSpPr>
                      <p:cNvPr id="134" name="组合 133">
                        <a:extLst>
                          <a:ext uri="{FF2B5EF4-FFF2-40B4-BE49-F238E27FC236}">
                            <a16:creationId xmlns:a16="http://schemas.microsoft.com/office/drawing/2014/main" id="{F9945AFD-C78D-974E-566F-146024F84E26}"/>
                          </a:ext>
                        </a:extLst>
                      </p:cNvPr>
                      <p:cNvGrpSpPr/>
                      <p:nvPr/>
                    </p:nvGrpSpPr>
                    <p:grpSpPr>
                      <a:xfrm>
                        <a:off x="7576336" y="3388229"/>
                        <a:ext cx="230118" cy="331211"/>
                        <a:chOff x="7576336" y="3388229"/>
                        <a:chExt cx="230118" cy="331211"/>
                      </a:xfrm>
                    </p:grpSpPr>
                    <p:sp>
                      <p:nvSpPr>
                        <p:cNvPr id="136" name="矩形 135">
                          <a:extLst>
                            <a:ext uri="{FF2B5EF4-FFF2-40B4-BE49-F238E27FC236}">
                              <a16:creationId xmlns:a16="http://schemas.microsoft.com/office/drawing/2014/main" id="{110906C3-8BCA-EB9E-A4F7-34D99871BE33}"/>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7" name="等腰三角形 136">
                          <a:extLst>
                            <a:ext uri="{FF2B5EF4-FFF2-40B4-BE49-F238E27FC236}">
                              <a16:creationId xmlns:a16="http://schemas.microsoft.com/office/drawing/2014/main" id="{E614B94C-F520-B701-2ABA-DB19D0D30699}"/>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35" name="直接箭头连接符 134">
                        <a:extLst>
                          <a:ext uri="{FF2B5EF4-FFF2-40B4-BE49-F238E27FC236}">
                            <a16:creationId xmlns:a16="http://schemas.microsoft.com/office/drawing/2014/main" id="{1BC5F4E5-4896-2B80-09D6-843C09E21DF7}"/>
                          </a:ext>
                        </a:extLst>
                      </p:cNvPr>
                      <p:cNvCxnSpPr>
                        <a:cxnSpLocks/>
                        <a:endCxn id="137"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32" name="直接箭头连接符 131">
                      <a:extLst>
                        <a:ext uri="{FF2B5EF4-FFF2-40B4-BE49-F238E27FC236}">
                          <a16:creationId xmlns:a16="http://schemas.microsoft.com/office/drawing/2014/main" id="{4FE512BE-303B-19F3-FDC1-13F1219F3CFE}"/>
                        </a:ext>
                      </a:extLst>
                    </p:cNvPr>
                    <p:cNvCxnSpPr>
                      <a:cxnSpLocks/>
                      <a:stCxn id="141" idx="3"/>
                      <a:endCxn id="133" idx="4"/>
                    </p:cNvCxnSpPr>
                    <p:nvPr/>
                  </p:nvCxnSpPr>
                  <p:spPr>
                    <a:xfrm>
                      <a:off x="6058425" y="3939082"/>
                      <a:ext cx="113416" cy="696"/>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28" name="直接箭头连接符 127">
                    <a:extLst>
                      <a:ext uri="{FF2B5EF4-FFF2-40B4-BE49-F238E27FC236}">
                        <a16:creationId xmlns:a16="http://schemas.microsoft.com/office/drawing/2014/main" id="{B916472E-0F17-C636-2823-7878F5C7354D}"/>
                      </a:ext>
                    </a:extLst>
                  </p:cNvPr>
                  <p:cNvCxnSpPr>
                    <a:cxnSpLocks/>
                  </p:cNvCxnSpPr>
                  <p:nvPr/>
                </p:nvCxnSpPr>
                <p:spPr>
                  <a:xfrm>
                    <a:off x="4141051" y="3897114"/>
                    <a:ext cx="1335557" cy="0"/>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67" name="组合 66">
                  <a:extLst>
                    <a:ext uri="{FF2B5EF4-FFF2-40B4-BE49-F238E27FC236}">
                      <a16:creationId xmlns:a16="http://schemas.microsoft.com/office/drawing/2014/main" id="{2A1D4B98-BB6B-79BC-0ED1-805F51BEED64}"/>
                    </a:ext>
                  </a:extLst>
                </p:cNvPr>
                <p:cNvGrpSpPr/>
                <p:nvPr/>
              </p:nvGrpSpPr>
              <p:grpSpPr>
                <a:xfrm>
                  <a:off x="6784626" y="4537592"/>
                  <a:ext cx="230118" cy="331211"/>
                  <a:chOff x="6808261" y="3616302"/>
                  <a:chExt cx="230118" cy="331211"/>
                </a:xfrm>
              </p:grpSpPr>
              <p:sp>
                <p:nvSpPr>
                  <p:cNvPr id="125" name="矩形 124">
                    <a:extLst>
                      <a:ext uri="{FF2B5EF4-FFF2-40B4-BE49-F238E27FC236}">
                        <a16:creationId xmlns:a16="http://schemas.microsoft.com/office/drawing/2014/main" id="{5E472C6D-6948-006E-871B-A2352DDC4ED4}"/>
                      </a:ext>
                    </a:extLst>
                  </p:cNvPr>
                  <p:cNvSpPr/>
                  <p:nvPr/>
                </p:nvSpPr>
                <p:spPr>
                  <a:xfrm>
                    <a:off x="6808261" y="3616302"/>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6" name="等腰三角形 125">
                    <a:extLst>
                      <a:ext uri="{FF2B5EF4-FFF2-40B4-BE49-F238E27FC236}">
                        <a16:creationId xmlns:a16="http://schemas.microsoft.com/office/drawing/2014/main" id="{2EF7DD81-5F7E-DA4E-9D58-1C02A811E154}"/>
                      </a:ext>
                    </a:extLst>
                  </p:cNvPr>
                  <p:cNvSpPr/>
                  <p:nvPr/>
                </p:nvSpPr>
                <p:spPr>
                  <a:xfrm rot="5400000">
                    <a:off x="6792644" y="3685571"/>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68" name="直接箭头连接符 67">
                  <a:extLst>
                    <a:ext uri="{FF2B5EF4-FFF2-40B4-BE49-F238E27FC236}">
                      <a16:creationId xmlns:a16="http://schemas.microsoft.com/office/drawing/2014/main" id="{42BE678F-A81E-4427-EEC8-107ACE4AFA08}"/>
                    </a:ext>
                  </a:extLst>
                </p:cNvPr>
                <p:cNvCxnSpPr>
                  <a:cxnSpLocks/>
                  <a:endCxn id="126" idx="3"/>
                </p:cNvCxnSpPr>
                <p:nvPr/>
              </p:nvCxnSpPr>
              <p:spPr>
                <a:xfrm>
                  <a:off x="5289550" y="4661665"/>
                  <a:ext cx="1495076" cy="0"/>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14948BC1-684E-E15E-15AD-84F652D2CACF}"/>
                    </a:ext>
                  </a:extLst>
                </p:cNvPr>
                <p:cNvCxnSpPr>
                  <a:cxnSpLocks/>
                </p:cNvCxnSpPr>
                <p:nvPr/>
              </p:nvCxnSpPr>
              <p:spPr>
                <a:xfrm flipV="1">
                  <a:off x="5289550" y="4661665"/>
                  <a:ext cx="0" cy="759393"/>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1DA5A384-23FB-3779-7C18-B70CFA261B47}"/>
                    </a:ext>
                  </a:extLst>
                </p:cNvPr>
                <p:cNvCxnSpPr>
                  <a:cxnSpLocks/>
                </p:cNvCxnSpPr>
                <p:nvPr/>
              </p:nvCxnSpPr>
              <p:spPr>
                <a:xfrm flipV="1">
                  <a:off x="7190779" y="4661665"/>
                  <a:ext cx="0" cy="723579"/>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71" name="直接箭头连接符 70">
                  <a:extLst>
                    <a:ext uri="{FF2B5EF4-FFF2-40B4-BE49-F238E27FC236}">
                      <a16:creationId xmlns:a16="http://schemas.microsoft.com/office/drawing/2014/main" id="{8630228E-29C9-DEF0-400B-FC76A4E1200A}"/>
                    </a:ext>
                  </a:extLst>
                </p:cNvPr>
                <p:cNvCxnSpPr>
                  <a:cxnSpLocks/>
                  <a:endCxn id="125" idx="3"/>
                </p:cNvCxnSpPr>
                <p:nvPr/>
              </p:nvCxnSpPr>
              <p:spPr>
                <a:xfrm flipH="1">
                  <a:off x="7014744" y="4703198"/>
                  <a:ext cx="176035" cy="0"/>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grpSp>
              <p:nvGrpSpPr>
                <p:cNvPr id="72" name="组合 71">
                  <a:extLst>
                    <a:ext uri="{FF2B5EF4-FFF2-40B4-BE49-F238E27FC236}">
                      <a16:creationId xmlns:a16="http://schemas.microsoft.com/office/drawing/2014/main" id="{70AD999E-4814-3A6A-4534-080A27566229}"/>
                    </a:ext>
                  </a:extLst>
                </p:cNvPr>
                <p:cNvGrpSpPr/>
                <p:nvPr/>
              </p:nvGrpSpPr>
              <p:grpSpPr>
                <a:xfrm>
                  <a:off x="7190779" y="4894200"/>
                  <a:ext cx="1420946" cy="1123799"/>
                  <a:chOff x="5247119" y="3406070"/>
                  <a:chExt cx="1420946" cy="1123799"/>
                </a:xfrm>
              </p:grpSpPr>
              <p:grpSp>
                <p:nvGrpSpPr>
                  <p:cNvPr id="109" name="组合 108">
                    <a:extLst>
                      <a:ext uri="{FF2B5EF4-FFF2-40B4-BE49-F238E27FC236}">
                        <a16:creationId xmlns:a16="http://schemas.microsoft.com/office/drawing/2014/main" id="{AD752BE5-5564-EE75-F8E7-055FB365889A}"/>
                      </a:ext>
                    </a:extLst>
                  </p:cNvPr>
                  <p:cNvGrpSpPr/>
                  <p:nvPr/>
                </p:nvGrpSpPr>
                <p:grpSpPr>
                  <a:xfrm>
                    <a:off x="5400844" y="3406070"/>
                    <a:ext cx="1267221" cy="1123799"/>
                    <a:chOff x="5400844" y="3406070"/>
                    <a:chExt cx="1267221" cy="1123799"/>
                  </a:xfrm>
                </p:grpSpPr>
                <p:sp>
                  <p:nvSpPr>
                    <p:cNvPr id="111" name="立方体 110">
                      <a:extLst>
                        <a:ext uri="{FF2B5EF4-FFF2-40B4-BE49-F238E27FC236}">
                          <a16:creationId xmlns:a16="http://schemas.microsoft.com/office/drawing/2014/main" id="{C692345D-A8E0-58B3-5AB4-791698A8D434}"/>
                        </a:ext>
                      </a:extLst>
                    </p:cNvPr>
                    <p:cNvSpPr/>
                    <p:nvPr/>
                  </p:nvSpPr>
                  <p:spPr>
                    <a:xfrm>
                      <a:off x="5400844" y="3406070"/>
                      <a:ext cx="1267221" cy="1123799"/>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grpSp>
                  <p:nvGrpSpPr>
                    <p:cNvPr id="112" name="组合 111">
                      <a:extLst>
                        <a:ext uri="{FF2B5EF4-FFF2-40B4-BE49-F238E27FC236}">
                          <a16:creationId xmlns:a16="http://schemas.microsoft.com/office/drawing/2014/main" id="{F5AD0323-484D-BD13-040D-8A1FC0ED3412}"/>
                        </a:ext>
                      </a:extLst>
                    </p:cNvPr>
                    <p:cNvGrpSpPr/>
                    <p:nvPr/>
                  </p:nvGrpSpPr>
                  <p:grpSpPr>
                    <a:xfrm>
                      <a:off x="5476608" y="3773476"/>
                      <a:ext cx="581817" cy="331211"/>
                      <a:chOff x="7224637" y="3388229"/>
                      <a:chExt cx="581817" cy="331211"/>
                    </a:xfrm>
                  </p:grpSpPr>
                  <p:sp>
                    <p:nvSpPr>
                      <p:cNvPr id="120" name="椭圆 119">
                        <a:extLst>
                          <a:ext uri="{FF2B5EF4-FFF2-40B4-BE49-F238E27FC236}">
                            <a16:creationId xmlns:a16="http://schemas.microsoft.com/office/drawing/2014/main" id="{F679F94F-05DD-E175-78A6-B177D9B0C7C3}"/>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121" name="组合 120">
                        <a:extLst>
                          <a:ext uri="{FF2B5EF4-FFF2-40B4-BE49-F238E27FC236}">
                            <a16:creationId xmlns:a16="http://schemas.microsoft.com/office/drawing/2014/main" id="{6DA1870E-B77C-763F-CB53-78AD1A63DA1D}"/>
                          </a:ext>
                        </a:extLst>
                      </p:cNvPr>
                      <p:cNvGrpSpPr/>
                      <p:nvPr/>
                    </p:nvGrpSpPr>
                    <p:grpSpPr>
                      <a:xfrm>
                        <a:off x="7576336" y="3388229"/>
                        <a:ext cx="230118" cy="331211"/>
                        <a:chOff x="7576336" y="3388229"/>
                        <a:chExt cx="230118" cy="331211"/>
                      </a:xfrm>
                    </p:grpSpPr>
                    <p:sp>
                      <p:nvSpPr>
                        <p:cNvPr id="123" name="矩形 122">
                          <a:extLst>
                            <a:ext uri="{FF2B5EF4-FFF2-40B4-BE49-F238E27FC236}">
                              <a16:creationId xmlns:a16="http://schemas.microsoft.com/office/drawing/2014/main" id="{A9A4B75F-AE4D-D4A5-8CD9-71151B3B4A1C}"/>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4" name="等腰三角形 123">
                          <a:extLst>
                            <a:ext uri="{FF2B5EF4-FFF2-40B4-BE49-F238E27FC236}">
                              <a16:creationId xmlns:a16="http://schemas.microsoft.com/office/drawing/2014/main" id="{D47509B9-086A-041E-4F64-1B40BC6334AE}"/>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22" name="直接箭头连接符 121">
                        <a:extLst>
                          <a:ext uri="{FF2B5EF4-FFF2-40B4-BE49-F238E27FC236}">
                            <a16:creationId xmlns:a16="http://schemas.microsoft.com/office/drawing/2014/main" id="{F86BD146-1C7E-BD69-3008-14874F97E7A1}"/>
                          </a:ext>
                        </a:extLst>
                      </p:cNvPr>
                      <p:cNvCxnSpPr>
                        <a:cxnSpLocks/>
                        <a:endCxn id="124"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113" name="组合 112">
                      <a:extLst>
                        <a:ext uri="{FF2B5EF4-FFF2-40B4-BE49-F238E27FC236}">
                          <a16:creationId xmlns:a16="http://schemas.microsoft.com/office/drawing/2014/main" id="{C8D4C6E2-0FDE-29B9-B0B3-4D95E45D1CE2}"/>
                        </a:ext>
                      </a:extLst>
                    </p:cNvPr>
                    <p:cNvGrpSpPr/>
                    <p:nvPr/>
                  </p:nvGrpSpPr>
                  <p:grpSpPr>
                    <a:xfrm rot="5400000">
                      <a:off x="5967328" y="3939081"/>
                      <a:ext cx="581817" cy="331211"/>
                      <a:chOff x="7224637" y="3388229"/>
                      <a:chExt cx="581817" cy="331211"/>
                    </a:xfrm>
                  </p:grpSpPr>
                  <p:sp>
                    <p:nvSpPr>
                      <p:cNvPr id="115" name="椭圆 114">
                        <a:extLst>
                          <a:ext uri="{FF2B5EF4-FFF2-40B4-BE49-F238E27FC236}">
                            <a16:creationId xmlns:a16="http://schemas.microsoft.com/office/drawing/2014/main" id="{14CCB77F-834B-B46E-A456-0C65DBD00326}"/>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cs typeface="Times New Roman" panose="02020603050405020304" pitchFamily="18" charset="0"/>
                          </a:rPr>
                          <a:t>＋</a:t>
                        </a:r>
                      </a:p>
                    </p:txBody>
                  </p:sp>
                  <p:grpSp>
                    <p:nvGrpSpPr>
                      <p:cNvPr id="116" name="组合 115">
                        <a:extLst>
                          <a:ext uri="{FF2B5EF4-FFF2-40B4-BE49-F238E27FC236}">
                            <a16:creationId xmlns:a16="http://schemas.microsoft.com/office/drawing/2014/main" id="{455B73A8-9613-AB80-A587-3EB3420785F4}"/>
                          </a:ext>
                        </a:extLst>
                      </p:cNvPr>
                      <p:cNvGrpSpPr/>
                      <p:nvPr/>
                    </p:nvGrpSpPr>
                    <p:grpSpPr>
                      <a:xfrm>
                        <a:off x="7576336" y="3388229"/>
                        <a:ext cx="230118" cy="331211"/>
                        <a:chOff x="7576336" y="3388229"/>
                        <a:chExt cx="230118" cy="331211"/>
                      </a:xfrm>
                    </p:grpSpPr>
                    <p:sp>
                      <p:nvSpPr>
                        <p:cNvPr id="118" name="矩形 117">
                          <a:extLst>
                            <a:ext uri="{FF2B5EF4-FFF2-40B4-BE49-F238E27FC236}">
                              <a16:creationId xmlns:a16="http://schemas.microsoft.com/office/drawing/2014/main" id="{F85A327D-28BD-2459-FF6D-E3133200284E}"/>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9" name="等腰三角形 118">
                          <a:extLst>
                            <a:ext uri="{FF2B5EF4-FFF2-40B4-BE49-F238E27FC236}">
                              <a16:creationId xmlns:a16="http://schemas.microsoft.com/office/drawing/2014/main" id="{3402A486-E8BE-1BD0-B955-9EB2ADDAEA5A}"/>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17" name="直接箭头连接符 116">
                        <a:extLst>
                          <a:ext uri="{FF2B5EF4-FFF2-40B4-BE49-F238E27FC236}">
                            <a16:creationId xmlns:a16="http://schemas.microsoft.com/office/drawing/2014/main" id="{9A4FA4AF-62D8-E5A8-75C9-3F3DF675318D}"/>
                          </a:ext>
                        </a:extLst>
                      </p:cNvPr>
                      <p:cNvCxnSpPr>
                        <a:cxnSpLocks/>
                        <a:endCxn id="119"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14" name="直接箭头连接符 113">
                      <a:extLst>
                        <a:ext uri="{FF2B5EF4-FFF2-40B4-BE49-F238E27FC236}">
                          <a16:creationId xmlns:a16="http://schemas.microsoft.com/office/drawing/2014/main" id="{59A6C005-5E68-B837-6B63-C597FCE15CD9}"/>
                        </a:ext>
                      </a:extLst>
                    </p:cNvPr>
                    <p:cNvCxnSpPr>
                      <a:cxnSpLocks/>
                      <a:stCxn id="123" idx="3"/>
                      <a:endCxn id="115" idx="4"/>
                    </p:cNvCxnSpPr>
                    <p:nvPr/>
                  </p:nvCxnSpPr>
                  <p:spPr>
                    <a:xfrm>
                      <a:off x="6058425" y="3939082"/>
                      <a:ext cx="113416" cy="696"/>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110" name="直接箭头连接符 109">
                    <a:extLst>
                      <a:ext uri="{FF2B5EF4-FFF2-40B4-BE49-F238E27FC236}">
                        <a16:creationId xmlns:a16="http://schemas.microsoft.com/office/drawing/2014/main" id="{35E92DB4-DB62-7521-1645-BB9A43984A41}"/>
                      </a:ext>
                    </a:extLst>
                  </p:cNvPr>
                  <p:cNvCxnSpPr>
                    <a:cxnSpLocks/>
                  </p:cNvCxnSpPr>
                  <p:nvPr/>
                </p:nvCxnSpPr>
                <p:spPr>
                  <a:xfrm flipV="1">
                    <a:off x="5247119" y="3897114"/>
                    <a:ext cx="229489" cy="435"/>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73" name="组合 72">
                  <a:extLst>
                    <a:ext uri="{FF2B5EF4-FFF2-40B4-BE49-F238E27FC236}">
                      <a16:creationId xmlns:a16="http://schemas.microsoft.com/office/drawing/2014/main" id="{861F5A56-EB98-55AC-7305-ADD7435627E9}"/>
                    </a:ext>
                  </a:extLst>
                </p:cNvPr>
                <p:cNvGrpSpPr/>
                <p:nvPr/>
              </p:nvGrpSpPr>
              <p:grpSpPr>
                <a:xfrm>
                  <a:off x="8670304" y="4537592"/>
                  <a:ext cx="230118" cy="331211"/>
                  <a:chOff x="6808261" y="3616302"/>
                  <a:chExt cx="230118" cy="331211"/>
                </a:xfrm>
              </p:grpSpPr>
              <p:sp>
                <p:nvSpPr>
                  <p:cNvPr id="107" name="矩形 106">
                    <a:extLst>
                      <a:ext uri="{FF2B5EF4-FFF2-40B4-BE49-F238E27FC236}">
                        <a16:creationId xmlns:a16="http://schemas.microsoft.com/office/drawing/2014/main" id="{B872C129-99D4-2EA3-A217-8B20177D1EB4}"/>
                      </a:ext>
                    </a:extLst>
                  </p:cNvPr>
                  <p:cNvSpPr/>
                  <p:nvPr/>
                </p:nvSpPr>
                <p:spPr>
                  <a:xfrm>
                    <a:off x="6808261" y="3616302"/>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8" name="等腰三角形 107">
                    <a:extLst>
                      <a:ext uri="{FF2B5EF4-FFF2-40B4-BE49-F238E27FC236}">
                        <a16:creationId xmlns:a16="http://schemas.microsoft.com/office/drawing/2014/main" id="{A0291759-7A96-1CA6-10ED-C91AD530C873}"/>
                      </a:ext>
                    </a:extLst>
                  </p:cNvPr>
                  <p:cNvSpPr/>
                  <p:nvPr/>
                </p:nvSpPr>
                <p:spPr>
                  <a:xfrm rot="5400000">
                    <a:off x="6792644" y="3685571"/>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75" name="直接箭头连接符 74">
                  <a:extLst>
                    <a:ext uri="{FF2B5EF4-FFF2-40B4-BE49-F238E27FC236}">
                      <a16:creationId xmlns:a16="http://schemas.microsoft.com/office/drawing/2014/main" id="{54CE489C-36B8-F937-008D-3D5AA0DAA724}"/>
                    </a:ext>
                  </a:extLst>
                </p:cNvPr>
                <p:cNvCxnSpPr>
                  <a:cxnSpLocks/>
                  <a:endCxn id="108" idx="3"/>
                </p:cNvCxnSpPr>
                <p:nvPr/>
              </p:nvCxnSpPr>
              <p:spPr>
                <a:xfrm>
                  <a:off x="7190779" y="4661665"/>
                  <a:ext cx="1479525" cy="0"/>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23B1C583-0F44-E038-8CB0-7B03606860F9}"/>
                    </a:ext>
                  </a:extLst>
                </p:cNvPr>
                <p:cNvCxnSpPr>
                  <a:cxnSpLocks/>
                </p:cNvCxnSpPr>
                <p:nvPr/>
              </p:nvCxnSpPr>
              <p:spPr>
                <a:xfrm flipV="1">
                  <a:off x="9076457" y="4703198"/>
                  <a:ext cx="0" cy="682046"/>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39404D6F-0D11-D2E6-4347-02FB59C06A2B}"/>
                    </a:ext>
                  </a:extLst>
                </p:cNvPr>
                <p:cNvCxnSpPr>
                  <a:cxnSpLocks/>
                  <a:endCxn id="107" idx="3"/>
                </p:cNvCxnSpPr>
                <p:nvPr/>
              </p:nvCxnSpPr>
              <p:spPr>
                <a:xfrm flipH="1">
                  <a:off x="8900422" y="4703198"/>
                  <a:ext cx="176035" cy="0"/>
                </a:xfrm>
                <a:prstGeom prst="straightConnector1">
                  <a:avLst/>
                </a:prstGeom>
                <a:ln w="9525">
                  <a:solidFill>
                    <a:schemeClr val="accent1">
                      <a:lumMod val="50000"/>
                    </a:schemeClr>
                  </a:solidFill>
                  <a:tailEnd type="none" w="sm" len="sm"/>
                </a:ln>
              </p:spPr>
              <p:style>
                <a:lnRef idx="1">
                  <a:schemeClr val="accent1"/>
                </a:lnRef>
                <a:fillRef idx="0">
                  <a:schemeClr val="accent1"/>
                </a:fillRef>
                <a:effectRef idx="0">
                  <a:schemeClr val="accent1"/>
                </a:effectRef>
                <a:fontRef idx="minor">
                  <a:schemeClr val="tx1"/>
                </a:fontRef>
              </p:style>
            </p:cxnSp>
            <p:grpSp>
              <p:nvGrpSpPr>
                <p:cNvPr id="81" name="组合 80">
                  <a:extLst>
                    <a:ext uri="{FF2B5EF4-FFF2-40B4-BE49-F238E27FC236}">
                      <a16:creationId xmlns:a16="http://schemas.microsoft.com/office/drawing/2014/main" id="{A43597D5-AEF8-4AC0-FE39-9A8E5CBCEC41}"/>
                    </a:ext>
                  </a:extLst>
                </p:cNvPr>
                <p:cNvGrpSpPr/>
                <p:nvPr/>
              </p:nvGrpSpPr>
              <p:grpSpPr>
                <a:xfrm>
                  <a:off x="9076457" y="4894200"/>
                  <a:ext cx="1420946" cy="1123799"/>
                  <a:chOff x="5247119" y="3406070"/>
                  <a:chExt cx="1420946" cy="1123799"/>
                </a:xfrm>
              </p:grpSpPr>
              <p:grpSp>
                <p:nvGrpSpPr>
                  <p:cNvPr id="89" name="组合 88">
                    <a:extLst>
                      <a:ext uri="{FF2B5EF4-FFF2-40B4-BE49-F238E27FC236}">
                        <a16:creationId xmlns:a16="http://schemas.microsoft.com/office/drawing/2014/main" id="{D2EEFF46-E456-C865-08DE-3AEA3DDB0E95}"/>
                      </a:ext>
                    </a:extLst>
                  </p:cNvPr>
                  <p:cNvGrpSpPr/>
                  <p:nvPr/>
                </p:nvGrpSpPr>
                <p:grpSpPr>
                  <a:xfrm>
                    <a:off x="5400844" y="3406070"/>
                    <a:ext cx="1267221" cy="1123799"/>
                    <a:chOff x="5400844" y="3406070"/>
                    <a:chExt cx="1267221" cy="1123799"/>
                  </a:xfrm>
                </p:grpSpPr>
                <p:sp>
                  <p:nvSpPr>
                    <p:cNvPr id="91" name="立方体 90">
                      <a:extLst>
                        <a:ext uri="{FF2B5EF4-FFF2-40B4-BE49-F238E27FC236}">
                          <a16:creationId xmlns:a16="http://schemas.microsoft.com/office/drawing/2014/main" id="{45E079CE-AE84-7BA2-A580-5C98BA922033}"/>
                        </a:ext>
                      </a:extLst>
                    </p:cNvPr>
                    <p:cNvSpPr/>
                    <p:nvPr/>
                  </p:nvSpPr>
                  <p:spPr>
                    <a:xfrm>
                      <a:off x="5400844" y="3406070"/>
                      <a:ext cx="1267221" cy="1123799"/>
                    </a:xfrm>
                    <a:prstGeom prst="cube">
                      <a:avLst>
                        <a:gd name="adj" fmla="val 14586"/>
                      </a:avLst>
                    </a:prstGeom>
                    <a:solidFill>
                      <a:schemeClr val="accent1">
                        <a:lumMod val="40000"/>
                        <a:lumOff val="60000"/>
                      </a:schemeClr>
                    </a:solidFill>
                    <a:ln>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800" b="1" dirty="0">
                        <a:solidFill>
                          <a:schemeClr val="tx1"/>
                        </a:solidFill>
                        <a:latin typeface="Times New Roman" panose="02020603050405020304" pitchFamily="18" charset="0"/>
                        <a:cs typeface="Times New Roman" panose="02020603050405020304" pitchFamily="18" charset="0"/>
                      </a:endParaRPr>
                    </a:p>
                  </p:txBody>
                </p:sp>
                <p:grpSp>
                  <p:nvGrpSpPr>
                    <p:cNvPr id="92" name="组合 91">
                      <a:extLst>
                        <a:ext uri="{FF2B5EF4-FFF2-40B4-BE49-F238E27FC236}">
                          <a16:creationId xmlns:a16="http://schemas.microsoft.com/office/drawing/2014/main" id="{5AA90FFC-D54C-9B36-7E8A-27EC939854FF}"/>
                        </a:ext>
                      </a:extLst>
                    </p:cNvPr>
                    <p:cNvGrpSpPr/>
                    <p:nvPr/>
                  </p:nvGrpSpPr>
                  <p:grpSpPr>
                    <a:xfrm>
                      <a:off x="5476608" y="3773476"/>
                      <a:ext cx="581817" cy="331211"/>
                      <a:chOff x="7224637" y="3388229"/>
                      <a:chExt cx="581817" cy="331211"/>
                    </a:xfrm>
                  </p:grpSpPr>
                  <p:sp>
                    <p:nvSpPr>
                      <p:cNvPr id="102" name="椭圆 101">
                        <a:extLst>
                          <a:ext uri="{FF2B5EF4-FFF2-40B4-BE49-F238E27FC236}">
                            <a16:creationId xmlns:a16="http://schemas.microsoft.com/office/drawing/2014/main" id="{857C5612-0A6B-9610-827C-173A2FA4F98B}"/>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grpSp>
                    <p:nvGrpSpPr>
                      <p:cNvPr id="103" name="组合 102">
                        <a:extLst>
                          <a:ext uri="{FF2B5EF4-FFF2-40B4-BE49-F238E27FC236}">
                            <a16:creationId xmlns:a16="http://schemas.microsoft.com/office/drawing/2014/main" id="{592BCAF4-3578-0236-0F8B-6F524E735A8A}"/>
                          </a:ext>
                        </a:extLst>
                      </p:cNvPr>
                      <p:cNvGrpSpPr/>
                      <p:nvPr/>
                    </p:nvGrpSpPr>
                    <p:grpSpPr>
                      <a:xfrm>
                        <a:off x="7576336" y="3388229"/>
                        <a:ext cx="230118" cy="331211"/>
                        <a:chOff x="7576336" y="3388229"/>
                        <a:chExt cx="230118" cy="331211"/>
                      </a:xfrm>
                    </p:grpSpPr>
                    <p:sp>
                      <p:nvSpPr>
                        <p:cNvPr id="105" name="矩形 104">
                          <a:extLst>
                            <a:ext uri="{FF2B5EF4-FFF2-40B4-BE49-F238E27FC236}">
                              <a16:creationId xmlns:a16="http://schemas.microsoft.com/office/drawing/2014/main" id="{F7E282A2-EE59-A100-DB55-08B03D83861E}"/>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6" name="等腰三角形 105">
                          <a:extLst>
                            <a:ext uri="{FF2B5EF4-FFF2-40B4-BE49-F238E27FC236}">
                              <a16:creationId xmlns:a16="http://schemas.microsoft.com/office/drawing/2014/main" id="{6F5FC31E-600B-15C0-AD94-5575DCD5EE67}"/>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104" name="直接箭头连接符 103">
                        <a:extLst>
                          <a:ext uri="{FF2B5EF4-FFF2-40B4-BE49-F238E27FC236}">
                            <a16:creationId xmlns:a16="http://schemas.microsoft.com/office/drawing/2014/main" id="{8F644C25-5EF6-3A1E-D297-21C9CAFEC39B}"/>
                          </a:ext>
                        </a:extLst>
                      </p:cNvPr>
                      <p:cNvCxnSpPr>
                        <a:cxnSpLocks/>
                        <a:endCxn id="106"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94" name="组合 93">
                      <a:extLst>
                        <a:ext uri="{FF2B5EF4-FFF2-40B4-BE49-F238E27FC236}">
                          <a16:creationId xmlns:a16="http://schemas.microsoft.com/office/drawing/2014/main" id="{C30B86C6-9A8E-B0CE-104B-E16AB0E88C68}"/>
                        </a:ext>
                      </a:extLst>
                    </p:cNvPr>
                    <p:cNvGrpSpPr/>
                    <p:nvPr/>
                  </p:nvGrpSpPr>
                  <p:grpSpPr>
                    <a:xfrm rot="5400000">
                      <a:off x="5967328" y="3939081"/>
                      <a:ext cx="581817" cy="331211"/>
                      <a:chOff x="7224637" y="3388229"/>
                      <a:chExt cx="581817" cy="331211"/>
                    </a:xfrm>
                  </p:grpSpPr>
                  <p:sp>
                    <p:nvSpPr>
                      <p:cNvPr id="96" name="椭圆 95">
                        <a:extLst>
                          <a:ext uri="{FF2B5EF4-FFF2-40B4-BE49-F238E27FC236}">
                            <a16:creationId xmlns:a16="http://schemas.microsoft.com/office/drawing/2014/main" id="{CC4FFCF5-7594-5310-7590-3A01382C22DC}"/>
                          </a:ext>
                        </a:extLst>
                      </p:cNvPr>
                      <p:cNvSpPr/>
                      <p:nvPr/>
                    </p:nvSpPr>
                    <p:spPr>
                      <a:xfrm>
                        <a:off x="7224637" y="3388230"/>
                        <a:ext cx="252000" cy="252000"/>
                      </a:xfrm>
                      <a:prstGeom prst="ellipse">
                        <a:avLst/>
                      </a:prstGeom>
                      <a:solidFill>
                        <a:schemeClr val="bg1"/>
                      </a:solidFill>
                      <a:ln w="635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latin typeface="Times New Roman" panose="02020603050405020304" pitchFamily="18" charset="0"/>
                            <a:cs typeface="Times New Roman" panose="02020603050405020304" pitchFamily="18" charset="0"/>
                          </a:rPr>
                          <a:t>＋</a:t>
                        </a:r>
                      </a:p>
                    </p:txBody>
                  </p:sp>
                  <p:grpSp>
                    <p:nvGrpSpPr>
                      <p:cNvPr id="97" name="组合 96">
                        <a:extLst>
                          <a:ext uri="{FF2B5EF4-FFF2-40B4-BE49-F238E27FC236}">
                            <a16:creationId xmlns:a16="http://schemas.microsoft.com/office/drawing/2014/main" id="{0213D523-69A6-E059-DDBC-BE17C1CBE4A7}"/>
                          </a:ext>
                        </a:extLst>
                      </p:cNvPr>
                      <p:cNvGrpSpPr/>
                      <p:nvPr/>
                    </p:nvGrpSpPr>
                    <p:grpSpPr>
                      <a:xfrm>
                        <a:off x="7576336" y="3388229"/>
                        <a:ext cx="230118" cy="331211"/>
                        <a:chOff x="7576336" y="3388229"/>
                        <a:chExt cx="230118" cy="331211"/>
                      </a:xfrm>
                    </p:grpSpPr>
                    <p:sp>
                      <p:nvSpPr>
                        <p:cNvPr id="99" name="矩形 98">
                          <a:extLst>
                            <a:ext uri="{FF2B5EF4-FFF2-40B4-BE49-F238E27FC236}">
                              <a16:creationId xmlns:a16="http://schemas.microsoft.com/office/drawing/2014/main" id="{953FA16B-EF3C-5EE3-2550-D717CD115963}"/>
                            </a:ext>
                          </a:extLst>
                        </p:cNvPr>
                        <p:cNvSpPr/>
                        <p:nvPr/>
                      </p:nvSpPr>
                      <p:spPr>
                        <a:xfrm>
                          <a:off x="7576336" y="3388229"/>
                          <a:ext cx="230118" cy="3312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0" name="等腰三角形 99">
                          <a:extLst>
                            <a:ext uri="{FF2B5EF4-FFF2-40B4-BE49-F238E27FC236}">
                              <a16:creationId xmlns:a16="http://schemas.microsoft.com/office/drawing/2014/main" id="{94AD264C-92C6-115D-DD55-D10F2E5359E6}"/>
                            </a:ext>
                          </a:extLst>
                        </p:cNvPr>
                        <p:cNvSpPr/>
                        <p:nvPr/>
                      </p:nvSpPr>
                      <p:spPr>
                        <a:xfrm rot="5400000">
                          <a:off x="7560719" y="3457498"/>
                          <a:ext cx="140842" cy="10960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cxnSp>
                    <p:nvCxnSpPr>
                      <p:cNvPr id="98" name="直接箭头连接符 97">
                        <a:extLst>
                          <a:ext uri="{FF2B5EF4-FFF2-40B4-BE49-F238E27FC236}">
                            <a16:creationId xmlns:a16="http://schemas.microsoft.com/office/drawing/2014/main" id="{6921D17E-BF08-28B1-4827-E7B623E771AA}"/>
                          </a:ext>
                        </a:extLst>
                      </p:cNvPr>
                      <p:cNvCxnSpPr>
                        <a:cxnSpLocks/>
                        <a:endCxn id="100" idx="3"/>
                      </p:cNvCxnSpPr>
                      <p:nvPr/>
                    </p:nvCxnSpPr>
                    <p:spPr>
                      <a:xfrm flipV="1">
                        <a:off x="7476637" y="3512302"/>
                        <a:ext cx="99699" cy="588"/>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95" name="直接箭头连接符 94">
                      <a:extLst>
                        <a:ext uri="{FF2B5EF4-FFF2-40B4-BE49-F238E27FC236}">
                          <a16:creationId xmlns:a16="http://schemas.microsoft.com/office/drawing/2014/main" id="{1251BABE-6C3B-6755-35B0-A6D04DA5BE11}"/>
                        </a:ext>
                      </a:extLst>
                    </p:cNvPr>
                    <p:cNvCxnSpPr>
                      <a:cxnSpLocks/>
                      <a:stCxn id="105" idx="3"/>
                      <a:endCxn id="96" idx="4"/>
                    </p:cNvCxnSpPr>
                    <p:nvPr/>
                  </p:nvCxnSpPr>
                  <p:spPr>
                    <a:xfrm>
                      <a:off x="6058425" y="3939082"/>
                      <a:ext cx="113416" cy="696"/>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cxnSp>
                <p:nvCxnSpPr>
                  <p:cNvPr id="90" name="直接箭头连接符 89">
                    <a:extLst>
                      <a:ext uri="{FF2B5EF4-FFF2-40B4-BE49-F238E27FC236}">
                        <a16:creationId xmlns:a16="http://schemas.microsoft.com/office/drawing/2014/main" id="{C0F3C98F-4AB9-96AC-DA6B-609180D9254D}"/>
                      </a:ext>
                    </a:extLst>
                  </p:cNvPr>
                  <p:cNvCxnSpPr>
                    <a:cxnSpLocks/>
                  </p:cNvCxnSpPr>
                  <p:nvPr/>
                </p:nvCxnSpPr>
                <p:spPr>
                  <a:xfrm flipV="1">
                    <a:off x="5247119" y="3897114"/>
                    <a:ext cx="229489" cy="435"/>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sp>
              <p:nvSpPr>
                <p:cNvPr id="83" name="文本框 82">
                  <a:extLst>
                    <a:ext uri="{FF2B5EF4-FFF2-40B4-BE49-F238E27FC236}">
                      <a16:creationId xmlns:a16="http://schemas.microsoft.com/office/drawing/2014/main" id="{38C40396-B2F0-36C0-AA78-2F599FEB408A}"/>
                    </a:ext>
                  </a:extLst>
                </p:cNvPr>
                <p:cNvSpPr txBox="1"/>
                <p:nvPr/>
              </p:nvSpPr>
              <p:spPr>
                <a:xfrm flipH="1">
                  <a:off x="10682231" y="4778998"/>
                  <a:ext cx="590035" cy="930460"/>
                </a:xfrm>
                <a:prstGeom prst="rect">
                  <a:avLst/>
                </a:prstGeom>
                <a:noFill/>
              </p:spPr>
              <p:txBody>
                <a:bodyPr wrap="square" rtlCol="0">
                  <a:spAutoFit/>
                </a:bodyPr>
                <a:lstStyle/>
                <a:p>
                  <a:r>
                    <a:rPr lang="en-US" altLang="zh-CN" sz="4000" b="1">
                      <a:solidFill>
                        <a:schemeClr val="accent1">
                          <a:lumMod val="50000"/>
                        </a:schemeClr>
                      </a:solidFill>
                      <a:latin typeface="Times New Roman" panose="02020603050405020304" pitchFamily="18" charset="0"/>
                      <a:cs typeface="Times New Roman" panose="02020603050405020304" pitchFamily="18" charset="0"/>
                    </a:rPr>
                    <a:t>…</a:t>
                  </a:r>
                  <a:endParaRPr lang="zh-CN" altLang="en-US" sz="4000" b="1" dirty="0">
                    <a:solidFill>
                      <a:schemeClr val="accent1">
                        <a:lumMod val="50000"/>
                      </a:schemeClr>
                    </a:solidFill>
                    <a:latin typeface="Times New Roman" panose="02020603050405020304" pitchFamily="18" charset="0"/>
                    <a:cs typeface="Times New Roman" panose="02020603050405020304" pitchFamily="18" charset="0"/>
                  </a:endParaRPr>
                </a:p>
              </p:txBody>
            </p:sp>
            <p:cxnSp>
              <p:nvCxnSpPr>
                <p:cNvPr id="85" name="直接箭头连接符 84">
                  <a:extLst>
                    <a:ext uri="{FF2B5EF4-FFF2-40B4-BE49-F238E27FC236}">
                      <a16:creationId xmlns:a16="http://schemas.microsoft.com/office/drawing/2014/main" id="{1C32A89E-3397-6A4F-AE7B-FC4925F3C564}"/>
                    </a:ext>
                  </a:extLst>
                </p:cNvPr>
                <p:cNvCxnSpPr>
                  <a:cxnSpLocks/>
                  <a:endCxn id="133" idx="2"/>
                </p:cNvCxnSpPr>
                <p:nvPr/>
              </p:nvCxnSpPr>
              <p:spPr>
                <a:xfrm>
                  <a:off x="6297841" y="4402931"/>
                  <a:ext cx="0" cy="934791"/>
                </a:xfrm>
                <a:prstGeom prst="straightConnector1">
                  <a:avLst/>
                </a:prstGeom>
                <a:ln w="9525">
                  <a:solidFill>
                    <a:schemeClr val="tx1">
                      <a:lumMod val="95000"/>
                      <a:lumOff val="5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E3628C85-9829-BAA2-3A7E-3D7FF8F70A77}"/>
                    </a:ext>
                  </a:extLst>
                </p:cNvPr>
                <p:cNvCxnSpPr>
                  <a:cxnSpLocks/>
                </p:cNvCxnSpPr>
                <p:nvPr/>
              </p:nvCxnSpPr>
              <p:spPr>
                <a:xfrm>
                  <a:off x="8238193" y="4364065"/>
                  <a:ext cx="0" cy="934791"/>
                </a:xfrm>
                <a:prstGeom prst="straightConnector1">
                  <a:avLst/>
                </a:prstGeom>
                <a:ln w="9525">
                  <a:solidFill>
                    <a:schemeClr val="tx1">
                      <a:lumMod val="95000"/>
                      <a:lumOff val="5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B326095A-2AC4-CBA1-6196-8129ADB16AEC}"/>
                    </a:ext>
                  </a:extLst>
                </p:cNvPr>
                <p:cNvCxnSpPr>
                  <a:cxnSpLocks/>
                </p:cNvCxnSpPr>
                <p:nvPr/>
              </p:nvCxnSpPr>
              <p:spPr>
                <a:xfrm>
                  <a:off x="10124143" y="4364065"/>
                  <a:ext cx="0" cy="934791"/>
                </a:xfrm>
                <a:prstGeom prst="straightConnector1">
                  <a:avLst/>
                </a:prstGeom>
                <a:ln w="9525">
                  <a:solidFill>
                    <a:schemeClr val="tx1">
                      <a:lumMod val="95000"/>
                      <a:lumOff val="5000"/>
                    </a:schemeClr>
                  </a:solidFill>
                  <a:tailEnd type="triangle" w="sm" len="sm"/>
                </a:ln>
              </p:spPr>
              <p:style>
                <a:lnRef idx="1">
                  <a:schemeClr val="accent1"/>
                </a:lnRef>
                <a:fillRef idx="0">
                  <a:schemeClr val="accent1"/>
                </a:fillRef>
                <a:effectRef idx="0">
                  <a:schemeClr val="accent1"/>
                </a:effectRef>
                <a:fontRef idx="minor">
                  <a:schemeClr val="tx1"/>
                </a:fontRef>
              </p:style>
            </p:cxnSp>
          </p:grpSp>
          <p:sp>
            <p:nvSpPr>
              <p:cNvPr id="195" name="文本框 194">
                <a:extLst>
                  <a:ext uri="{FF2B5EF4-FFF2-40B4-BE49-F238E27FC236}">
                    <a16:creationId xmlns:a16="http://schemas.microsoft.com/office/drawing/2014/main" id="{36C83855-6D27-32A4-BA2F-4C03B926C326}"/>
                  </a:ext>
                </a:extLst>
              </p:cNvPr>
              <p:cNvSpPr txBox="1"/>
              <p:nvPr/>
            </p:nvSpPr>
            <p:spPr>
              <a:xfrm rot="5400000" flipH="1">
                <a:off x="3561333" y="4835653"/>
                <a:ext cx="453284" cy="707886"/>
              </a:xfrm>
              <a:prstGeom prst="rect">
                <a:avLst/>
              </a:prstGeom>
              <a:noFill/>
            </p:spPr>
            <p:txBody>
              <a:bodyPr wrap="square" rtlCol="0">
                <a:spAutoFit/>
              </a:bodyPr>
              <a:lstStyle/>
              <a:p>
                <a:r>
                  <a:rPr lang="en-US" altLang="zh-CN" sz="4000" b="1">
                    <a:solidFill>
                      <a:schemeClr val="accent1">
                        <a:lumMod val="50000"/>
                      </a:schemeClr>
                    </a:solidFill>
                    <a:latin typeface="Times New Roman" panose="02020603050405020304" pitchFamily="18" charset="0"/>
                    <a:cs typeface="Times New Roman" panose="02020603050405020304" pitchFamily="18" charset="0"/>
                  </a:rPr>
                  <a:t>…</a:t>
                </a:r>
                <a:endParaRPr lang="zh-CN" altLang="en-US" sz="40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96" name="文本框 195">
                <a:extLst>
                  <a:ext uri="{FF2B5EF4-FFF2-40B4-BE49-F238E27FC236}">
                    <a16:creationId xmlns:a16="http://schemas.microsoft.com/office/drawing/2014/main" id="{504433CA-0200-C8F2-3478-946AD42B55E7}"/>
                  </a:ext>
                </a:extLst>
              </p:cNvPr>
              <p:cNvSpPr txBox="1"/>
              <p:nvPr/>
            </p:nvSpPr>
            <p:spPr>
              <a:xfrm rot="5400000" flipH="1">
                <a:off x="5074869" y="4804496"/>
                <a:ext cx="453284" cy="707886"/>
              </a:xfrm>
              <a:prstGeom prst="rect">
                <a:avLst/>
              </a:prstGeom>
              <a:noFill/>
            </p:spPr>
            <p:txBody>
              <a:bodyPr wrap="square" rtlCol="0">
                <a:spAutoFit/>
              </a:bodyPr>
              <a:lstStyle/>
              <a:p>
                <a:r>
                  <a:rPr lang="en-US" altLang="zh-CN" sz="4000" b="1">
                    <a:solidFill>
                      <a:schemeClr val="accent1">
                        <a:lumMod val="50000"/>
                      </a:schemeClr>
                    </a:solidFill>
                    <a:latin typeface="Times New Roman" panose="02020603050405020304" pitchFamily="18" charset="0"/>
                    <a:cs typeface="Times New Roman" panose="02020603050405020304" pitchFamily="18" charset="0"/>
                  </a:rPr>
                  <a:t>…</a:t>
                </a:r>
                <a:endParaRPr lang="zh-CN" altLang="en-US" sz="40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97" name="文本框 196">
                <a:extLst>
                  <a:ext uri="{FF2B5EF4-FFF2-40B4-BE49-F238E27FC236}">
                    <a16:creationId xmlns:a16="http://schemas.microsoft.com/office/drawing/2014/main" id="{DDFAB64D-F5BD-25D4-F9CE-47339D90332B}"/>
                  </a:ext>
                </a:extLst>
              </p:cNvPr>
              <p:cNvSpPr txBox="1"/>
              <p:nvPr/>
            </p:nvSpPr>
            <p:spPr>
              <a:xfrm rot="5400000" flipH="1">
                <a:off x="6583214" y="4791076"/>
                <a:ext cx="453284" cy="707886"/>
              </a:xfrm>
              <a:prstGeom prst="rect">
                <a:avLst/>
              </a:prstGeom>
              <a:noFill/>
            </p:spPr>
            <p:txBody>
              <a:bodyPr wrap="square" rtlCol="0">
                <a:spAutoFit/>
              </a:bodyPr>
              <a:lstStyle/>
              <a:p>
                <a:r>
                  <a:rPr lang="en-US" altLang="zh-CN" sz="4000" b="1">
                    <a:solidFill>
                      <a:schemeClr val="accent1">
                        <a:lumMod val="50000"/>
                      </a:schemeClr>
                    </a:solidFill>
                    <a:latin typeface="Times New Roman" panose="02020603050405020304" pitchFamily="18" charset="0"/>
                    <a:cs typeface="Times New Roman" panose="02020603050405020304" pitchFamily="18" charset="0"/>
                  </a:rPr>
                  <a:t>…</a:t>
                </a:r>
                <a:endParaRPr lang="zh-CN" altLang="en-US" sz="40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98" name="矩形: 圆角 197">
                <a:extLst>
                  <a:ext uri="{FF2B5EF4-FFF2-40B4-BE49-F238E27FC236}">
                    <a16:creationId xmlns:a16="http://schemas.microsoft.com/office/drawing/2014/main" id="{F3E86531-DCB8-A969-A42B-5C1307A58976}"/>
                  </a:ext>
                </a:extLst>
              </p:cNvPr>
              <p:cNvSpPr/>
              <p:nvPr/>
            </p:nvSpPr>
            <p:spPr>
              <a:xfrm>
                <a:off x="3128380" y="5583461"/>
                <a:ext cx="4644647" cy="277000"/>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accent1">
                        <a:lumMod val="50000"/>
                      </a:schemeClr>
                    </a:solidFill>
                    <a:latin typeface="Times New Roman" panose="02020603050405020304" pitchFamily="18" charset="0"/>
                    <a:cs typeface="Times New Roman" panose="02020603050405020304" pitchFamily="18" charset="0"/>
                  </a:rPr>
                  <a:t>输出同步单元</a:t>
                </a:r>
              </a:p>
            </p:txBody>
          </p:sp>
          <p:sp>
            <p:nvSpPr>
              <p:cNvPr id="199" name="文本框 198">
                <a:extLst>
                  <a:ext uri="{FF2B5EF4-FFF2-40B4-BE49-F238E27FC236}">
                    <a16:creationId xmlns:a16="http://schemas.microsoft.com/office/drawing/2014/main" id="{61B7B03E-7F08-262B-6041-2A0AC9457330}"/>
                  </a:ext>
                </a:extLst>
              </p:cNvPr>
              <p:cNvSpPr txBox="1"/>
              <p:nvPr/>
            </p:nvSpPr>
            <p:spPr>
              <a:xfrm>
                <a:off x="4064428" y="2363476"/>
                <a:ext cx="2514600" cy="307777"/>
              </a:xfrm>
              <a:prstGeom prst="rect">
                <a:avLst/>
              </a:prstGeom>
              <a:noFill/>
            </p:spPr>
            <p:txBody>
              <a:bodyPr wrap="square" rtlCol="0">
                <a:spAutoFit/>
              </a:bodyPr>
              <a:lstStyle/>
              <a:p>
                <a:pPr algn="ctr"/>
                <a:r>
                  <a:rPr lang="zh-CN" altLang="en-US" sz="1400" b="1" dirty="0">
                    <a:latin typeface="Times New Roman" panose="02020603050405020304" pitchFamily="18" charset="0"/>
                    <a:cs typeface="Times New Roman" panose="02020603050405020304" pitchFamily="18" charset="0"/>
                  </a:rPr>
                  <a:t>三维脉动卷积阵列</a:t>
                </a:r>
                <a:endParaRPr lang="en-US" altLang="zh-CN" sz="1400" b="1" dirty="0">
                  <a:latin typeface="Times New Roman" panose="02020603050405020304" pitchFamily="18" charset="0"/>
                  <a:cs typeface="Times New Roman" panose="02020603050405020304" pitchFamily="18" charset="0"/>
                </a:endParaRPr>
              </a:p>
            </p:txBody>
          </p:sp>
          <p:grpSp>
            <p:nvGrpSpPr>
              <p:cNvPr id="211" name="组合 210">
                <a:extLst>
                  <a:ext uri="{FF2B5EF4-FFF2-40B4-BE49-F238E27FC236}">
                    <a16:creationId xmlns:a16="http://schemas.microsoft.com/office/drawing/2014/main" id="{54963503-D671-ABFB-1425-192C38047A11}"/>
                  </a:ext>
                </a:extLst>
              </p:cNvPr>
              <p:cNvGrpSpPr/>
              <p:nvPr/>
            </p:nvGrpSpPr>
            <p:grpSpPr>
              <a:xfrm>
                <a:off x="3283109" y="1535152"/>
                <a:ext cx="22340" cy="2930405"/>
                <a:chOff x="3283109" y="1535152"/>
                <a:chExt cx="22340" cy="2930405"/>
              </a:xfrm>
            </p:grpSpPr>
            <p:cxnSp>
              <p:nvCxnSpPr>
                <p:cNvPr id="205" name="直接箭头连接符 204">
                  <a:extLst>
                    <a:ext uri="{FF2B5EF4-FFF2-40B4-BE49-F238E27FC236}">
                      <a16:creationId xmlns:a16="http://schemas.microsoft.com/office/drawing/2014/main" id="{4298CA46-191B-1626-AD4A-4F4E00E47755}"/>
                    </a:ext>
                  </a:extLst>
                </p:cNvPr>
                <p:cNvCxnSpPr>
                  <a:cxnSpLocks/>
                  <a:endCxn id="190" idx="0"/>
                </p:cNvCxnSpPr>
                <p:nvPr/>
              </p:nvCxnSpPr>
              <p:spPr>
                <a:xfrm>
                  <a:off x="3283109" y="1535152"/>
                  <a:ext cx="22340" cy="1771001"/>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08" name="直接箭头连接符 207">
                  <a:extLst>
                    <a:ext uri="{FF2B5EF4-FFF2-40B4-BE49-F238E27FC236}">
                      <a16:creationId xmlns:a16="http://schemas.microsoft.com/office/drawing/2014/main" id="{7FDCB5EF-87C9-8CE9-8BF0-FDD47E41D11D}"/>
                    </a:ext>
                  </a:extLst>
                </p:cNvPr>
                <p:cNvCxnSpPr>
                  <a:cxnSpLocks/>
                  <a:endCxn id="138" idx="0"/>
                </p:cNvCxnSpPr>
                <p:nvPr/>
              </p:nvCxnSpPr>
              <p:spPr>
                <a:xfrm>
                  <a:off x="3295674" y="1535152"/>
                  <a:ext cx="9775" cy="2930405"/>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212" name="组合 211">
                <a:extLst>
                  <a:ext uri="{FF2B5EF4-FFF2-40B4-BE49-F238E27FC236}">
                    <a16:creationId xmlns:a16="http://schemas.microsoft.com/office/drawing/2014/main" id="{E73C6751-A9F3-4EA9-72F0-8BC1EBFD2F42}"/>
                  </a:ext>
                </a:extLst>
              </p:cNvPr>
              <p:cNvGrpSpPr/>
              <p:nvPr/>
            </p:nvGrpSpPr>
            <p:grpSpPr>
              <a:xfrm>
                <a:off x="4773793" y="1510249"/>
                <a:ext cx="22340" cy="2930405"/>
                <a:chOff x="4550834" y="1458150"/>
                <a:chExt cx="22340" cy="2930405"/>
              </a:xfrm>
            </p:grpSpPr>
            <p:cxnSp>
              <p:nvCxnSpPr>
                <p:cNvPr id="213" name="直接箭头连接符 212">
                  <a:extLst>
                    <a:ext uri="{FF2B5EF4-FFF2-40B4-BE49-F238E27FC236}">
                      <a16:creationId xmlns:a16="http://schemas.microsoft.com/office/drawing/2014/main" id="{923B65CF-91D4-0B8A-E51A-92D64E8885AB}"/>
                    </a:ext>
                  </a:extLst>
                </p:cNvPr>
                <p:cNvCxnSpPr>
                  <a:cxnSpLocks/>
                </p:cNvCxnSpPr>
                <p:nvPr/>
              </p:nvCxnSpPr>
              <p:spPr>
                <a:xfrm>
                  <a:off x="4550834" y="1458150"/>
                  <a:ext cx="22340" cy="1771001"/>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4" name="直接箭头连接符 213">
                  <a:extLst>
                    <a:ext uri="{FF2B5EF4-FFF2-40B4-BE49-F238E27FC236}">
                      <a16:creationId xmlns:a16="http://schemas.microsoft.com/office/drawing/2014/main" id="{D7EB266A-8171-7895-C8EC-0E130950C324}"/>
                    </a:ext>
                  </a:extLst>
                </p:cNvPr>
                <p:cNvCxnSpPr>
                  <a:cxnSpLocks/>
                </p:cNvCxnSpPr>
                <p:nvPr/>
              </p:nvCxnSpPr>
              <p:spPr>
                <a:xfrm>
                  <a:off x="4563399" y="1458150"/>
                  <a:ext cx="9775" cy="2930405"/>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grpSp>
            <p:nvGrpSpPr>
              <p:cNvPr id="215" name="组合 214">
                <a:extLst>
                  <a:ext uri="{FF2B5EF4-FFF2-40B4-BE49-F238E27FC236}">
                    <a16:creationId xmlns:a16="http://schemas.microsoft.com/office/drawing/2014/main" id="{95EBFB23-D016-D43D-0C20-E363FA7186CC}"/>
                  </a:ext>
                </a:extLst>
              </p:cNvPr>
              <p:cNvGrpSpPr/>
              <p:nvPr/>
            </p:nvGrpSpPr>
            <p:grpSpPr>
              <a:xfrm>
                <a:off x="6216228" y="1494683"/>
                <a:ext cx="22340" cy="2930405"/>
                <a:chOff x="4550834" y="1458150"/>
                <a:chExt cx="22340" cy="2930405"/>
              </a:xfrm>
            </p:grpSpPr>
            <p:cxnSp>
              <p:nvCxnSpPr>
                <p:cNvPr id="216" name="直接箭头连接符 215">
                  <a:extLst>
                    <a:ext uri="{FF2B5EF4-FFF2-40B4-BE49-F238E27FC236}">
                      <a16:creationId xmlns:a16="http://schemas.microsoft.com/office/drawing/2014/main" id="{706071EC-536A-B3A1-E870-D973F3951667}"/>
                    </a:ext>
                  </a:extLst>
                </p:cNvPr>
                <p:cNvCxnSpPr>
                  <a:cxnSpLocks/>
                </p:cNvCxnSpPr>
                <p:nvPr/>
              </p:nvCxnSpPr>
              <p:spPr>
                <a:xfrm>
                  <a:off x="4550834" y="1458150"/>
                  <a:ext cx="22340" cy="1771001"/>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7" name="直接箭头连接符 216">
                  <a:extLst>
                    <a:ext uri="{FF2B5EF4-FFF2-40B4-BE49-F238E27FC236}">
                      <a16:creationId xmlns:a16="http://schemas.microsoft.com/office/drawing/2014/main" id="{C8ACABF2-DD70-560A-0E7C-853AFB1730E9}"/>
                    </a:ext>
                  </a:extLst>
                </p:cNvPr>
                <p:cNvCxnSpPr>
                  <a:cxnSpLocks/>
                </p:cNvCxnSpPr>
                <p:nvPr/>
              </p:nvCxnSpPr>
              <p:spPr>
                <a:xfrm>
                  <a:off x="4563399" y="1458150"/>
                  <a:ext cx="9775" cy="2930405"/>
                </a:xfrm>
                <a:prstGeom prst="straightConnector1">
                  <a:avLst/>
                </a:prstGeom>
                <a:ln w="9525">
                  <a:solidFill>
                    <a:schemeClr val="accent1">
                      <a:lumMod val="50000"/>
                    </a:schemeClr>
                  </a:solidFill>
                  <a:tailEnd type="triangle" w="sm" len="sm"/>
                </a:ln>
              </p:spPr>
              <p:style>
                <a:lnRef idx="1">
                  <a:schemeClr val="accent1"/>
                </a:lnRef>
                <a:fillRef idx="0">
                  <a:schemeClr val="accent1"/>
                </a:fillRef>
                <a:effectRef idx="0">
                  <a:schemeClr val="accent1"/>
                </a:effectRef>
                <a:fontRef idx="minor">
                  <a:schemeClr val="tx1"/>
                </a:fontRef>
              </p:style>
            </p:cxnSp>
          </p:grpSp>
          <p:sp>
            <p:nvSpPr>
              <p:cNvPr id="219" name="矩形: 圆角 218">
                <a:extLst>
                  <a:ext uri="{FF2B5EF4-FFF2-40B4-BE49-F238E27FC236}">
                    <a16:creationId xmlns:a16="http://schemas.microsoft.com/office/drawing/2014/main" id="{A1CF62A4-EEDA-9A4E-3357-2DE85A46AB9C}"/>
                  </a:ext>
                </a:extLst>
              </p:cNvPr>
              <p:cNvSpPr/>
              <p:nvPr/>
            </p:nvSpPr>
            <p:spPr>
              <a:xfrm>
                <a:off x="2553647" y="1491836"/>
                <a:ext cx="5495727" cy="420762"/>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Times New Roman" panose="02020603050405020304" pitchFamily="18" charset="0"/>
                    <a:cs typeface="Times New Roman" panose="02020603050405020304" pitchFamily="18" charset="0"/>
                  </a:rPr>
                  <a:t>权重管理单元</a:t>
                </a:r>
              </a:p>
            </p:txBody>
          </p:sp>
          <p:sp>
            <p:nvSpPr>
              <p:cNvPr id="221" name="矩形: 圆角 220">
                <a:extLst>
                  <a:ext uri="{FF2B5EF4-FFF2-40B4-BE49-F238E27FC236}">
                    <a16:creationId xmlns:a16="http://schemas.microsoft.com/office/drawing/2014/main" id="{E35AF2E1-7867-A660-5334-D8862692ECFF}"/>
                  </a:ext>
                </a:extLst>
              </p:cNvPr>
              <p:cNvSpPr/>
              <p:nvPr/>
            </p:nvSpPr>
            <p:spPr>
              <a:xfrm>
                <a:off x="1662990" y="2286771"/>
                <a:ext cx="519643" cy="3797361"/>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Times New Roman" panose="02020603050405020304" pitchFamily="18" charset="0"/>
                    <a:cs typeface="Times New Roman" panose="02020603050405020304" pitchFamily="18" charset="0"/>
                  </a:rPr>
                  <a:t>数据管理单元</a:t>
                </a:r>
              </a:p>
            </p:txBody>
          </p:sp>
          <p:sp>
            <p:nvSpPr>
              <p:cNvPr id="225" name="文本框 224">
                <a:extLst>
                  <a:ext uri="{FF2B5EF4-FFF2-40B4-BE49-F238E27FC236}">
                    <a16:creationId xmlns:a16="http://schemas.microsoft.com/office/drawing/2014/main" id="{551EF45B-525B-C513-DD4D-ABC086E106AB}"/>
                  </a:ext>
                </a:extLst>
              </p:cNvPr>
              <p:cNvSpPr txBox="1"/>
              <p:nvPr/>
            </p:nvSpPr>
            <p:spPr>
              <a:xfrm>
                <a:off x="2594516" y="4345724"/>
                <a:ext cx="553358" cy="276999"/>
              </a:xfrm>
              <a:prstGeom prst="rect">
                <a:avLst/>
              </a:prstGeom>
              <a:noFill/>
            </p:spPr>
            <p:txBody>
              <a:bodyPr wrap="none" rtlCol="0">
                <a:spAutoFit/>
              </a:bodyPr>
              <a:lstStyle/>
              <a:p>
                <a:pPr algn="ctr"/>
                <a:r>
                  <a:rPr lang="en-US" altLang="zh-CN" sz="1200" dirty="0">
                    <a:latin typeface="Times New Roman" panose="02020603050405020304" pitchFamily="18" charset="0"/>
                    <a:cs typeface="Times New Roman" panose="02020603050405020304" pitchFamily="18" charset="0"/>
                  </a:rPr>
                  <a:t>Data1</a:t>
                </a:r>
                <a:endParaRPr lang="zh-CN" altLang="en-US" sz="1200" dirty="0">
                  <a:latin typeface="Times New Roman" panose="02020603050405020304" pitchFamily="18" charset="0"/>
                  <a:cs typeface="Times New Roman" panose="02020603050405020304" pitchFamily="18" charset="0"/>
                </a:endParaRPr>
              </a:p>
            </p:txBody>
          </p:sp>
          <p:cxnSp>
            <p:nvCxnSpPr>
              <p:cNvPr id="228" name="直接箭头连接符 227">
                <a:extLst>
                  <a:ext uri="{FF2B5EF4-FFF2-40B4-BE49-F238E27FC236}">
                    <a16:creationId xmlns:a16="http://schemas.microsoft.com/office/drawing/2014/main" id="{765B8B79-7898-718F-FDD1-56FB7A7B8D4E}"/>
                  </a:ext>
                </a:extLst>
              </p:cNvPr>
              <p:cNvCxnSpPr>
                <a:cxnSpLocks/>
                <a:endCxn id="221" idx="1"/>
              </p:cNvCxnSpPr>
              <p:nvPr/>
            </p:nvCxnSpPr>
            <p:spPr>
              <a:xfrm>
                <a:off x="644893" y="4185452"/>
                <a:ext cx="101809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32" name="文本框 231">
                <a:extLst>
                  <a:ext uri="{FF2B5EF4-FFF2-40B4-BE49-F238E27FC236}">
                    <a16:creationId xmlns:a16="http://schemas.microsoft.com/office/drawing/2014/main" id="{A7FB586D-0DC1-1A34-F909-D7FD4F707EEC}"/>
                  </a:ext>
                </a:extLst>
              </p:cNvPr>
              <p:cNvSpPr txBox="1"/>
              <p:nvPr/>
            </p:nvSpPr>
            <p:spPr>
              <a:xfrm>
                <a:off x="641265" y="3834408"/>
                <a:ext cx="954107" cy="276999"/>
              </a:xfrm>
              <a:prstGeom prst="rect">
                <a:avLst/>
              </a:prstGeom>
              <a:noFill/>
            </p:spPr>
            <p:txBody>
              <a:bodyPr wrap="none" rtlCol="0">
                <a:spAutoFit/>
              </a:bodyPr>
              <a:lstStyle/>
              <a:p>
                <a:pPr algn="ctr"/>
                <a:r>
                  <a:rPr lang="zh-CN" altLang="en-US" sz="1200" dirty="0">
                    <a:latin typeface="Times New Roman" panose="02020603050405020304" pitchFamily="18" charset="0"/>
                    <a:cs typeface="Times New Roman" panose="02020603050405020304" pitchFamily="18" charset="0"/>
                  </a:rPr>
                  <a:t>上一层输出</a:t>
                </a:r>
              </a:p>
            </p:txBody>
          </p:sp>
          <p:sp>
            <p:nvSpPr>
              <p:cNvPr id="234" name="文本框 233">
                <a:extLst>
                  <a:ext uri="{FF2B5EF4-FFF2-40B4-BE49-F238E27FC236}">
                    <a16:creationId xmlns:a16="http://schemas.microsoft.com/office/drawing/2014/main" id="{CDC33E2F-7050-1D92-F01D-0552105203E5}"/>
                  </a:ext>
                </a:extLst>
              </p:cNvPr>
              <p:cNvSpPr txBox="1"/>
              <p:nvPr/>
            </p:nvSpPr>
            <p:spPr>
              <a:xfrm>
                <a:off x="4428165" y="6319215"/>
                <a:ext cx="800219" cy="276999"/>
              </a:xfrm>
              <a:prstGeom prst="rect">
                <a:avLst/>
              </a:prstGeom>
              <a:noFill/>
            </p:spPr>
            <p:txBody>
              <a:bodyPr wrap="none" rtlCol="0">
                <a:spAutoFit/>
              </a:bodyPr>
              <a:lstStyle/>
              <a:p>
                <a:pPr algn="ctr"/>
                <a:r>
                  <a:rPr lang="zh-CN" altLang="en-US" sz="1200" dirty="0">
                    <a:latin typeface="Times New Roman" panose="02020603050405020304" pitchFamily="18" charset="0"/>
                    <a:cs typeface="Times New Roman" panose="02020603050405020304" pitchFamily="18" charset="0"/>
                  </a:rPr>
                  <a:t>本层输出</a:t>
                </a:r>
              </a:p>
            </p:txBody>
          </p:sp>
        </p:grpSp>
      </p:grpSp>
      <p:grpSp>
        <p:nvGrpSpPr>
          <p:cNvPr id="243" name="组合 242">
            <a:extLst>
              <a:ext uri="{FF2B5EF4-FFF2-40B4-BE49-F238E27FC236}">
                <a16:creationId xmlns:a16="http://schemas.microsoft.com/office/drawing/2014/main" id="{E1150BB9-4019-3595-1FD9-BB778280CDA4}"/>
              </a:ext>
            </a:extLst>
          </p:cNvPr>
          <p:cNvGrpSpPr/>
          <p:nvPr/>
        </p:nvGrpSpPr>
        <p:grpSpPr>
          <a:xfrm>
            <a:off x="8012017" y="2083008"/>
            <a:ext cx="3841046" cy="748091"/>
            <a:chOff x="1118671" y="1518092"/>
            <a:chExt cx="4915732" cy="748091"/>
          </a:xfrm>
        </p:grpSpPr>
        <p:sp>
          <p:nvSpPr>
            <p:cNvPr id="245" name="矩形: 圆角 19">
              <a:extLst>
                <a:ext uri="{FF2B5EF4-FFF2-40B4-BE49-F238E27FC236}">
                  <a16:creationId xmlns:a16="http://schemas.microsoft.com/office/drawing/2014/main" id="{2B74E0A2-95FF-EF95-D6F6-7E83D9A36CD0}"/>
                </a:ext>
              </a:extLst>
            </p:cNvPr>
            <p:cNvSpPr/>
            <p:nvPr>
              <p:custDataLst>
                <p:tags r:id="rId7"/>
              </p:custDataLst>
            </p:nvPr>
          </p:nvSpPr>
          <p:spPr>
            <a:xfrm>
              <a:off x="1118671" y="1518092"/>
              <a:ext cx="4915730" cy="748091"/>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246" name="文本框 17">
              <a:extLst>
                <a:ext uri="{FF2B5EF4-FFF2-40B4-BE49-F238E27FC236}">
                  <a16:creationId xmlns:a16="http://schemas.microsoft.com/office/drawing/2014/main" id="{AF9E3E9C-F136-B530-59E8-75ACB77BF6A9}"/>
                </a:ext>
              </a:extLst>
            </p:cNvPr>
            <p:cNvSpPr txBox="1"/>
            <p:nvPr>
              <p:custDataLst>
                <p:tags r:id="rId8"/>
              </p:custDataLst>
            </p:nvPr>
          </p:nvSpPr>
          <p:spPr>
            <a:xfrm>
              <a:off x="1632161" y="1603036"/>
              <a:ext cx="2662966"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latin typeface="微软雅黑" panose="020B0503020204020204" pitchFamily="34" charset="-122"/>
                  <a:ea typeface="微软雅黑" panose="020B0503020204020204" pitchFamily="34" charset="-122"/>
                </a:rPr>
                <a:t>全流水线数据通路</a:t>
              </a:r>
              <a:endParaRPr lang="zh-CN" dirty="0">
                <a:latin typeface="微软雅黑" panose="020B0503020204020204" pitchFamily="34" charset="-122"/>
                <a:ea typeface="微软雅黑" panose="020B0503020204020204" pitchFamily="34" charset="-122"/>
              </a:endParaRPr>
            </a:p>
          </p:txBody>
        </p:sp>
        <p:sp>
          <p:nvSpPr>
            <p:cNvPr id="247" name="文本框 18">
              <a:extLst>
                <a:ext uri="{FF2B5EF4-FFF2-40B4-BE49-F238E27FC236}">
                  <a16:creationId xmlns:a16="http://schemas.microsoft.com/office/drawing/2014/main" id="{BC030122-2E9A-D5AF-C3B1-1414D68B199A}"/>
                </a:ext>
              </a:extLst>
            </p:cNvPr>
            <p:cNvSpPr txBox="1"/>
            <p:nvPr>
              <p:custDataLst>
                <p:tags r:id="rId9"/>
              </p:custDataLst>
            </p:nvPr>
          </p:nvSpPr>
          <p:spPr>
            <a:xfrm>
              <a:off x="1370673" y="1929488"/>
              <a:ext cx="4663730" cy="336695"/>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latin typeface="微软雅黑" panose="020B0503020204020204" pitchFamily="34" charset="-122"/>
                  <a:ea typeface="微软雅黑" panose="020B0503020204020204" pitchFamily="34" charset="-122"/>
                </a:rPr>
                <a:t>超高并行度和吞吐量</a:t>
              </a:r>
            </a:p>
          </p:txBody>
        </p:sp>
        <p:sp>
          <p:nvSpPr>
            <p:cNvPr id="248" name="椭圆 14">
              <a:extLst>
                <a:ext uri="{FF2B5EF4-FFF2-40B4-BE49-F238E27FC236}">
                  <a16:creationId xmlns:a16="http://schemas.microsoft.com/office/drawing/2014/main" id="{F55AFE85-689A-2B15-031D-EE00BC43E9A6}"/>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grpSp>
        <p:nvGrpSpPr>
          <p:cNvPr id="249" name="组合 248">
            <a:extLst>
              <a:ext uri="{FF2B5EF4-FFF2-40B4-BE49-F238E27FC236}">
                <a16:creationId xmlns:a16="http://schemas.microsoft.com/office/drawing/2014/main" id="{7857F26C-E113-F4A4-5256-2EAC737D867B}"/>
              </a:ext>
            </a:extLst>
          </p:cNvPr>
          <p:cNvGrpSpPr/>
          <p:nvPr/>
        </p:nvGrpSpPr>
        <p:grpSpPr>
          <a:xfrm>
            <a:off x="8012018" y="2960861"/>
            <a:ext cx="3841045" cy="1103016"/>
            <a:chOff x="1118671" y="1518094"/>
            <a:chExt cx="4915731" cy="1103016"/>
          </a:xfrm>
        </p:grpSpPr>
        <p:sp>
          <p:nvSpPr>
            <p:cNvPr id="250" name="矩形: 圆角 19">
              <a:extLst>
                <a:ext uri="{FF2B5EF4-FFF2-40B4-BE49-F238E27FC236}">
                  <a16:creationId xmlns:a16="http://schemas.microsoft.com/office/drawing/2014/main" id="{75C87B6A-B1B9-B13E-218E-E58CC954A996}"/>
                </a:ext>
              </a:extLst>
            </p:cNvPr>
            <p:cNvSpPr/>
            <p:nvPr>
              <p:custDataLst>
                <p:tags r:id="rId4"/>
              </p:custDataLst>
            </p:nvPr>
          </p:nvSpPr>
          <p:spPr>
            <a:xfrm>
              <a:off x="1118671" y="1518094"/>
              <a:ext cx="4915731" cy="1103016"/>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251" name="文本框 17">
              <a:extLst>
                <a:ext uri="{FF2B5EF4-FFF2-40B4-BE49-F238E27FC236}">
                  <a16:creationId xmlns:a16="http://schemas.microsoft.com/office/drawing/2014/main" id="{5329F42C-A47A-3747-3946-ED4620E1D435}"/>
                </a:ext>
              </a:extLst>
            </p:cNvPr>
            <p:cNvSpPr txBox="1"/>
            <p:nvPr>
              <p:custDataLst>
                <p:tags r:id="rId5"/>
              </p:custDataLst>
            </p:nvPr>
          </p:nvSpPr>
          <p:spPr>
            <a:xfrm>
              <a:off x="1632161" y="1603036"/>
              <a:ext cx="2662967"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latin typeface="微软雅黑" panose="020B0503020204020204" pitchFamily="34" charset="-122"/>
                  <a:ea typeface="微软雅黑" panose="020B0503020204020204" pitchFamily="34" charset="-122"/>
                </a:rPr>
                <a:t>拓扑结构优秀</a:t>
              </a:r>
              <a:endParaRPr lang="zh-CN" dirty="0">
                <a:latin typeface="微软雅黑" panose="020B0503020204020204" pitchFamily="34" charset="-122"/>
                <a:ea typeface="微软雅黑" panose="020B0503020204020204" pitchFamily="34" charset="-122"/>
              </a:endParaRPr>
            </a:p>
          </p:txBody>
        </p:sp>
        <p:sp>
          <p:nvSpPr>
            <p:cNvPr id="252" name="文本框 18">
              <a:extLst>
                <a:ext uri="{FF2B5EF4-FFF2-40B4-BE49-F238E27FC236}">
                  <a16:creationId xmlns:a16="http://schemas.microsoft.com/office/drawing/2014/main" id="{FC6A376D-A32A-99BB-43E3-A552BEF36237}"/>
                </a:ext>
              </a:extLst>
            </p:cNvPr>
            <p:cNvSpPr txBox="1"/>
            <p:nvPr>
              <p:custDataLst>
                <p:tags r:id="rId6"/>
              </p:custDataLst>
            </p:nvPr>
          </p:nvSpPr>
          <p:spPr>
            <a:xfrm>
              <a:off x="1370672" y="1975227"/>
              <a:ext cx="4663730" cy="61369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latin typeface="微软雅黑" panose="020B0503020204020204" pitchFamily="34" charset="-122"/>
                  <a:ea typeface="微软雅黑" panose="020B0503020204020204" pitchFamily="34" charset="-122"/>
                </a:rPr>
                <a:t>每个计算单元仅通过寄存器与周围的几个计算单元直接相连，结构规整，重复度高，减少布线拥塞。</a:t>
              </a:r>
            </a:p>
          </p:txBody>
        </p:sp>
        <p:sp>
          <p:nvSpPr>
            <p:cNvPr id="253" name="椭圆 14">
              <a:extLst>
                <a:ext uri="{FF2B5EF4-FFF2-40B4-BE49-F238E27FC236}">
                  <a16:creationId xmlns:a16="http://schemas.microsoft.com/office/drawing/2014/main" id="{4B2A932F-E8D4-8F16-C7C0-EA178D531058}"/>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grpSp>
        <p:nvGrpSpPr>
          <p:cNvPr id="254" name="组合 253">
            <a:extLst>
              <a:ext uri="{FF2B5EF4-FFF2-40B4-BE49-F238E27FC236}">
                <a16:creationId xmlns:a16="http://schemas.microsoft.com/office/drawing/2014/main" id="{1E50E9C6-6CA2-59DC-3322-C2B5CFC14F92}"/>
              </a:ext>
            </a:extLst>
          </p:cNvPr>
          <p:cNvGrpSpPr/>
          <p:nvPr/>
        </p:nvGrpSpPr>
        <p:grpSpPr>
          <a:xfrm>
            <a:off x="8012018" y="4194129"/>
            <a:ext cx="3841045" cy="1103016"/>
            <a:chOff x="1118671" y="1518094"/>
            <a:chExt cx="4915731" cy="1103016"/>
          </a:xfrm>
        </p:grpSpPr>
        <p:sp>
          <p:nvSpPr>
            <p:cNvPr id="255" name="矩形: 圆角 19">
              <a:extLst>
                <a:ext uri="{FF2B5EF4-FFF2-40B4-BE49-F238E27FC236}">
                  <a16:creationId xmlns:a16="http://schemas.microsoft.com/office/drawing/2014/main" id="{D0185793-1000-0ABB-6BE5-1AF781D171CA}"/>
                </a:ext>
              </a:extLst>
            </p:cNvPr>
            <p:cNvSpPr/>
            <p:nvPr>
              <p:custDataLst>
                <p:tags r:id="rId1"/>
              </p:custDataLst>
            </p:nvPr>
          </p:nvSpPr>
          <p:spPr>
            <a:xfrm>
              <a:off x="1118671" y="1518094"/>
              <a:ext cx="4915731" cy="1103016"/>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256" name="文本框 17">
              <a:extLst>
                <a:ext uri="{FF2B5EF4-FFF2-40B4-BE49-F238E27FC236}">
                  <a16:creationId xmlns:a16="http://schemas.microsoft.com/office/drawing/2014/main" id="{33775AFC-5595-2E73-7F82-2C91F77FCDAF}"/>
                </a:ext>
              </a:extLst>
            </p:cNvPr>
            <p:cNvSpPr txBox="1"/>
            <p:nvPr>
              <p:custDataLst>
                <p:tags r:id="rId2"/>
              </p:custDataLst>
            </p:nvPr>
          </p:nvSpPr>
          <p:spPr>
            <a:xfrm>
              <a:off x="1632159" y="1603036"/>
              <a:ext cx="3504291"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latin typeface="微软雅黑" panose="020B0503020204020204" pitchFamily="34" charset="-122"/>
                  <a:ea typeface="微软雅黑" panose="020B0503020204020204" pitchFamily="34" charset="-122"/>
                </a:rPr>
                <a:t>纯</a:t>
              </a:r>
              <a:r>
                <a:rPr lang="en-US" altLang="zh-CN" dirty="0">
                  <a:latin typeface="微软雅黑" panose="020B0503020204020204" pitchFamily="34" charset="-122"/>
                  <a:ea typeface="微软雅黑" panose="020B0503020204020204" pitchFamily="34" charset="-122"/>
                </a:rPr>
                <a:t>Verilog</a:t>
              </a:r>
              <a:r>
                <a:rPr lang="zh-CN" altLang="en-US" dirty="0">
                  <a:latin typeface="微软雅黑" panose="020B0503020204020204" pitchFamily="34" charset="-122"/>
                  <a:ea typeface="微软雅黑" panose="020B0503020204020204" pitchFamily="34" charset="-122"/>
                </a:rPr>
                <a:t>实现</a:t>
              </a:r>
              <a:endParaRPr lang="zh-CN" dirty="0">
                <a:latin typeface="微软雅黑" panose="020B0503020204020204" pitchFamily="34" charset="-122"/>
                <a:ea typeface="微软雅黑" panose="020B0503020204020204" pitchFamily="34" charset="-122"/>
              </a:endParaRPr>
            </a:p>
          </p:txBody>
        </p:sp>
        <p:sp>
          <p:nvSpPr>
            <p:cNvPr id="257" name="文本框 18">
              <a:extLst>
                <a:ext uri="{FF2B5EF4-FFF2-40B4-BE49-F238E27FC236}">
                  <a16:creationId xmlns:a16="http://schemas.microsoft.com/office/drawing/2014/main" id="{E26F1D58-41F7-0B2D-31AA-02C003E8A0A8}"/>
                </a:ext>
              </a:extLst>
            </p:cNvPr>
            <p:cNvSpPr txBox="1"/>
            <p:nvPr>
              <p:custDataLst>
                <p:tags r:id="rId3"/>
              </p:custDataLst>
            </p:nvPr>
          </p:nvSpPr>
          <p:spPr>
            <a:xfrm>
              <a:off x="1370672" y="1975227"/>
              <a:ext cx="4663730" cy="61369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latin typeface="微软雅黑" panose="020B0503020204020204" pitchFamily="34" charset="-122"/>
                  <a:ea typeface="微软雅黑" panose="020B0503020204020204" pitchFamily="34" charset="-122"/>
                </a:rPr>
                <a:t>精确到寄存器的设计方式，结合可配置的计算阵列规模，匹配不同的开发板资源，提高资源利用率。</a:t>
              </a:r>
              <a:endParaRPr sz="1200" dirty="0">
                <a:solidFill>
                  <a:schemeClr val="tx2"/>
                </a:solidFill>
                <a:latin typeface="微软雅黑" panose="020B0503020204020204" pitchFamily="34" charset="-122"/>
                <a:ea typeface="微软雅黑" panose="020B0503020204020204" pitchFamily="34" charset="-122"/>
              </a:endParaRPr>
            </a:p>
          </p:txBody>
        </p:sp>
        <p:sp>
          <p:nvSpPr>
            <p:cNvPr id="258" name="椭圆 14">
              <a:extLst>
                <a:ext uri="{FF2B5EF4-FFF2-40B4-BE49-F238E27FC236}">
                  <a16:creationId xmlns:a16="http://schemas.microsoft.com/office/drawing/2014/main" id="{1CA97611-CEEA-33A9-00F0-EB2352389E30}"/>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spTree>
    <p:extLst>
      <p:ext uri="{BB962C8B-B14F-4D97-AF65-F5344CB8AC3E}">
        <p14:creationId xmlns:p14="http://schemas.microsoft.com/office/powerpoint/2010/main" val="13490666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B1C30-F4DF-8372-DF01-4AF2DF18815C}"/>
            </a:ext>
          </a:extLst>
        </p:cNvPr>
        <p:cNvGrpSpPr/>
        <p:nvPr/>
      </p:nvGrpSpPr>
      <p:grpSpPr>
        <a:xfrm>
          <a:off x="0" y="0"/>
          <a:ext cx="0" cy="0"/>
          <a:chOff x="0" y="0"/>
          <a:chExt cx="0" cy="0"/>
        </a:xfrm>
      </p:grpSpPr>
      <p:grpSp>
        <p:nvGrpSpPr>
          <p:cNvPr id="243" name="组合 242">
            <a:extLst>
              <a:ext uri="{FF2B5EF4-FFF2-40B4-BE49-F238E27FC236}">
                <a16:creationId xmlns:a16="http://schemas.microsoft.com/office/drawing/2014/main" id="{A034D60D-9E6E-4028-5B06-8C677E2837BB}"/>
              </a:ext>
            </a:extLst>
          </p:cNvPr>
          <p:cNvGrpSpPr/>
          <p:nvPr/>
        </p:nvGrpSpPr>
        <p:grpSpPr>
          <a:xfrm>
            <a:off x="452542" y="2649316"/>
            <a:ext cx="4921561" cy="1194493"/>
            <a:chOff x="1118671" y="1518093"/>
            <a:chExt cx="4915731" cy="1194493"/>
          </a:xfrm>
        </p:grpSpPr>
        <p:sp>
          <p:nvSpPr>
            <p:cNvPr id="245" name="矩形: 圆角 19">
              <a:extLst>
                <a:ext uri="{FF2B5EF4-FFF2-40B4-BE49-F238E27FC236}">
                  <a16:creationId xmlns:a16="http://schemas.microsoft.com/office/drawing/2014/main" id="{BCE27838-331B-863D-FF91-5F5C2C607274}"/>
                </a:ext>
              </a:extLst>
            </p:cNvPr>
            <p:cNvSpPr/>
            <p:nvPr>
              <p:custDataLst>
                <p:tags r:id="rId10"/>
              </p:custDataLst>
            </p:nvPr>
          </p:nvSpPr>
          <p:spPr>
            <a:xfrm>
              <a:off x="1118671" y="1518093"/>
              <a:ext cx="4915731" cy="1194493"/>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246" name="文本框 17">
              <a:extLst>
                <a:ext uri="{FF2B5EF4-FFF2-40B4-BE49-F238E27FC236}">
                  <a16:creationId xmlns:a16="http://schemas.microsoft.com/office/drawing/2014/main" id="{61D2D0B3-EC8C-CBAA-57C0-3D0B9C4C2219}"/>
                </a:ext>
              </a:extLst>
            </p:cNvPr>
            <p:cNvSpPr txBox="1"/>
            <p:nvPr>
              <p:custDataLst>
                <p:tags r:id="rId11"/>
              </p:custDataLst>
            </p:nvPr>
          </p:nvSpPr>
          <p:spPr>
            <a:xfrm>
              <a:off x="1632159" y="1603036"/>
              <a:ext cx="4402241"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latin typeface="微软雅黑" panose="020B0503020204020204" pitchFamily="34" charset="-122"/>
                  <a:ea typeface="微软雅黑" panose="020B0503020204020204" pitchFamily="34" charset="-122"/>
                </a:rPr>
                <a:t>动态配置每层计算阵列的规模</a:t>
              </a:r>
              <a:endParaRPr lang="zh-CN" dirty="0">
                <a:latin typeface="微软雅黑" panose="020B0503020204020204" pitchFamily="34" charset="-122"/>
                <a:ea typeface="微软雅黑" panose="020B0503020204020204" pitchFamily="34" charset="-122"/>
              </a:endParaRPr>
            </a:p>
          </p:txBody>
        </p:sp>
        <p:sp>
          <p:nvSpPr>
            <p:cNvPr id="247" name="文本框 18">
              <a:extLst>
                <a:ext uri="{FF2B5EF4-FFF2-40B4-BE49-F238E27FC236}">
                  <a16:creationId xmlns:a16="http://schemas.microsoft.com/office/drawing/2014/main" id="{F818CA91-2C90-FB7E-C9EA-6D08F1E6FFEB}"/>
                </a:ext>
              </a:extLst>
            </p:cNvPr>
            <p:cNvSpPr txBox="1"/>
            <p:nvPr>
              <p:custDataLst>
                <p:tags r:id="rId12"/>
              </p:custDataLst>
            </p:nvPr>
          </p:nvSpPr>
          <p:spPr>
            <a:xfrm>
              <a:off x="1370672" y="1975227"/>
              <a:ext cx="4663730" cy="61369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latin typeface="微软雅黑" panose="020B0503020204020204" pitchFamily="34" charset="-122"/>
                  <a:ea typeface="微软雅黑" panose="020B0503020204020204" pitchFamily="34" charset="-122"/>
                </a:rPr>
                <a:t>动态设计每层的规模（列数、页数），以匹配不同的计算量，使得每一层具有相同的计算周期，相同的吞吐量，克服“木桶效应”。</a:t>
              </a:r>
              <a:endParaRPr sz="1200" dirty="0">
                <a:solidFill>
                  <a:schemeClr val="tx2"/>
                </a:solidFill>
                <a:latin typeface="微软雅黑" panose="020B0503020204020204" pitchFamily="34" charset="-122"/>
                <a:ea typeface="微软雅黑" panose="020B0503020204020204" pitchFamily="34" charset="-122"/>
              </a:endParaRPr>
            </a:p>
          </p:txBody>
        </p:sp>
        <p:sp>
          <p:nvSpPr>
            <p:cNvPr id="248" name="椭圆 14">
              <a:extLst>
                <a:ext uri="{FF2B5EF4-FFF2-40B4-BE49-F238E27FC236}">
                  <a16:creationId xmlns:a16="http://schemas.microsoft.com/office/drawing/2014/main" id="{330CA1EA-3CF9-C1CC-9665-B1E2046E7BC8}"/>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grpSp>
        <p:nvGrpSpPr>
          <p:cNvPr id="10" name="组合 9">
            <a:extLst>
              <a:ext uri="{FF2B5EF4-FFF2-40B4-BE49-F238E27FC236}">
                <a16:creationId xmlns:a16="http://schemas.microsoft.com/office/drawing/2014/main" id="{F04EE94F-4D55-AD02-4299-2877A62E0688}"/>
              </a:ext>
            </a:extLst>
          </p:cNvPr>
          <p:cNvGrpSpPr/>
          <p:nvPr/>
        </p:nvGrpSpPr>
        <p:grpSpPr>
          <a:xfrm>
            <a:off x="452542" y="4035337"/>
            <a:ext cx="4921562" cy="1067641"/>
            <a:chOff x="1118671" y="1518093"/>
            <a:chExt cx="4915731" cy="1067641"/>
          </a:xfrm>
        </p:grpSpPr>
        <p:sp>
          <p:nvSpPr>
            <p:cNvPr id="12" name="矩形: 圆角 19">
              <a:extLst>
                <a:ext uri="{FF2B5EF4-FFF2-40B4-BE49-F238E27FC236}">
                  <a16:creationId xmlns:a16="http://schemas.microsoft.com/office/drawing/2014/main" id="{EABC4ACE-8F76-9B5C-DA79-5997D758E76C}"/>
                </a:ext>
              </a:extLst>
            </p:cNvPr>
            <p:cNvSpPr/>
            <p:nvPr>
              <p:custDataLst>
                <p:tags r:id="rId7"/>
              </p:custDataLst>
            </p:nvPr>
          </p:nvSpPr>
          <p:spPr>
            <a:xfrm>
              <a:off x="1118671" y="1518093"/>
              <a:ext cx="4915731" cy="1067641"/>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13" name="文本框 17">
              <a:extLst>
                <a:ext uri="{FF2B5EF4-FFF2-40B4-BE49-F238E27FC236}">
                  <a16:creationId xmlns:a16="http://schemas.microsoft.com/office/drawing/2014/main" id="{4F5694F1-1EBE-CC67-9E70-E896E00363AD}"/>
                </a:ext>
              </a:extLst>
            </p:cNvPr>
            <p:cNvSpPr txBox="1"/>
            <p:nvPr>
              <p:custDataLst>
                <p:tags r:id="rId8"/>
              </p:custDataLst>
            </p:nvPr>
          </p:nvSpPr>
          <p:spPr>
            <a:xfrm>
              <a:off x="1632160" y="1603036"/>
              <a:ext cx="3852959"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latin typeface="微软雅黑" panose="020B0503020204020204" pitchFamily="34" charset="-122"/>
                  <a:ea typeface="微软雅黑" panose="020B0503020204020204" pitchFamily="34" charset="-122"/>
                </a:rPr>
                <a:t>行同步：时序对齐的关键</a:t>
              </a:r>
              <a:endParaRPr lang="zh-CN" dirty="0">
                <a:latin typeface="微软雅黑" panose="020B0503020204020204" pitchFamily="34" charset="-122"/>
                <a:ea typeface="微软雅黑" panose="020B0503020204020204" pitchFamily="34" charset="-122"/>
              </a:endParaRPr>
            </a:p>
          </p:txBody>
        </p:sp>
        <p:sp>
          <p:nvSpPr>
            <p:cNvPr id="14" name="文本框 18">
              <a:extLst>
                <a:ext uri="{FF2B5EF4-FFF2-40B4-BE49-F238E27FC236}">
                  <a16:creationId xmlns:a16="http://schemas.microsoft.com/office/drawing/2014/main" id="{11685742-EBD6-8659-4B4B-26944BD4CD09}"/>
                </a:ext>
              </a:extLst>
            </p:cNvPr>
            <p:cNvSpPr txBox="1"/>
            <p:nvPr>
              <p:custDataLst>
                <p:tags r:id="rId9"/>
              </p:custDataLst>
            </p:nvPr>
          </p:nvSpPr>
          <p:spPr>
            <a:xfrm>
              <a:off x="1370670" y="1941830"/>
              <a:ext cx="4663730" cy="61369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latin typeface="微软雅黑" panose="020B0503020204020204" pitchFamily="34" charset="-122"/>
                  <a:ea typeface="微软雅黑" panose="020B0503020204020204" pitchFamily="34" charset="-122"/>
                </a:rPr>
                <a:t>以行同步作为同步信号，结合行内严格相同的节拍协同同层内各模块的工作，灵活的行后沿解耦层间的运算。</a:t>
              </a:r>
              <a:endParaRPr sz="1200" dirty="0">
                <a:solidFill>
                  <a:schemeClr val="tx2"/>
                </a:solidFill>
                <a:latin typeface="微软雅黑" panose="020B0503020204020204" pitchFamily="34" charset="-122"/>
                <a:ea typeface="微软雅黑" panose="020B0503020204020204" pitchFamily="34" charset="-122"/>
              </a:endParaRPr>
            </a:p>
          </p:txBody>
        </p:sp>
        <p:sp>
          <p:nvSpPr>
            <p:cNvPr id="15" name="椭圆 14">
              <a:extLst>
                <a:ext uri="{FF2B5EF4-FFF2-40B4-BE49-F238E27FC236}">
                  <a16:creationId xmlns:a16="http://schemas.microsoft.com/office/drawing/2014/main" id="{81D4F589-218E-4627-4A66-8DC03EE1D30A}"/>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grpSp>
        <p:nvGrpSpPr>
          <p:cNvPr id="16" name="组合 15">
            <a:extLst>
              <a:ext uri="{FF2B5EF4-FFF2-40B4-BE49-F238E27FC236}">
                <a16:creationId xmlns:a16="http://schemas.microsoft.com/office/drawing/2014/main" id="{25D91DF1-D101-76B3-D2EC-E2D3227FFF3C}"/>
              </a:ext>
            </a:extLst>
          </p:cNvPr>
          <p:cNvGrpSpPr/>
          <p:nvPr/>
        </p:nvGrpSpPr>
        <p:grpSpPr>
          <a:xfrm>
            <a:off x="452542" y="5420662"/>
            <a:ext cx="4921562" cy="1067641"/>
            <a:chOff x="1118671" y="1518093"/>
            <a:chExt cx="4915731" cy="1067641"/>
          </a:xfrm>
        </p:grpSpPr>
        <p:sp>
          <p:nvSpPr>
            <p:cNvPr id="17" name="矩形: 圆角 19">
              <a:extLst>
                <a:ext uri="{FF2B5EF4-FFF2-40B4-BE49-F238E27FC236}">
                  <a16:creationId xmlns:a16="http://schemas.microsoft.com/office/drawing/2014/main" id="{8CE5DE9B-CACC-0890-6884-00EFD96E6B30}"/>
                </a:ext>
              </a:extLst>
            </p:cNvPr>
            <p:cNvSpPr/>
            <p:nvPr>
              <p:custDataLst>
                <p:tags r:id="rId4"/>
              </p:custDataLst>
            </p:nvPr>
          </p:nvSpPr>
          <p:spPr>
            <a:xfrm>
              <a:off x="1118671" y="1518093"/>
              <a:ext cx="4915731" cy="1067641"/>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18" name="文本框 17">
              <a:extLst>
                <a:ext uri="{FF2B5EF4-FFF2-40B4-BE49-F238E27FC236}">
                  <a16:creationId xmlns:a16="http://schemas.microsoft.com/office/drawing/2014/main" id="{F5791DB3-DE2E-6E24-38CD-AF06D43D14BD}"/>
                </a:ext>
              </a:extLst>
            </p:cNvPr>
            <p:cNvSpPr txBox="1"/>
            <p:nvPr>
              <p:custDataLst>
                <p:tags r:id="rId5"/>
              </p:custDataLst>
            </p:nvPr>
          </p:nvSpPr>
          <p:spPr>
            <a:xfrm>
              <a:off x="1632160" y="1603036"/>
              <a:ext cx="3562631"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en-US" altLang="zh-CN" dirty="0">
                  <a:latin typeface="微软雅黑" panose="020B0503020204020204" pitchFamily="34" charset="-122"/>
                  <a:ea typeface="微软雅黑" panose="020B0503020204020204" pitchFamily="34" charset="-122"/>
                </a:rPr>
                <a:t>YOLO</a:t>
              </a:r>
              <a:r>
                <a:rPr lang="zh-CN" altLang="en-US" dirty="0">
                  <a:latin typeface="微软雅黑" panose="020B0503020204020204" pitchFamily="34" charset="-122"/>
                  <a:ea typeface="微软雅黑" panose="020B0503020204020204" pitchFamily="34" charset="-122"/>
                </a:rPr>
                <a:t>和</a:t>
              </a:r>
              <a:r>
                <a:rPr lang="en-US" altLang="zh-CN" dirty="0" err="1">
                  <a:latin typeface="微软雅黑" panose="020B0503020204020204" pitchFamily="34" charset="-122"/>
                  <a:ea typeface="微软雅黑" panose="020B0503020204020204" pitchFamily="34" charset="-122"/>
                </a:rPr>
                <a:t>LPRNet</a:t>
              </a:r>
              <a:r>
                <a:rPr lang="zh-CN" altLang="en-US" dirty="0">
                  <a:latin typeface="微软雅黑" panose="020B0503020204020204" pitchFamily="34" charset="-122"/>
                  <a:ea typeface="微软雅黑" panose="020B0503020204020204" pitchFamily="34" charset="-122"/>
                </a:rPr>
                <a:t>的同构</a:t>
              </a:r>
              <a:endParaRPr lang="zh-CN" dirty="0">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3493363A-9F85-022D-A526-B8A0FFA29462}"/>
                </a:ext>
              </a:extLst>
            </p:cNvPr>
            <p:cNvSpPr txBox="1"/>
            <p:nvPr>
              <p:custDataLst>
                <p:tags r:id="rId6"/>
              </p:custDataLst>
            </p:nvPr>
          </p:nvSpPr>
          <p:spPr>
            <a:xfrm>
              <a:off x="1370670" y="1922872"/>
              <a:ext cx="4663730" cy="61369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zh-CN" altLang="en-US" sz="1200" dirty="0">
                  <a:solidFill>
                    <a:schemeClr val="tx2"/>
                  </a:solidFill>
                  <a:latin typeface="微软雅黑" panose="020B0503020204020204" pitchFamily="34" charset="-122"/>
                  <a:ea typeface="微软雅黑" panose="020B0503020204020204" pitchFamily="34" charset="-122"/>
                </a:rPr>
                <a:t>双网络的核心单元均为卷积层和池化层，用同样的方法实现和配置，模块化地实现，大大增加了代码的可复用性，提高设计效率。</a:t>
              </a:r>
              <a:endParaRPr sz="1200" dirty="0">
                <a:solidFill>
                  <a:schemeClr val="tx2"/>
                </a:solidFill>
                <a:latin typeface="微软雅黑" panose="020B0503020204020204" pitchFamily="34" charset="-122"/>
                <a:ea typeface="微软雅黑" panose="020B0503020204020204" pitchFamily="34" charset="-122"/>
              </a:endParaRPr>
            </a:p>
          </p:txBody>
        </p:sp>
        <p:sp>
          <p:nvSpPr>
            <p:cNvPr id="20" name="椭圆 19">
              <a:extLst>
                <a:ext uri="{FF2B5EF4-FFF2-40B4-BE49-F238E27FC236}">
                  <a16:creationId xmlns:a16="http://schemas.microsoft.com/office/drawing/2014/main" id="{9D3465DC-93B3-6A4B-3757-4AB2FD94576B}"/>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pic>
        <p:nvPicPr>
          <p:cNvPr id="29" name="图片 28">
            <a:extLst>
              <a:ext uri="{FF2B5EF4-FFF2-40B4-BE49-F238E27FC236}">
                <a16:creationId xmlns:a16="http://schemas.microsoft.com/office/drawing/2014/main" id="{B83436A0-F3DA-22C6-3228-A0A5C3CD31A4}"/>
              </a:ext>
            </a:extLst>
          </p:cNvPr>
          <p:cNvPicPr>
            <a:picLocks noChangeAspect="1"/>
          </p:cNvPicPr>
          <p:nvPr/>
        </p:nvPicPr>
        <p:blipFill>
          <a:blip r:embed="rId15">
            <a:extLst>
              <a:ext uri="{28A0092B-C50C-407E-A947-70E740481C1C}">
                <a14:useLocalDpi xmlns:a14="http://schemas.microsoft.com/office/drawing/2010/main" val="0"/>
              </a:ext>
            </a:extLst>
          </a:blip>
          <a:srcRect r="2676"/>
          <a:stretch>
            <a:fillRect/>
          </a:stretch>
        </p:blipFill>
        <p:spPr>
          <a:xfrm>
            <a:off x="6095999" y="1197697"/>
            <a:ext cx="6054254" cy="5449060"/>
          </a:xfrm>
          <a:prstGeom prst="rect">
            <a:avLst/>
          </a:prstGeom>
        </p:spPr>
      </p:pic>
      <p:grpSp>
        <p:nvGrpSpPr>
          <p:cNvPr id="30" name="组合 29">
            <a:extLst>
              <a:ext uri="{FF2B5EF4-FFF2-40B4-BE49-F238E27FC236}">
                <a16:creationId xmlns:a16="http://schemas.microsoft.com/office/drawing/2014/main" id="{0C681A0D-9C81-5B4E-1EB1-7EB33FE5E651}"/>
              </a:ext>
            </a:extLst>
          </p:cNvPr>
          <p:cNvGrpSpPr/>
          <p:nvPr/>
        </p:nvGrpSpPr>
        <p:grpSpPr>
          <a:xfrm>
            <a:off x="452540" y="1261032"/>
            <a:ext cx="4921561" cy="1194493"/>
            <a:chOff x="1118671" y="1518093"/>
            <a:chExt cx="4915731" cy="1194493"/>
          </a:xfrm>
        </p:grpSpPr>
        <p:sp>
          <p:nvSpPr>
            <p:cNvPr id="31" name="矩形: 圆角 19">
              <a:extLst>
                <a:ext uri="{FF2B5EF4-FFF2-40B4-BE49-F238E27FC236}">
                  <a16:creationId xmlns:a16="http://schemas.microsoft.com/office/drawing/2014/main" id="{0BF9DD4B-4FAF-FDE3-7F1B-3BD3356988C8}"/>
                </a:ext>
              </a:extLst>
            </p:cNvPr>
            <p:cNvSpPr/>
            <p:nvPr>
              <p:custDataLst>
                <p:tags r:id="rId1"/>
              </p:custDataLst>
            </p:nvPr>
          </p:nvSpPr>
          <p:spPr>
            <a:xfrm>
              <a:off x="1118671" y="1518093"/>
              <a:ext cx="4915731" cy="1194493"/>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32" name="文本框 17">
              <a:extLst>
                <a:ext uri="{FF2B5EF4-FFF2-40B4-BE49-F238E27FC236}">
                  <a16:creationId xmlns:a16="http://schemas.microsoft.com/office/drawing/2014/main" id="{2DDCEF74-7E63-747F-CEFD-E881468741D1}"/>
                </a:ext>
              </a:extLst>
            </p:cNvPr>
            <p:cNvSpPr txBox="1"/>
            <p:nvPr>
              <p:custDataLst>
                <p:tags r:id="rId2"/>
              </p:custDataLst>
            </p:nvPr>
          </p:nvSpPr>
          <p:spPr>
            <a:xfrm>
              <a:off x="1632159" y="1603036"/>
              <a:ext cx="4402241"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latin typeface="微软雅黑" panose="020B0503020204020204" pitchFamily="34" charset="-122"/>
                  <a:ea typeface="微软雅黑" panose="020B0503020204020204" pitchFamily="34" charset="-122"/>
                </a:rPr>
                <a:t>高度参数化的模块设计</a:t>
              </a:r>
              <a:endParaRPr lang="zh-CN" dirty="0">
                <a:latin typeface="微软雅黑" panose="020B0503020204020204" pitchFamily="34" charset="-122"/>
                <a:ea typeface="微软雅黑" panose="020B0503020204020204" pitchFamily="34" charset="-122"/>
              </a:endParaRPr>
            </a:p>
          </p:txBody>
        </p:sp>
        <p:sp>
          <p:nvSpPr>
            <p:cNvPr id="33" name="文本框 18">
              <a:extLst>
                <a:ext uri="{FF2B5EF4-FFF2-40B4-BE49-F238E27FC236}">
                  <a16:creationId xmlns:a16="http://schemas.microsoft.com/office/drawing/2014/main" id="{573CF42A-3ADB-6401-E190-AEDBC9EBB6D4}"/>
                </a:ext>
              </a:extLst>
            </p:cNvPr>
            <p:cNvSpPr txBox="1"/>
            <p:nvPr>
              <p:custDataLst>
                <p:tags r:id="rId3"/>
              </p:custDataLst>
            </p:nvPr>
          </p:nvSpPr>
          <p:spPr>
            <a:xfrm>
              <a:off x="1370672" y="1975227"/>
              <a:ext cx="4663730" cy="61369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en-US" altLang="zh-CN" sz="1200" dirty="0">
                  <a:solidFill>
                    <a:schemeClr val="tx2"/>
                  </a:solidFill>
                  <a:latin typeface="微软雅黑" panose="020B0503020204020204" pitchFamily="34" charset="-122"/>
                  <a:ea typeface="微软雅黑" panose="020B0503020204020204" pitchFamily="34" charset="-122"/>
                </a:rPr>
                <a:t>Verilog</a:t>
              </a:r>
              <a:r>
                <a:rPr lang="zh-CN" altLang="en-US" sz="1200" dirty="0">
                  <a:solidFill>
                    <a:schemeClr val="tx2"/>
                  </a:solidFill>
                  <a:latin typeface="微软雅黑" panose="020B0503020204020204" pitchFamily="34" charset="-122"/>
                  <a:ea typeface="微软雅黑" panose="020B0503020204020204" pitchFamily="34" charset="-122"/>
                </a:rPr>
                <a:t>模块高度参数化设计。用</a:t>
              </a:r>
              <a:r>
                <a:rPr lang="en-US" altLang="zh-CN" sz="1200" dirty="0">
                  <a:solidFill>
                    <a:schemeClr val="tx2"/>
                  </a:solidFill>
                  <a:latin typeface="微软雅黑" panose="020B0503020204020204" pitchFamily="34" charset="-122"/>
                  <a:ea typeface="微软雅黑" panose="020B0503020204020204" pitchFamily="34" charset="-122"/>
                </a:rPr>
                <a:t>Python</a:t>
              </a:r>
              <a:r>
                <a:rPr lang="zh-CN" altLang="en-US" sz="1200" dirty="0">
                  <a:solidFill>
                    <a:schemeClr val="tx2"/>
                  </a:solidFill>
                  <a:latin typeface="微软雅黑" panose="020B0503020204020204" pitchFamily="34" charset="-122"/>
                  <a:ea typeface="微软雅黑" panose="020B0503020204020204" pitchFamily="34" charset="-122"/>
                </a:rPr>
                <a:t>脚本实现不同层的自动化定义，并辅助完成</a:t>
              </a:r>
              <a:r>
                <a:rPr lang="en-US" altLang="zh-CN" sz="1200" dirty="0">
                  <a:solidFill>
                    <a:schemeClr val="tx2"/>
                  </a:solidFill>
                  <a:latin typeface="微软雅黑" panose="020B0503020204020204" pitchFamily="34" charset="-122"/>
                  <a:ea typeface="微软雅黑" panose="020B0503020204020204" pitchFamily="34" charset="-122"/>
                </a:rPr>
                <a:t>Verilog</a:t>
              </a:r>
              <a:r>
                <a:rPr lang="zh-CN" altLang="en-US" sz="1200" dirty="0">
                  <a:solidFill>
                    <a:schemeClr val="tx2"/>
                  </a:solidFill>
                  <a:latin typeface="微软雅黑" panose="020B0503020204020204" pitchFamily="34" charset="-122"/>
                  <a:ea typeface="微软雅黑" panose="020B0503020204020204" pitchFamily="34" charset="-122"/>
                </a:rPr>
                <a:t>功能仿真。代码可移植性强。</a:t>
              </a:r>
              <a:endParaRPr sz="1200" dirty="0">
                <a:solidFill>
                  <a:schemeClr val="tx2"/>
                </a:solidFill>
                <a:latin typeface="微软雅黑" panose="020B0503020204020204" pitchFamily="34" charset="-122"/>
                <a:ea typeface="微软雅黑" panose="020B0503020204020204" pitchFamily="34" charset="-122"/>
              </a:endParaRPr>
            </a:p>
          </p:txBody>
        </p:sp>
        <p:sp>
          <p:nvSpPr>
            <p:cNvPr id="34" name="椭圆 14">
              <a:extLst>
                <a:ext uri="{FF2B5EF4-FFF2-40B4-BE49-F238E27FC236}">
                  <a16:creationId xmlns:a16="http://schemas.microsoft.com/office/drawing/2014/main" id="{BEEAB568-98D8-BAFF-89E3-9AEE8F324085}"/>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pic>
        <p:nvPicPr>
          <p:cNvPr id="36" name="图片 35" descr="集创赛1">
            <a:extLst>
              <a:ext uri="{FF2B5EF4-FFF2-40B4-BE49-F238E27FC236}">
                <a16:creationId xmlns:a16="http://schemas.microsoft.com/office/drawing/2014/main" id="{624BB0E6-F6F9-9539-D457-24D609A3E2E1}"/>
              </a:ext>
            </a:extLst>
          </p:cNvPr>
          <p:cNvPicPr>
            <a:picLocks noChangeAspect="1"/>
          </p:cNvPicPr>
          <p:nvPr/>
        </p:nvPicPr>
        <p:blipFill>
          <a:blip r:embed="rId16"/>
          <a:stretch>
            <a:fillRect/>
          </a:stretch>
        </p:blipFill>
        <p:spPr>
          <a:xfrm>
            <a:off x="166439" y="-36448"/>
            <a:ext cx="2016000" cy="1260000"/>
          </a:xfrm>
          <a:prstGeom prst="rect">
            <a:avLst/>
          </a:prstGeom>
        </p:spPr>
      </p:pic>
      <p:grpSp>
        <p:nvGrpSpPr>
          <p:cNvPr id="37" name="组合 36">
            <a:extLst>
              <a:ext uri="{FF2B5EF4-FFF2-40B4-BE49-F238E27FC236}">
                <a16:creationId xmlns:a16="http://schemas.microsoft.com/office/drawing/2014/main" id="{90958AE9-5EE7-386A-8620-5E964BAD88BD}"/>
              </a:ext>
            </a:extLst>
          </p:cNvPr>
          <p:cNvGrpSpPr/>
          <p:nvPr/>
        </p:nvGrpSpPr>
        <p:grpSpPr>
          <a:xfrm>
            <a:off x="2457177" y="369697"/>
            <a:ext cx="7277645" cy="720000"/>
            <a:chOff x="7865168" y="237582"/>
            <a:chExt cx="4163290" cy="720000"/>
          </a:xfrm>
        </p:grpSpPr>
        <p:sp>
          <p:nvSpPr>
            <p:cNvPr id="38" name="组合 33">
              <a:extLst>
                <a:ext uri="{FF2B5EF4-FFF2-40B4-BE49-F238E27FC236}">
                  <a16:creationId xmlns:a16="http://schemas.microsoft.com/office/drawing/2014/main" id="{39EB1956-C885-D76C-222E-B96E7E3F13E9}"/>
                </a:ext>
              </a:extLst>
            </p:cNvPr>
            <p:cNvSpPr/>
            <p:nvPr/>
          </p:nvSpPr>
          <p:spPr>
            <a:xfrm>
              <a:off x="7865168" y="237582"/>
              <a:ext cx="416329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latin typeface="微软雅黑" panose="020B0503020204020204" pitchFamily="34" charset="-122"/>
                  <a:ea typeface="微软雅黑" panose="020B0503020204020204" pitchFamily="34" charset="-122"/>
                </a:rPr>
                <a:t>巧妙、精确的参数配置</a:t>
              </a:r>
              <a:endParaRPr lang="zh-CN" dirty="0">
                <a:latin typeface="微软雅黑" panose="020B0503020204020204" pitchFamily="34" charset="-122"/>
                <a:ea typeface="微软雅黑" panose="020B0503020204020204" pitchFamily="34" charset="-122"/>
              </a:endParaRPr>
            </a:p>
          </p:txBody>
        </p:sp>
        <p:sp>
          <p:nvSpPr>
            <p:cNvPr id="39" name="矩形 38">
              <a:extLst>
                <a:ext uri="{FF2B5EF4-FFF2-40B4-BE49-F238E27FC236}">
                  <a16:creationId xmlns:a16="http://schemas.microsoft.com/office/drawing/2014/main" id="{DE499A69-1C12-1EA3-6E7D-653B31B075F1}"/>
                </a:ext>
              </a:extLst>
            </p:cNvPr>
            <p:cNvSpPr/>
            <p:nvPr/>
          </p:nvSpPr>
          <p:spPr>
            <a:xfrm>
              <a:off x="9676813" y="885582"/>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947477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首页"/>
          <p:cNvPicPr>
            <a:picLocks noChangeAspect="1"/>
          </p:cNvPicPr>
          <p:nvPr/>
        </p:nvPicPr>
        <p:blipFill>
          <a:blip r:embed="rId7"/>
          <a:stretch>
            <a:fillRect/>
          </a:stretch>
        </p:blipFill>
        <p:spPr>
          <a:xfrm>
            <a:off x="0" y="0"/>
            <a:ext cx="12192000" cy="6858000"/>
          </a:xfrm>
          <a:prstGeom prst="rect">
            <a:avLst/>
          </a:prstGeom>
        </p:spPr>
      </p:pic>
      <p:sp>
        <p:nvSpPr>
          <p:cNvPr id="7" name="文本框 6"/>
          <p:cNvSpPr txBox="1"/>
          <p:nvPr>
            <p:custDataLst>
              <p:tags r:id="rId2"/>
            </p:custDataLst>
          </p:nvPr>
        </p:nvSpPr>
        <p:spPr>
          <a:xfrm>
            <a:off x="2681605" y="2880000"/>
            <a:ext cx="6828790" cy="720090"/>
          </a:xfrm>
          <a:prstGeom prst="rect">
            <a:avLst/>
          </a:prstGeom>
          <a:noFill/>
        </p:spPr>
        <p:txBody>
          <a:bodyPr wrap="square" rtlCol="0">
            <a:noAutofit/>
          </a:bodyPr>
          <a:lstStyle/>
          <a:p>
            <a:pPr algn="ctr"/>
            <a:r>
              <a:rPr lang="zh-CN" altLang="en-US" sz="4400" dirty="0">
                <a:solidFill>
                  <a:srgbClr val="142DA8"/>
                </a:solidFill>
                <a:latin typeface="微软雅黑" panose="020B0503020204020204" pitchFamily="34" charset="-122"/>
                <a:ea typeface="微软雅黑" panose="020B0503020204020204" pitchFamily="34" charset="-122"/>
              </a:rPr>
              <a:t>测试结果</a:t>
            </a:r>
          </a:p>
        </p:txBody>
      </p:sp>
      <p:sp>
        <p:nvSpPr>
          <p:cNvPr id="6" name="矩形 5"/>
          <p:cNvSpPr/>
          <p:nvPr>
            <p:custDataLst>
              <p:tags r:id="rId3"/>
            </p:custDataLst>
          </p:nvPr>
        </p:nvSpPr>
        <p:spPr>
          <a:xfrm>
            <a:off x="5646000" y="1800230"/>
            <a:ext cx="900000" cy="900000"/>
          </a:xfrm>
          <a:prstGeom prst="rect">
            <a:avLst/>
          </a:prstGeom>
          <a:solidFill>
            <a:srgbClr val="9545E5"/>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000" dirty="0">
                <a:latin typeface="微软雅黑" panose="020B0503020204020204" pitchFamily="34" charset="-122"/>
                <a:ea typeface="微软雅黑" panose="020B0503020204020204" pitchFamily="34" charset="-122"/>
              </a:rPr>
              <a:t>4</a:t>
            </a:r>
          </a:p>
        </p:txBody>
      </p:sp>
      <p:sp>
        <p:nvSpPr>
          <p:cNvPr id="3" name="文本框 2">
            <a:extLst>
              <a:ext uri="{FF2B5EF4-FFF2-40B4-BE49-F238E27FC236}">
                <a16:creationId xmlns:a16="http://schemas.microsoft.com/office/drawing/2014/main" id="{60D21839-301E-AA5C-DCFB-D0BE2332B375}"/>
              </a:ext>
            </a:extLst>
          </p:cNvPr>
          <p:cNvSpPr txBox="1"/>
          <p:nvPr>
            <p:custDataLst>
              <p:tags r:id="rId4"/>
            </p:custDataLst>
          </p:nvPr>
        </p:nvSpPr>
        <p:spPr>
          <a:xfrm>
            <a:off x="3252862" y="3779860"/>
            <a:ext cx="5686275" cy="521970"/>
          </a:xfrm>
          <a:prstGeom prst="rect">
            <a:avLst/>
          </a:prstGeom>
          <a:noFill/>
        </p:spPr>
        <p:txBody>
          <a:bodyPr wrap="square" rtlCol="0">
            <a:spAutoFit/>
          </a:bodyPr>
          <a:lstStyle/>
          <a:p>
            <a:pPr algn="ctr"/>
            <a:r>
              <a:rPr lang="en-US" altLang="zh-CN" sz="2800" dirty="0">
                <a:solidFill>
                  <a:srgbClr val="666666"/>
                </a:solidFill>
                <a:latin typeface="微软雅黑" panose="020B0503020204020204" pitchFamily="34" charset="-122"/>
                <a:ea typeface="微软雅黑" panose="020B0503020204020204" pitchFamily="34" charset="-122"/>
              </a:rPr>
              <a:t>RTL</a:t>
            </a:r>
            <a:r>
              <a:rPr lang="zh-CN" altLang="en-US" sz="2800" dirty="0">
                <a:solidFill>
                  <a:srgbClr val="666666"/>
                </a:solidFill>
                <a:latin typeface="微软雅黑" panose="020B0503020204020204" pitchFamily="34" charset="-122"/>
                <a:ea typeface="微软雅黑" panose="020B0503020204020204" pitchFamily="34" charset="-122"/>
              </a:rPr>
              <a:t>仿真、上板实测效果</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集创赛1"/>
          <p:cNvPicPr>
            <a:picLocks noChangeAspect="1"/>
          </p:cNvPicPr>
          <p:nvPr/>
        </p:nvPicPr>
        <p:blipFill>
          <a:blip r:embed="rId10"/>
          <a:stretch>
            <a:fillRect/>
          </a:stretch>
        </p:blipFill>
        <p:spPr>
          <a:xfrm>
            <a:off x="900000" y="0"/>
            <a:ext cx="2016000" cy="1260000"/>
          </a:xfrm>
          <a:prstGeom prst="rect">
            <a:avLst/>
          </a:prstGeom>
        </p:spPr>
      </p:pic>
      <p:grpSp>
        <p:nvGrpSpPr>
          <p:cNvPr id="5" name="组合 4">
            <a:extLst>
              <a:ext uri="{FF2B5EF4-FFF2-40B4-BE49-F238E27FC236}">
                <a16:creationId xmlns:a16="http://schemas.microsoft.com/office/drawing/2014/main" id="{1A41B7F2-DB31-748A-9FF0-6745CC78CD48}"/>
              </a:ext>
            </a:extLst>
          </p:cNvPr>
          <p:cNvGrpSpPr/>
          <p:nvPr/>
        </p:nvGrpSpPr>
        <p:grpSpPr>
          <a:xfrm>
            <a:off x="612886" y="1420494"/>
            <a:ext cx="5483113" cy="793829"/>
            <a:chOff x="1118671" y="1518093"/>
            <a:chExt cx="5255499" cy="793829"/>
          </a:xfrm>
        </p:grpSpPr>
        <p:sp>
          <p:nvSpPr>
            <p:cNvPr id="6" name="矩形: 圆角 19">
              <a:extLst>
                <a:ext uri="{FF2B5EF4-FFF2-40B4-BE49-F238E27FC236}">
                  <a16:creationId xmlns:a16="http://schemas.microsoft.com/office/drawing/2014/main" id="{2DD83541-645D-8220-A3E9-1A447DCB75B2}"/>
                </a:ext>
              </a:extLst>
            </p:cNvPr>
            <p:cNvSpPr/>
            <p:nvPr>
              <p:custDataLst>
                <p:tags r:id="rId5"/>
              </p:custDataLst>
            </p:nvPr>
          </p:nvSpPr>
          <p:spPr>
            <a:xfrm>
              <a:off x="1118671" y="1518093"/>
              <a:ext cx="5255499" cy="793829"/>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7" name="文本框 17">
              <a:extLst>
                <a:ext uri="{FF2B5EF4-FFF2-40B4-BE49-F238E27FC236}">
                  <a16:creationId xmlns:a16="http://schemas.microsoft.com/office/drawing/2014/main" id="{88CB239E-F271-5632-9624-9D82FD3D188F}"/>
                </a:ext>
              </a:extLst>
            </p:cNvPr>
            <p:cNvSpPr txBox="1"/>
            <p:nvPr>
              <p:custDataLst>
                <p:tags r:id="rId6"/>
              </p:custDataLst>
            </p:nvPr>
          </p:nvSpPr>
          <p:spPr>
            <a:xfrm>
              <a:off x="1632159" y="1603036"/>
              <a:ext cx="4402241"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en-US" altLang="zh-CN" dirty="0">
                  <a:latin typeface="微软雅黑" panose="020B0503020204020204" pitchFamily="34" charset="-122"/>
                  <a:ea typeface="微软雅黑" panose="020B0503020204020204" pitchFamily="34" charset="-122"/>
                </a:rPr>
                <a:t>YOLO</a:t>
              </a:r>
              <a:r>
                <a:rPr lang="zh-CN" altLang="en-US" dirty="0">
                  <a:latin typeface="微软雅黑" panose="020B0503020204020204" pitchFamily="34" charset="-122"/>
                  <a:ea typeface="微软雅黑" panose="020B0503020204020204" pitchFamily="34" charset="-122"/>
                </a:rPr>
                <a:t>（车牌定位）：</a:t>
              </a:r>
              <a:r>
                <a:rPr lang="en-US" altLang="zh-CN" dirty="0">
                  <a:latin typeface="微软雅黑" panose="020B0503020204020204" pitchFamily="34" charset="-122"/>
                  <a:ea typeface="微软雅黑" panose="020B0503020204020204" pitchFamily="34" charset="-122"/>
                </a:rPr>
                <a:t>1.14ms</a:t>
              </a:r>
              <a:endParaRPr lang="zh-CN" dirty="0">
                <a:latin typeface="微软雅黑" panose="020B0503020204020204" pitchFamily="34" charset="-122"/>
                <a:ea typeface="微软雅黑" panose="020B0503020204020204" pitchFamily="34" charset="-122"/>
              </a:endParaRPr>
            </a:p>
          </p:txBody>
        </p:sp>
        <p:sp>
          <p:nvSpPr>
            <p:cNvPr id="8" name="文本框 18">
              <a:extLst>
                <a:ext uri="{FF2B5EF4-FFF2-40B4-BE49-F238E27FC236}">
                  <a16:creationId xmlns:a16="http://schemas.microsoft.com/office/drawing/2014/main" id="{439381C7-F514-BEBB-CEEB-900FF06AE0F2}"/>
                </a:ext>
              </a:extLst>
            </p:cNvPr>
            <p:cNvSpPr txBox="1"/>
            <p:nvPr>
              <p:custDataLst>
                <p:tags r:id="rId7"/>
              </p:custDataLst>
            </p:nvPr>
          </p:nvSpPr>
          <p:spPr>
            <a:xfrm>
              <a:off x="1370672" y="1975227"/>
              <a:ext cx="5003498" cy="336695"/>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en-US" altLang="zh-CN" sz="1200" dirty="0">
                  <a:solidFill>
                    <a:schemeClr val="tx2"/>
                  </a:solidFill>
                  <a:latin typeface="微软雅黑" panose="020B0503020204020204" pitchFamily="34" charset="-122"/>
                  <a:ea typeface="微软雅黑" panose="020B0503020204020204" pitchFamily="34" charset="-122"/>
                </a:rPr>
                <a:t>100MHz</a:t>
              </a:r>
              <a:r>
                <a:rPr lang="zh-CN" altLang="en-US" sz="1200" dirty="0">
                  <a:solidFill>
                    <a:schemeClr val="tx2"/>
                  </a:solidFill>
                  <a:latin typeface="微软雅黑" panose="020B0503020204020204" pitchFamily="34" charset="-122"/>
                  <a:ea typeface="微软雅黑" panose="020B0503020204020204" pitchFamily="34" charset="-122"/>
                </a:rPr>
                <a:t>下，</a:t>
              </a:r>
              <a:r>
                <a:rPr lang="en-US" altLang="zh-CN" sz="1200" dirty="0">
                  <a:solidFill>
                    <a:schemeClr val="tx2"/>
                  </a:solidFill>
                  <a:latin typeface="微软雅黑" panose="020B0503020204020204" pitchFamily="34" charset="-122"/>
                  <a:ea typeface="微软雅黑" panose="020B0503020204020204" pitchFamily="34" charset="-122"/>
                </a:rPr>
                <a:t>YOLO</a:t>
              </a:r>
              <a:r>
                <a:rPr lang="zh-CN" altLang="en-US" sz="1200" dirty="0">
                  <a:solidFill>
                    <a:schemeClr val="tx2"/>
                  </a:solidFill>
                  <a:latin typeface="微软雅黑" panose="020B0503020204020204" pitchFamily="34" charset="-122"/>
                  <a:ea typeface="微软雅黑" panose="020B0503020204020204" pitchFamily="34" charset="-122"/>
                </a:rPr>
                <a:t>延迟约</a:t>
              </a:r>
              <a:r>
                <a:rPr lang="en-US" altLang="zh-CN" sz="1200" dirty="0">
                  <a:solidFill>
                    <a:schemeClr val="tx2"/>
                  </a:solidFill>
                  <a:latin typeface="微软雅黑" panose="020B0503020204020204" pitchFamily="34" charset="-122"/>
                  <a:ea typeface="微软雅黑" panose="020B0503020204020204" pitchFamily="34" charset="-122"/>
                </a:rPr>
                <a:t>1.7ms</a:t>
              </a:r>
              <a:r>
                <a:rPr lang="zh-CN" altLang="en-US" sz="1200" dirty="0">
                  <a:solidFill>
                    <a:schemeClr val="tx2"/>
                  </a:solidFill>
                  <a:latin typeface="微软雅黑" panose="020B0503020204020204" pitchFamily="34" charset="-122"/>
                  <a:ea typeface="微软雅黑" panose="020B0503020204020204" pitchFamily="34" charset="-122"/>
                </a:rPr>
                <a:t>，</a:t>
              </a:r>
              <a:r>
                <a:rPr lang="en-US" altLang="zh-CN" sz="1200" dirty="0">
                  <a:solidFill>
                    <a:schemeClr val="tx2"/>
                  </a:solidFill>
                  <a:latin typeface="微软雅黑" panose="020B0503020204020204" pitchFamily="34" charset="-122"/>
                  <a:ea typeface="微软雅黑" panose="020B0503020204020204" pitchFamily="34" charset="-122"/>
                </a:rPr>
                <a:t>148.5MHz</a:t>
              </a:r>
              <a:r>
                <a:rPr lang="zh-CN" altLang="en-US" sz="1200" dirty="0">
                  <a:solidFill>
                    <a:schemeClr val="tx2"/>
                  </a:solidFill>
                  <a:latin typeface="微软雅黑" panose="020B0503020204020204" pitchFamily="34" charset="-122"/>
                  <a:ea typeface="微软雅黑" panose="020B0503020204020204" pitchFamily="34" charset="-122"/>
                </a:rPr>
                <a:t>实际主频，延迟</a:t>
              </a:r>
              <a:r>
                <a:rPr lang="en-US" altLang="zh-CN" sz="1200" b="1" dirty="0">
                  <a:solidFill>
                    <a:schemeClr val="tx2"/>
                  </a:solidFill>
                  <a:latin typeface="微软雅黑" panose="020B0503020204020204" pitchFamily="34" charset="-122"/>
                  <a:ea typeface="微软雅黑" panose="020B0503020204020204" pitchFamily="34" charset="-122"/>
                </a:rPr>
                <a:t>1.14ms</a:t>
              </a:r>
              <a:r>
                <a:rPr lang="zh-CN" altLang="en-US" sz="1200" b="1" dirty="0">
                  <a:solidFill>
                    <a:schemeClr val="tx2"/>
                  </a:solidFill>
                  <a:latin typeface="微软雅黑" panose="020B0503020204020204" pitchFamily="34" charset="-122"/>
                  <a:ea typeface="微软雅黑" panose="020B0503020204020204" pitchFamily="34" charset="-122"/>
                </a:rPr>
                <a:t>。</a:t>
              </a:r>
            </a:p>
          </p:txBody>
        </p:sp>
        <p:sp>
          <p:nvSpPr>
            <p:cNvPr id="9" name="椭圆 14">
              <a:extLst>
                <a:ext uri="{FF2B5EF4-FFF2-40B4-BE49-F238E27FC236}">
                  <a16:creationId xmlns:a16="http://schemas.microsoft.com/office/drawing/2014/main" id="{CC875F71-598B-AB6E-E886-C3E00F3F836B}"/>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pic>
        <p:nvPicPr>
          <p:cNvPr id="11" name="图片 10">
            <a:extLst>
              <a:ext uri="{FF2B5EF4-FFF2-40B4-BE49-F238E27FC236}">
                <a16:creationId xmlns:a16="http://schemas.microsoft.com/office/drawing/2014/main" id="{B443BE63-171E-F5BF-93FA-403FE0039253}"/>
              </a:ext>
            </a:extLst>
          </p:cNvPr>
          <p:cNvPicPr>
            <a:picLocks noChangeAspect="1"/>
          </p:cNvPicPr>
          <p:nvPr/>
        </p:nvPicPr>
        <p:blipFill>
          <a:blip r:embed="rId11"/>
          <a:stretch>
            <a:fillRect/>
          </a:stretch>
        </p:blipFill>
        <p:spPr>
          <a:xfrm>
            <a:off x="612885" y="2487418"/>
            <a:ext cx="11104531" cy="1522762"/>
          </a:xfrm>
          <a:prstGeom prst="rect">
            <a:avLst/>
          </a:prstGeom>
        </p:spPr>
      </p:pic>
      <p:sp>
        <p:nvSpPr>
          <p:cNvPr id="13" name="矩形 12">
            <a:extLst>
              <a:ext uri="{FF2B5EF4-FFF2-40B4-BE49-F238E27FC236}">
                <a16:creationId xmlns:a16="http://schemas.microsoft.com/office/drawing/2014/main" id="{3E195816-5559-2DD9-08BD-60E38BF8F512}"/>
              </a:ext>
            </a:extLst>
          </p:cNvPr>
          <p:cNvSpPr/>
          <p:nvPr/>
        </p:nvSpPr>
        <p:spPr>
          <a:xfrm>
            <a:off x="5624026" y="1017697"/>
            <a:ext cx="943948"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1AD8F0AC-C538-9124-A440-956EEB8F10E8}"/>
              </a:ext>
            </a:extLst>
          </p:cNvPr>
          <p:cNvGrpSpPr/>
          <p:nvPr/>
        </p:nvGrpSpPr>
        <p:grpSpPr>
          <a:xfrm>
            <a:off x="2457177" y="369697"/>
            <a:ext cx="7277645" cy="720000"/>
            <a:chOff x="7865168" y="237582"/>
            <a:chExt cx="4163290" cy="720000"/>
          </a:xfrm>
        </p:grpSpPr>
        <p:sp>
          <p:nvSpPr>
            <p:cNvPr id="15" name="组合 33">
              <a:extLst>
                <a:ext uri="{FF2B5EF4-FFF2-40B4-BE49-F238E27FC236}">
                  <a16:creationId xmlns:a16="http://schemas.microsoft.com/office/drawing/2014/main" id="{476B34B8-876D-DE7F-3A0E-6AA1E08D980A}"/>
                </a:ext>
              </a:extLst>
            </p:cNvPr>
            <p:cNvSpPr/>
            <p:nvPr/>
          </p:nvSpPr>
          <p:spPr>
            <a:xfrm>
              <a:off x="7865168" y="237582"/>
              <a:ext cx="416329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latin typeface="微软雅黑" panose="020B0503020204020204" pitchFamily="34" charset="-122"/>
                  <a:ea typeface="微软雅黑" panose="020B0503020204020204" pitchFamily="34" charset="-122"/>
                </a:rPr>
                <a:t>极低的推理延迟</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Modelsim</a:t>
              </a:r>
              <a:r>
                <a:rPr lang="zh-CN" altLang="en-US" dirty="0">
                  <a:latin typeface="微软雅黑" panose="020B0503020204020204" pitchFamily="34" charset="-122"/>
                  <a:ea typeface="微软雅黑" panose="020B0503020204020204" pitchFamily="34" charset="-122"/>
                </a:rPr>
                <a:t>仿真验证</a:t>
              </a:r>
              <a:endParaRPr lang="zh-CN" dirty="0">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E6DE3191-F276-C0EE-E3D7-EEF937644F7A}"/>
                </a:ext>
              </a:extLst>
            </p:cNvPr>
            <p:cNvSpPr/>
            <p:nvPr/>
          </p:nvSpPr>
          <p:spPr>
            <a:xfrm>
              <a:off x="9676813" y="885582"/>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grpSp>
        <p:nvGrpSpPr>
          <p:cNvPr id="17" name="组合 16">
            <a:extLst>
              <a:ext uri="{FF2B5EF4-FFF2-40B4-BE49-F238E27FC236}">
                <a16:creationId xmlns:a16="http://schemas.microsoft.com/office/drawing/2014/main" id="{05BC2D73-E588-C06E-DC37-56D5E52A29A1}"/>
              </a:ext>
            </a:extLst>
          </p:cNvPr>
          <p:cNvGrpSpPr/>
          <p:nvPr/>
        </p:nvGrpSpPr>
        <p:grpSpPr>
          <a:xfrm>
            <a:off x="612887" y="4308912"/>
            <a:ext cx="5483113" cy="800661"/>
            <a:chOff x="1118671" y="1518093"/>
            <a:chExt cx="5255499" cy="800661"/>
          </a:xfrm>
        </p:grpSpPr>
        <p:sp>
          <p:nvSpPr>
            <p:cNvPr id="18" name="矩形: 圆角 19">
              <a:extLst>
                <a:ext uri="{FF2B5EF4-FFF2-40B4-BE49-F238E27FC236}">
                  <a16:creationId xmlns:a16="http://schemas.microsoft.com/office/drawing/2014/main" id="{BBF33B25-0502-320A-5BEE-9CE2CB82540D}"/>
                </a:ext>
              </a:extLst>
            </p:cNvPr>
            <p:cNvSpPr/>
            <p:nvPr>
              <p:custDataLst>
                <p:tags r:id="rId2"/>
              </p:custDataLst>
            </p:nvPr>
          </p:nvSpPr>
          <p:spPr>
            <a:xfrm>
              <a:off x="1118671" y="1518093"/>
              <a:ext cx="5255499" cy="800661"/>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19" name="文本框 17">
              <a:extLst>
                <a:ext uri="{FF2B5EF4-FFF2-40B4-BE49-F238E27FC236}">
                  <a16:creationId xmlns:a16="http://schemas.microsoft.com/office/drawing/2014/main" id="{63EBFE22-360B-79C0-1DE9-FFBAE7B14528}"/>
                </a:ext>
              </a:extLst>
            </p:cNvPr>
            <p:cNvSpPr txBox="1"/>
            <p:nvPr>
              <p:custDataLst>
                <p:tags r:id="rId3"/>
              </p:custDataLst>
            </p:nvPr>
          </p:nvSpPr>
          <p:spPr>
            <a:xfrm>
              <a:off x="1632159" y="1603036"/>
              <a:ext cx="4402241"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en-US" altLang="zh-CN" dirty="0" err="1">
                  <a:latin typeface="微软雅黑" panose="020B0503020204020204" pitchFamily="34" charset="-122"/>
                  <a:ea typeface="微软雅黑" panose="020B0503020204020204" pitchFamily="34" charset="-122"/>
                </a:rPr>
                <a:t>LPRNet</a:t>
              </a:r>
              <a:r>
                <a:rPr lang="zh-CN" altLang="en-US" dirty="0">
                  <a:latin typeface="微软雅黑" panose="020B0503020204020204" pitchFamily="34" charset="-122"/>
                  <a:ea typeface="微软雅黑" panose="020B0503020204020204" pitchFamily="34" charset="-122"/>
                </a:rPr>
                <a:t>（车牌号识别）：</a:t>
              </a:r>
              <a:r>
                <a:rPr lang="en-US" altLang="zh-CN" dirty="0">
                  <a:latin typeface="微软雅黑" panose="020B0503020204020204" pitchFamily="34" charset="-122"/>
                  <a:ea typeface="微软雅黑" panose="020B0503020204020204" pitchFamily="34" charset="-122"/>
                </a:rPr>
                <a:t>2.35ms</a:t>
              </a:r>
              <a:endParaRPr lang="zh-CN" dirty="0">
                <a:latin typeface="微软雅黑" panose="020B0503020204020204" pitchFamily="34" charset="-122"/>
                <a:ea typeface="微软雅黑" panose="020B0503020204020204" pitchFamily="34" charset="-122"/>
              </a:endParaRPr>
            </a:p>
          </p:txBody>
        </p:sp>
        <p:sp>
          <p:nvSpPr>
            <p:cNvPr id="20" name="文本框 18">
              <a:extLst>
                <a:ext uri="{FF2B5EF4-FFF2-40B4-BE49-F238E27FC236}">
                  <a16:creationId xmlns:a16="http://schemas.microsoft.com/office/drawing/2014/main" id="{6867C1F6-2037-EB38-A2C5-174F3603A929}"/>
                </a:ext>
              </a:extLst>
            </p:cNvPr>
            <p:cNvSpPr txBox="1"/>
            <p:nvPr>
              <p:custDataLst>
                <p:tags r:id="rId4"/>
              </p:custDataLst>
            </p:nvPr>
          </p:nvSpPr>
          <p:spPr>
            <a:xfrm>
              <a:off x="1370672" y="1975227"/>
              <a:ext cx="5003498" cy="336695"/>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lang="en-US" altLang="zh-CN" sz="1200" dirty="0">
                  <a:solidFill>
                    <a:schemeClr val="tx2"/>
                  </a:solidFill>
                  <a:latin typeface="微软雅黑" panose="020B0503020204020204" pitchFamily="34" charset="-122"/>
                  <a:ea typeface="微软雅黑" panose="020B0503020204020204" pitchFamily="34" charset="-122"/>
                </a:rPr>
                <a:t>100MHz</a:t>
              </a:r>
              <a:r>
                <a:rPr lang="zh-CN" altLang="en-US" sz="1200" dirty="0">
                  <a:solidFill>
                    <a:schemeClr val="tx2"/>
                  </a:solidFill>
                  <a:latin typeface="微软雅黑" panose="020B0503020204020204" pitchFamily="34" charset="-122"/>
                  <a:ea typeface="微软雅黑" panose="020B0503020204020204" pitchFamily="34" charset="-122"/>
                </a:rPr>
                <a:t>下，</a:t>
              </a:r>
              <a:r>
                <a:rPr lang="en-US" altLang="zh-CN" sz="1200" dirty="0" err="1">
                  <a:solidFill>
                    <a:schemeClr val="tx2"/>
                  </a:solidFill>
                  <a:latin typeface="微软雅黑" panose="020B0503020204020204" pitchFamily="34" charset="-122"/>
                  <a:ea typeface="微软雅黑" panose="020B0503020204020204" pitchFamily="34" charset="-122"/>
                </a:rPr>
                <a:t>LPRNet</a:t>
              </a:r>
              <a:r>
                <a:rPr lang="zh-CN" altLang="en-US" sz="1200" dirty="0">
                  <a:solidFill>
                    <a:schemeClr val="tx2"/>
                  </a:solidFill>
                  <a:latin typeface="微软雅黑" panose="020B0503020204020204" pitchFamily="34" charset="-122"/>
                  <a:ea typeface="微软雅黑" panose="020B0503020204020204" pitchFamily="34" charset="-122"/>
                </a:rPr>
                <a:t>延迟约</a:t>
              </a:r>
              <a:r>
                <a:rPr lang="en-US" altLang="zh-CN" sz="1200" dirty="0">
                  <a:solidFill>
                    <a:schemeClr val="tx2"/>
                  </a:solidFill>
                  <a:latin typeface="微软雅黑" panose="020B0503020204020204" pitchFamily="34" charset="-122"/>
                  <a:ea typeface="微软雅黑" panose="020B0503020204020204" pitchFamily="34" charset="-122"/>
                </a:rPr>
                <a:t>3.5ms</a:t>
              </a:r>
              <a:r>
                <a:rPr lang="zh-CN" altLang="en-US" sz="1200" dirty="0">
                  <a:solidFill>
                    <a:schemeClr val="tx2"/>
                  </a:solidFill>
                  <a:latin typeface="微软雅黑" panose="020B0503020204020204" pitchFamily="34" charset="-122"/>
                  <a:ea typeface="微软雅黑" panose="020B0503020204020204" pitchFamily="34" charset="-122"/>
                </a:rPr>
                <a:t>，</a:t>
              </a:r>
              <a:r>
                <a:rPr lang="en-US" altLang="zh-CN" sz="1200" dirty="0">
                  <a:solidFill>
                    <a:schemeClr val="tx2"/>
                  </a:solidFill>
                  <a:latin typeface="微软雅黑" panose="020B0503020204020204" pitchFamily="34" charset="-122"/>
                  <a:ea typeface="微软雅黑" panose="020B0503020204020204" pitchFamily="34" charset="-122"/>
                </a:rPr>
                <a:t>148.5MHz</a:t>
              </a:r>
              <a:r>
                <a:rPr lang="zh-CN" altLang="en-US" sz="1200" dirty="0">
                  <a:solidFill>
                    <a:schemeClr val="tx2"/>
                  </a:solidFill>
                  <a:latin typeface="微软雅黑" panose="020B0503020204020204" pitchFamily="34" charset="-122"/>
                  <a:ea typeface="微软雅黑" panose="020B0503020204020204" pitchFamily="34" charset="-122"/>
                </a:rPr>
                <a:t>实际主频，延迟</a:t>
              </a:r>
              <a:r>
                <a:rPr lang="en-US" altLang="zh-CN" sz="1200" b="1" dirty="0">
                  <a:solidFill>
                    <a:schemeClr val="tx2"/>
                  </a:solidFill>
                  <a:latin typeface="微软雅黑" panose="020B0503020204020204" pitchFamily="34" charset="-122"/>
                  <a:ea typeface="微软雅黑" panose="020B0503020204020204" pitchFamily="34" charset="-122"/>
                </a:rPr>
                <a:t>2.35ms</a:t>
              </a:r>
              <a:r>
                <a:rPr lang="zh-CN" altLang="en-US" sz="1200" b="1" dirty="0">
                  <a:solidFill>
                    <a:schemeClr val="tx2"/>
                  </a:solidFill>
                  <a:latin typeface="微软雅黑" panose="020B0503020204020204" pitchFamily="34" charset="-122"/>
                  <a:ea typeface="微软雅黑" panose="020B0503020204020204" pitchFamily="34" charset="-122"/>
                </a:rPr>
                <a:t>。</a:t>
              </a:r>
            </a:p>
          </p:txBody>
        </p:sp>
        <p:sp>
          <p:nvSpPr>
            <p:cNvPr id="21" name="椭圆 14">
              <a:extLst>
                <a:ext uri="{FF2B5EF4-FFF2-40B4-BE49-F238E27FC236}">
                  <a16:creationId xmlns:a16="http://schemas.microsoft.com/office/drawing/2014/main" id="{88BF5C07-3EA8-6F27-E6B5-B69D1200DF93}"/>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sp>
        <p:nvSpPr>
          <p:cNvPr id="23" name="矩形: 圆角 22">
            <a:extLst>
              <a:ext uri="{FF2B5EF4-FFF2-40B4-BE49-F238E27FC236}">
                <a16:creationId xmlns:a16="http://schemas.microsoft.com/office/drawing/2014/main" id="{255472C7-E1A0-85E0-64E5-866491017118}"/>
              </a:ext>
            </a:extLst>
          </p:cNvPr>
          <p:cNvSpPr/>
          <p:nvPr/>
        </p:nvSpPr>
        <p:spPr>
          <a:xfrm>
            <a:off x="6368811" y="1420494"/>
            <a:ext cx="5495727" cy="793829"/>
          </a:xfrm>
          <a:prstGeom prst="roundRect">
            <a:avLst/>
          </a:prstGeom>
          <a:solidFill>
            <a:schemeClr val="accent3">
              <a:lumMod val="20000"/>
              <a:lumOff val="8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Times New Roman" panose="02020603050405020304" pitchFamily="18" charset="0"/>
                <a:cs typeface="Times New Roman" panose="02020603050405020304" pitchFamily="18" charset="0"/>
              </a:rPr>
              <a:t>YOLO</a:t>
            </a:r>
            <a:r>
              <a:rPr lang="zh-CN" altLang="en-US" sz="1400" b="1" dirty="0">
                <a:solidFill>
                  <a:schemeClr val="tx1"/>
                </a:solidFill>
                <a:latin typeface="Times New Roman" panose="02020603050405020304" pitchFamily="18" charset="0"/>
                <a:cs typeface="Times New Roman" panose="02020603050405020304" pitchFamily="18" charset="0"/>
              </a:rPr>
              <a:t>推理延迟定义</a:t>
            </a:r>
            <a:r>
              <a:rPr lang="zh-CN" altLang="en-US" sz="1400" dirty="0">
                <a:solidFill>
                  <a:schemeClr val="tx1"/>
                </a:solidFill>
                <a:latin typeface="Times New Roman" panose="02020603050405020304" pitchFamily="18" charset="0"/>
                <a:cs typeface="Times New Roman" panose="02020603050405020304" pitchFamily="18" charset="0"/>
              </a:rPr>
              <a:t>：从第一个有效输入到第一个有效输出的延迟</a:t>
            </a:r>
            <a:endParaRPr lang="en-US" altLang="zh-CN" sz="1400" dirty="0">
              <a:solidFill>
                <a:schemeClr val="tx1"/>
              </a:solidFill>
              <a:latin typeface="Times New Roman" panose="02020603050405020304" pitchFamily="18" charset="0"/>
              <a:cs typeface="Times New Roman" panose="02020603050405020304" pitchFamily="18" charset="0"/>
            </a:endParaRPr>
          </a:p>
          <a:p>
            <a:pPr algn="ctr"/>
            <a:r>
              <a:rPr lang="zh-CN" altLang="en-US" sz="1400" dirty="0">
                <a:solidFill>
                  <a:schemeClr val="tx1"/>
                </a:solidFill>
                <a:latin typeface="Times New Roman" panose="02020603050405020304" pitchFamily="18" charset="0"/>
                <a:cs typeface="Times New Roman" panose="02020603050405020304" pitchFamily="18" charset="0"/>
              </a:rPr>
              <a:t>由于我们采用全流水线架构，所有像素的推理延迟基本均等</a:t>
            </a:r>
          </a:p>
        </p:txBody>
      </p:sp>
      <p:pic>
        <p:nvPicPr>
          <p:cNvPr id="24" name="图片 23">
            <a:extLst>
              <a:ext uri="{FF2B5EF4-FFF2-40B4-BE49-F238E27FC236}">
                <a16:creationId xmlns:a16="http://schemas.microsoft.com/office/drawing/2014/main" id="{FBD94383-E364-D8B4-4391-697C81021E1F}"/>
              </a:ext>
            </a:extLst>
          </p:cNvPr>
          <p:cNvPicPr>
            <a:picLocks noChangeAspect="1"/>
          </p:cNvPicPr>
          <p:nvPr/>
        </p:nvPicPr>
        <p:blipFill>
          <a:blip r:embed="rId12"/>
          <a:stretch>
            <a:fillRect/>
          </a:stretch>
        </p:blipFill>
        <p:spPr>
          <a:xfrm>
            <a:off x="6479519" y="4149725"/>
            <a:ext cx="5274310" cy="2738755"/>
          </a:xfrm>
          <a:prstGeom prst="rect">
            <a:avLst/>
          </a:prstGeom>
        </p:spPr>
      </p:pic>
      <p:sp>
        <p:nvSpPr>
          <p:cNvPr id="26" name="矩形: 圆角 25">
            <a:extLst>
              <a:ext uri="{FF2B5EF4-FFF2-40B4-BE49-F238E27FC236}">
                <a16:creationId xmlns:a16="http://schemas.microsoft.com/office/drawing/2014/main" id="{C285B646-2FA0-E885-EB20-4D5A4AE7C434}"/>
              </a:ext>
            </a:extLst>
          </p:cNvPr>
          <p:cNvSpPr/>
          <p:nvPr/>
        </p:nvSpPr>
        <p:spPr>
          <a:xfrm>
            <a:off x="612885" y="5559875"/>
            <a:ext cx="5495727" cy="793829"/>
          </a:xfrm>
          <a:prstGeom prst="roundRect">
            <a:avLst/>
          </a:prstGeom>
          <a:solidFill>
            <a:schemeClr val="accent3">
              <a:lumMod val="20000"/>
              <a:lumOff val="80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400" b="1" dirty="0" err="1">
                <a:solidFill>
                  <a:schemeClr val="tx1"/>
                </a:solidFill>
                <a:latin typeface="Times New Roman" panose="02020603050405020304" pitchFamily="18" charset="0"/>
                <a:cs typeface="Times New Roman" panose="02020603050405020304" pitchFamily="18" charset="0"/>
              </a:rPr>
              <a:t>LPRNet</a:t>
            </a:r>
            <a:r>
              <a:rPr lang="zh-CN" altLang="en-US" sz="1400" b="1" dirty="0">
                <a:solidFill>
                  <a:schemeClr val="tx1"/>
                </a:solidFill>
                <a:latin typeface="Times New Roman" panose="02020603050405020304" pitchFamily="18" charset="0"/>
                <a:cs typeface="Times New Roman" panose="02020603050405020304" pitchFamily="18" charset="0"/>
              </a:rPr>
              <a:t>推理延迟定义</a:t>
            </a:r>
            <a:r>
              <a:rPr lang="zh-CN" altLang="en-US" sz="1400" dirty="0">
                <a:solidFill>
                  <a:schemeClr val="tx1"/>
                </a:solidFill>
                <a:latin typeface="Times New Roman" panose="02020603050405020304" pitchFamily="18" charset="0"/>
                <a:cs typeface="Times New Roman" panose="02020603050405020304" pitchFamily="18" charset="0"/>
              </a:rPr>
              <a:t>：从第一个输入到完整的字符串输出延迟</a:t>
            </a:r>
            <a:endParaRPr lang="en-US" altLang="zh-CN" sz="1400" dirty="0">
              <a:solidFill>
                <a:schemeClr val="tx1"/>
              </a:solidFill>
              <a:latin typeface="Times New Roman" panose="02020603050405020304" pitchFamily="18" charset="0"/>
              <a:cs typeface="Times New Roman" panose="02020603050405020304" pitchFamily="18" charset="0"/>
            </a:endParaRPr>
          </a:p>
          <a:p>
            <a:pPr algn="ctr"/>
            <a:r>
              <a:rPr lang="zh-CN" altLang="en-US" sz="1400" dirty="0">
                <a:solidFill>
                  <a:schemeClr val="tx1"/>
                </a:solidFill>
                <a:latin typeface="Times New Roman" panose="02020603050405020304" pitchFamily="18" charset="0"/>
                <a:cs typeface="Times New Roman" panose="02020603050405020304" pitchFamily="18" charset="0"/>
              </a:rPr>
              <a:t>卷积计算同样采用全流水线架构，但逐行累加导致其与像素级流水有一定不同，须考虑</a:t>
            </a:r>
            <a:r>
              <a:rPr lang="zh-CN" altLang="en-US" sz="1400" b="1" dirty="0">
                <a:solidFill>
                  <a:schemeClr val="tx1"/>
                </a:solidFill>
                <a:latin typeface="Times New Roman" panose="02020603050405020304" pitchFamily="18" charset="0"/>
                <a:cs typeface="Times New Roman" panose="02020603050405020304" pitchFamily="18" charset="0"/>
              </a:rPr>
              <a:t>整张子图的延迟</a:t>
            </a:r>
            <a:r>
              <a:rPr lang="zh-CN" altLang="en-US" sz="1400" dirty="0">
                <a:solidFill>
                  <a:schemeClr val="tx1"/>
                </a:solidFill>
                <a:latin typeface="Times New Roman" panose="02020603050405020304" pitchFamily="18" charset="0"/>
                <a:cs typeface="Times New Roman" panose="02020603050405020304" pitchFamily="18" charset="0"/>
              </a:rPr>
              <a:t>。</a:t>
            </a:r>
          </a:p>
        </p:txBody>
      </p:sp>
      <p:cxnSp>
        <p:nvCxnSpPr>
          <p:cNvPr id="27" name="连接符: 曲线 26">
            <a:extLst>
              <a:ext uri="{FF2B5EF4-FFF2-40B4-BE49-F238E27FC236}">
                <a16:creationId xmlns:a16="http://schemas.microsoft.com/office/drawing/2014/main" id="{46B9A054-A72A-109B-AA90-891D84854AF2}"/>
              </a:ext>
            </a:extLst>
          </p:cNvPr>
          <p:cNvCxnSpPr>
            <a:cxnSpLocks/>
            <a:endCxn id="11" idx="0"/>
          </p:cNvCxnSpPr>
          <p:nvPr/>
        </p:nvCxnSpPr>
        <p:spPr>
          <a:xfrm>
            <a:off x="5226518" y="2214323"/>
            <a:ext cx="938633" cy="273095"/>
          </a:xfrm>
          <a:prstGeom prst="curvedConnector2">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2" name="连接符: 曲线 31">
            <a:extLst>
              <a:ext uri="{FF2B5EF4-FFF2-40B4-BE49-F238E27FC236}">
                <a16:creationId xmlns:a16="http://schemas.microsoft.com/office/drawing/2014/main" id="{F639B4AF-E286-ECFE-A577-DFBD7CD94F09}"/>
              </a:ext>
            </a:extLst>
          </p:cNvPr>
          <p:cNvCxnSpPr>
            <a:cxnSpLocks/>
            <a:endCxn id="24" idx="1"/>
          </p:cNvCxnSpPr>
          <p:nvPr/>
        </p:nvCxnSpPr>
        <p:spPr>
          <a:xfrm rot="16200000" flipH="1">
            <a:off x="5870440" y="4910024"/>
            <a:ext cx="834638" cy="383520"/>
          </a:xfrm>
          <a:prstGeom prst="curvedConnector2">
            <a:avLst/>
          </a:prstGeom>
          <a:ln w="190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0C48F-88E0-1BB2-E0AC-4DADDFD9EC68}"/>
            </a:ext>
          </a:extLst>
        </p:cNvPr>
        <p:cNvGrpSpPr/>
        <p:nvPr/>
      </p:nvGrpSpPr>
      <p:grpSpPr>
        <a:xfrm>
          <a:off x="0" y="0"/>
          <a:ext cx="0" cy="0"/>
          <a:chOff x="0" y="0"/>
          <a:chExt cx="0" cy="0"/>
        </a:xfrm>
      </p:grpSpPr>
      <p:pic>
        <p:nvPicPr>
          <p:cNvPr id="3" name="图片 2" descr="集创赛1">
            <a:extLst>
              <a:ext uri="{FF2B5EF4-FFF2-40B4-BE49-F238E27FC236}">
                <a16:creationId xmlns:a16="http://schemas.microsoft.com/office/drawing/2014/main" id="{F8DE556B-BE58-1531-5918-9DEF08797A6E}"/>
              </a:ext>
            </a:extLst>
          </p:cNvPr>
          <p:cNvPicPr>
            <a:picLocks noChangeAspect="1"/>
          </p:cNvPicPr>
          <p:nvPr/>
        </p:nvPicPr>
        <p:blipFill>
          <a:blip r:embed="rId6"/>
          <a:stretch>
            <a:fillRect/>
          </a:stretch>
        </p:blipFill>
        <p:spPr>
          <a:xfrm>
            <a:off x="900000" y="0"/>
            <a:ext cx="2016000" cy="1260000"/>
          </a:xfrm>
          <a:prstGeom prst="rect">
            <a:avLst/>
          </a:prstGeom>
        </p:spPr>
      </p:pic>
      <p:sp>
        <p:nvSpPr>
          <p:cNvPr id="13" name="矩形 12">
            <a:extLst>
              <a:ext uri="{FF2B5EF4-FFF2-40B4-BE49-F238E27FC236}">
                <a16:creationId xmlns:a16="http://schemas.microsoft.com/office/drawing/2014/main" id="{C0DEA8E7-CBC7-4AF1-3770-9EEFC07077EE}"/>
              </a:ext>
            </a:extLst>
          </p:cNvPr>
          <p:cNvSpPr/>
          <p:nvPr/>
        </p:nvSpPr>
        <p:spPr>
          <a:xfrm>
            <a:off x="5624026" y="1017697"/>
            <a:ext cx="943948"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B8C5F290-3C15-719F-70DE-A2FEDFD76393}"/>
              </a:ext>
            </a:extLst>
          </p:cNvPr>
          <p:cNvGrpSpPr/>
          <p:nvPr/>
        </p:nvGrpSpPr>
        <p:grpSpPr>
          <a:xfrm>
            <a:off x="2457177" y="369697"/>
            <a:ext cx="7277645" cy="720000"/>
            <a:chOff x="7865168" y="237582"/>
            <a:chExt cx="4163290" cy="720000"/>
          </a:xfrm>
        </p:grpSpPr>
        <p:sp>
          <p:nvSpPr>
            <p:cNvPr id="15" name="组合 33">
              <a:extLst>
                <a:ext uri="{FF2B5EF4-FFF2-40B4-BE49-F238E27FC236}">
                  <a16:creationId xmlns:a16="http://schemas.microsoft.com/office/drawing/2014/main" id="{DA48705E-8AB5-531A-3699-E9CC3F923CBF}"/>
                </a:ext>
              </a:extLst>
            </p:cNvPr>
            <p:cNvSpPr/>
            <p:nvPr/>
          </p:nvSpPr>
          <p:spPr>
            <a:xfrm>
              <a:off x="7865168" y="237582"/>
              <a:ext cx="416329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latin typeface="微软雅黑" panose="020B0503020204020204" pitchFamily="34" charset="-122"/>
                  <a:ea typeface="微软雅黑" panose="020B0503020204020204" pitchFamily="34" charset="-122"/>
                </a:rPr>
                <a:t>子图裁切与双线性插值缩放</a:t>
              </a:r>
              <a:endParaRPr lang="zh-CN" dirty="0">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F6588C53-0433-0B38-3E61-C4C5D6AC998F}"/>
                </a:ext>
              </a:extLst>
            </p:cNvPr>
            <p:cNvSpPr/>
            <p:nvPr/>
          </p:nvSpPr>
          <p:spPr>
            <a:xfrm>
              <a:off x="9676813" y="885582"/>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pic>
        <p:nvPicPr>
          <p:cNvPr id="2" name="图片 1">
            <a:extLst>
              <a:ext uri="{FF2B5EF4-FFF2-40B4-BE49-F238E27FC236}">
                <a16:creationId xmlns:a16="http://schemas.microsoft.com/office/drawing/2014/main" id="{0D5B42BD-B958-5492-E8C0-2CFD035DE94F}"/>
              </a:ext>
            </a:extLst>
          </p:cNvPr>
          <p:cNvPicPr>
            <a:picLocks noChangeAspect="1"/>
          </p:cNvPicPr>
          <p:nvPr/>
        </p:nvPicPr>
        <p:blipFill>
          <a:blip r:embed="rId7"/>
          <a:srcRect t="4279"/>
          <a:stretch>
            <a:fillRect/>
          </a:stretch>
        </p:blipFill>
        <p:spPr>
          <a:xfrm>
            <a:off x="900000" y="1260000"/>
            <a:ext cx="4876800" cy="4668105"/>
          </a:xfrm>
          <a:prstGeom prst="rect">
            <a:avLst/>
          </a:prstGeom>
        </p:spPr>
      </p:pic>
      <p:pic>
        <p:nvPicPr>
          <p:cNvPr id="4" name="图片 3">
            <a:extLst>
              <a:ext uri="{FF2B5EF4-FFF2-40B4-BE49-F238E27FC236}">
                <a16:creationId xmlns:a16="http://schemas.microsoft.com/office/drawing/2014/main" id="{0BBFEC42-BB9B-4A10-0A8D-1401ED0D81D9}"/>
              </a:ext>
            </a:extLst>
          </p:cNvPr>
          <p:cNvPicPr>
            <a:picLocks noChangeAspect="1"/>
          </p:cNvPicPr>
          <p:nvPr/>
        </p:nvPicPr>
        <p:blipFill>
          <a:blip r:embed="rId8"/>
          <a:stretch>
            <a:fillRect/>
          </a:stretch>
        </p:blipFill>
        <p:spPr>
          <a:xfrm>
            <a:off x="7191271" y="2467176"/>
            <a:ext cx="2697945" cy="1348973"/>
          </a:xfrm>
          <a:prstGeom prst="rect">
            <a:avLst/>
          </a:prstGeom>
        </p:spPr>
      </p:pic>
      <p:cxnSp>
        <p:nvCxnSpPr>
          <p:cNvPr id="22" name="直接箭头连接符 21">
            <a:extLst>
              <a:ext uri="{FF2B5EF4-FFF2-40B4-BE49-F238E27FC236}">
                <a16:creationId xmlns:a16="http://schemas.microsoft.com/office/drawing/2014/main" id="{5FBFF356-CF61-7454-F4DA-C17D0D245C98}"/>
              </a:ext>
            </a:extLst>
          </p:cNvPr>
          <p:cNvCxnSpPr>
            <a:cxnSpLocks/>
            <a:endCxn id="4" idx="1"/>
          </p:cNvCxnSpPr>
          <p:nvPr/>
        </p:nvCxnSpPr>
        <p:spPr>
          <a:xfrm>
            <a:off x="5389036" y="3141663"/>
            <a:ext cx="1802235"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46" name="文本框 17">
            <a:extLst>
              <a:ext uri="{FF2B5EF4-FFF2-40B4-BE49-F238E27FC236}">
                <a16:creationId xmlns:a16="http://schemas.microsoft.com/office/drawing/2014/main" id="{2B92C83A-A751-68CF-88D2-DBC74B7EB0C3}"/>
              </a:ext>
            </a:extLst>
          </p:cNvPr>
          <p:cNvSpPr txBox="1"/>
          <p:nvPr>
            <p:custDataLst>
              <p:tags r:id="rId2"/>
            </p:custDataLst>
          </p:nvPr>
        </p:nvSpPr>
        <p:spPr>
          <a:xfrm>
            <a:off x="1041949" y="5711349"/>
            <a:ext cx="4592901"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pPr algn="ctr"/>
            <a:r>
              <a:rPr lang="zh-CN" altLang="en-US" dirty="0">
                <a:latin typeface="微软雅黑" panose="020B0503020204020204" pitchFamily="34" charset="-122"/>
                <a:ea typeface="微软雅黑" panose="020B0503020204020204" pitchFamily="34" charset="-122"/>
              </a:rPr>
              <a:t>原图</a:t>
            </a:r>
            <a:endParaRPr lang="zh-CN" dirty="0">
              <a:latin typeface="微软雅黑" panose="020B0503020204020204" pitchFamily="34" charset="-122"/>
              <a:ea typeface="微软雅黑" panose="020B0503020204020204" pitchFamily="34" charset="-122"/>
            </a:endParaRPr>
          </a:p>
        </p:txBody>
      </p:sp>
      <p:sp>
        <p:nvSpPr>
          <p:cNvPr id="48" name="文本框 17">
            <a:extLst>
              <a:ext uri="{FF2B5EF4-FFF2-40B4-BE49-F238E27FC236}">
                <a16:creationId xmlns:a16="http://schemas.microsoft.com/office/drawing/2014/main" id="{2B72547A-C49F-F95D-0116-590DB91F2882}"/>
              </a:ext>
            </a:extLst>
          </p:cNvPr>
          <p:cNvSpPr txBox="1"/>
          <p:nvPr>
            <p:custDataLst>
              <p:tags r:id="rId3"/>
            </p:custDataLst>
          </p:nvPr>
        </p:nvSpPr>
        <p:spPr>
          <a:xfrm>
            <a:off x="6328247" y="3965059"/>
            <a:ext cx="4592901"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pPr algn="ctr"/>
            <a:r>
              <a:rPr lang="zh-CN" altLang="en-US" dirty="0">
                <a:latin typeface="微软雅黑" panose="020B0503020204020204" pitchFamily="34" charset="-122"/>
                <a:ea typeface="微软雅黑" panose="020B0503020204020204" pitchFamily="34" charset="-122"/>
              </a:rPr>
              <a:t>裁切、缩放后子图</a:t>
            </a:r>
            <a:endParaRPr lang="zh-CN" dirty="0">
              <a:latin typeface="微软雅黑" panose="020B0503020204020204" pitchFamily="34" charset="-122"/>
              <a:ea typeface="微软雅黑" panose="020B0503020204020204" pitchFamily="34" charset="-122"/>
            </a:endParaRPr>
          </a:p>
        </p:txBody>
      </p:sp>
      <p:sp>
        <p:nvSpPr>
          <p:cNvPr id="53" name="矩形: 圆角 52">
            <a:extLst>
              <a:ext uri="{FF2B5EF4-FFF2-40B4-BE49-F238E27FC236}">
                <a16:creationId xmlns:a16="http://schemas.microsoft.com/office/drawing/2014/main" id="{4EE6E662-D171-9C94-881A-70A285FED5FE}"/>
              </a:ext>
            </a:extLst>
          </p:cNvPr>
          <p:cNvSpPr/>
          <p:nvPr/>
        </p:nvSpPr>
        <p:spPr>
          <a:xfrm>
            <a:off x="6173525" y="4751776"/>
            <a:ext cx="4902343" cy="1328905"/>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chemeClr val="tx1"/>
                </a:solidFill>
                <a:latin typeface="Times New Roman" panose="02020603050405020304" pitchFamily="18" charset="0"/>
                <a:cs typeface="Times New Roman" panose="02020603050405020304" pitchFamily="18" charset="0"/>
              </a:rPr>
              <a:t>Modelsim</a:t>
            </a:r>
            <a:r>
              <a:rPr lang="zh-CN" altLang="en-US" b="1" dirty="0">
                <a:solidFill>
                  <a:schemeClr val="tx1"/>
                </a:solidFill>
                <a:latin typeface="Times New Roman" panose="02020603050405020304" pitchFamily="18" charset="0"/>
                <a:cs typeface="Times New Roman" panose="02020603050405020304" pitchFamily="18" charset="0"/>
              </a:rPr>
              <a:t>仿真、</a:t>
            </a:r>
            <a:r>
              <a:rPr lang="en-US" altLang="zh-CN" b="1" dirty="0">
                <a:solidFill>
                  <a:schemeClr val="tx1"/>
                </a:solidFill>
                <a:latin typeface="Times New Roman" panose="02020603050405020304" pitchFamily="18" charset="0"/>
                <a:cs typeface="Times New Roman" panose="02020603050405020304" pitchFamily="18" charset="0"/>
              </a:rPr>
              <a:t>Python</a:t>
            </a:r>
            <a:r>
              <a:rPr lang="zh-CN" altLang="en-US" b="1" dirty="0">
                <a:solidFill>
                  <a:schemeClr val="tx1"/>
                </a:solidFill>
                <a:latin typeface="Times New Roman" panose="02020603050405020304" pitchFamily="18" charset="0"/>
                <a:cs typeface="Times New Roman" panose="02020603050405020304" pitchFamily="18" charset="0"/>
              </a:rPr>
              <a:t>脚本验证像素值</a:t>
            </a:r>
          </a:p>
        </p:txBody>
      </p:sp>
    </p:spTree>
    <p:custDataLst>
      <p:tags r:id="rId1"/>
    </p:custDataLst>
    <p:extLst>
      <p:ext uri="{BB962C8B-B14F-4D97-AF65-F5344CB8AC3E}">
        <p14:creationId xmlns:p14="http://schemas.microsoft.com/office/powerpoint/2010/main" val="986886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03B61-3A16-039E-EE6E-650ADA836EFB}"/>
            </a:ext>
          </a:extLst>
        </p:cNvPr>
        <p:cNvGrpSpPr/>
        <p:nvPr/>
      </p:nvGrpSpPr>
      <p:grpSpPr>
        <a:xfrm>
          <a:off x="0" y="0"/>
          <a:ext cx="0" cy="0"/>
          <a:chOff x="0" y="0"/>
          <a:chExt cx="0" cy="0"/>
        </a:xfrm>
      </p:grpSpPr>
      <p:pic>
        <p:nvPicPr>
          <p:cNvPr id="3" name="图片 2" descr="集创赛1">
            <a:extLst>
              <a:ext uri="{FF2B5EF4-FFF2-40B4-BE49-F238E27FC236}">
                <a16:creationId xmlns:a16="http://schemas.microsoft.com/office/drawing/2014/main" id="{CCF355FE-BDB7-8714-7289-FFEF131A8E62}"/>
              </a:ext>
            </a:extLst>
          </p:cNvPr>
          <p:cNvPicPr>
            <a:picLocks noChangeAspect="1"/>
          </p:cNvPicPr>
          <p:nvPr/>
        </p:nvPicPr>
        <p:blipFill>
          <a:blip r:embed="rId15"/>
          <a:stretch>
            <a:fillRect/>
          </a:stretch>
        </p:blipFill>
        <p:spPr>
          <a:xfrm>
            <a:off x="900000" y="0"/>
            <a:ext cx="2016000" cy="1260000"/>
          </a:xfrm>
          <a:prstGeom prst="rect">
            <a:avLst/>
          </a:prstGeom>
        </p:spPr>
      </p:pic>
      <p:sp>
        <p:nvSpPr>
          <p:cNvPr id="13" name="矩形 12">
            <a:extLst>
              <a:ext uri="{FF2B5EF4-FFF2-40B4-BE49-F238E27FC236}">
                <a16:creationId xmlns:a16="http://schemas.microsoft.com/office/drawing/2014/main" id="{65F091B8-0803-24AD-A56F-A9DCA1AF8595}"/>
              </a:ext>
            </a:extLst>
          </p:cNvPr>
          <p:cNvSpPr/>
          <p:nvPr/>
        </p:nvSpPr>
        <p:spPr>
          <a:xfrm>
            <a:off x="5624026" y="1017697"/>
            <a:ext cx="943948"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126458B0-9693-CBC4-E413-970B330EF66A}"/>
              </a:ext>
            </a:extLst>
          </p:cNvPr>
          <p:cNvGrpSpPr/>
          <p:nvPr/>
        </p:nvGrpSpPr>
        <p:grpSpPr>
          <a:xfrm>
            <a:off x="2457177" y="369697"/>
            <a:ext cx="7277645" cy="720000"/>
            <a:chOff x="7865168" y="237582"/>
            <a:chExt cx="4163290" cy="720000"/>
          </a:xfrm>
        </p:grpSpPr>
        <p:sp>
          <p:nvSpPr>
            <p:cNvPr id="15" name="组合 33">
              <a:extLst>
                <a:ext uri="{FF2B5EF4-FFF2-40B4-BE49-F238E27FC236}">
                  <a16:creationId xmlns:a16="http://schemas.microsoft.com/office/drawing/2014/main" id="{1AFA1243-728C-4EBF-4C0B-63E0168CF780}"/>
                </a:ext>
              </a:extLst>
            </p:cNvPr>
            <p:cNvSpPr/>
            <p:nvPr/>
          </p:nvSpPr>
          <p:spPr>
            <a:xfrm>
              <a:off x="7865168" y="237582"/>
              <a:ext cx="416329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latin typeface="微软雅黑" panose="020B0503020204020204" pitchFamily="34" charset="-122"/>
                  <a:ea typeface="微软雅黑" panose="020B0503020204020204" pitchFamily="34" charset="-122"/>
                </a:rPr>
                <a:t>上板测试</a:t>
              </a:r>
              <a:endParaRPr lang="zh-CN" dirty="0">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8FDD83F0-8B64-8A1E-918B-AE3BEB9EA2C9}"/>
                </a:ext>
              </a:extLst>
            </p:cNvPr>
            <p:cNvSpPr/>
            <p:nvPr/>
          </p:nvSpPr>
          <p:spPr>
            <a:xfrm>
              <a:off x="9676813" y="885582"/>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pic>
        <p:nvPicPr>
          <p:cNvPr id="5" name="图片 4">
            <a:extLst>
              <a:ext uri="{FF2B5EF4-FFF2-40B4-BE49-F238E27FC236}">
                <a16:creationId xmlns:a16="http://schemas.microsoft.com/office/drawing/2014/main" id="{52DDF386-1BC6-8E06-8172-A2F54B32A9EB}"/>
              </a:ext>
            </a:extLst>
          </p:cNvPr>
          <p:cNvPicPr>
            <a:picLocks noChangeAspect="1"/>
          </p:cNvPicPr>
          <p:nvPr/>
        </p:nvPicPr>
        <p:blipFill>
          <a:blip r:embed="rId16"/>
          <a:stretch>
            <a:fillRect/>
          </a:stretch>
        </p:blipFill>
        <p:spPr>
          <a:xfrm>
            <a:off x="253633" y="1368000"/>
            <a:ext cx="7546512" cy="4801748"/>
          </a:xfrm>
          <a:prstGeom prst="rect">
            <a:avLst/>
          </a:prstGeom>
        </p:spPr>
      </p:pic>
      <p:grpSp>
        <p:nvGrpSpPr>
          <p:cNvPr id="6" name="组合 5">
            <a:extLst>
              <a:ext uri="{FF2B5EF4-FFF2-40B4-BE49-F238E27FC236}">
                <a16:creationId xmlns:a16="http://schemas.microsoft.com/office/drawing/2014/main" id="{F728D09B-58C5-9307-959C-136F1F9B0833}"/>
              </a:ext>
            </a:extLst>
          </p:cNvPr>
          <p:cNvGrpSpPr/>
          <p:nvPr/>
        </p:nvGrpSpPr>
        <p:grpSpPr>
          <a:xfrm>
            <a:off x="8631878" y="1627882"/>
            <a:ext cx="2721863" cy="748090"/>
            <a:chOff x="1118671" y="1518093"/>
            <a:chExt cx="3483414" cy="748090"/>
          </a:xfrm>
        </p:grpSpPr>
        <p:sp>
          <p:nvSpPr>
            <p:cNvPr id="7" name="矩形: 圆角 19">
              <a:extLst>
                <a:ext uri="{FF2B5EF4-FFF2-40B4-BE49-F238E27FC236}">
                  <a16:creationId xmlns:a16="http://schemas.microsoft.com/office/drawing/2014/main" id="{62D27B35-B23D-3385-BA85-AF36DEF6C29A}"/>
                </a:ext>
              </a:extLst>
            </p:cNvPr>
            <p:cNvSpPr/>
            <p:nvPr>
              <p:custDataLst>
                <p:tags r:id="rId10"/>
              </p:custDataLst>
            </p:nvPr>
          </p:nvSpPr>
          <p:spPr>
            <a:xfrm>
              <a:off x="1118671" y="1518093"/>
              <a:ext cx="3306290" cy="748090"/>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8" name="文本框 17">
              <a:extLst>
                <a:ext uri="{FF2B5EF4-FFF2-40B4-BE49-F238E27FC236}">
                  <a16:creationId xmlns:a16="http://schemas.microsoft.com/office/drawing/2014/main" id="{98263AE8-42A3-A8C8-4C3A-9E33B077BFBE}"/>
                </a:ext>
              </a:extLst>
            </p:cNvPr>
            <p:cNvSpPr txBox="1"/>
            <p:nvPr>
              <p:custDataLst>
                <p:tags r:id="rId11"/>
              </p:custDataLst>
            </p:nvPr>
          </p:nvSpPr>
          <p:spPr>
            <a:xfrm>
              <a:off x="1632160" y="1603036"/>
              <a:ext cx="2969925"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b="1" dirty="0">
                  <a:latin typeface="微软雅黑" panose="020B0503020204020204" pitchFamily="34" charset="-122"/>
                  <a:ea typeface="微软雅黑" panose="020B0503020204020204" pitchFamily="34" charset="-122"/>
                </a:rPr>
                <a:t>高分辨率、高帧率</a:t>
              </a:r>
              <a:endParaRPr lang="zh-CN" dirty="0">
                <a:latin typeface="微软雅黑" panose="020B0503020204020204" pitchFamily="34" charset="-122"/>
                <a:ea typeface="微软雅黑" panose="020B0503020204020204" pitchFamily="34" charset="-122"/>
              </a:endParaRPr>
            </a:p>
          </p:txBody>
        </p:sp>
        <p:sp>
          <p:nvSpPr>
            <p:cNvPr id="9" name="文本框 18">
              <a:extLst>
                <a:ext uri="{FF2B5EF4-FFF2-40B4-BE49-F238E27FC236}">
                  <a16:creationId xmlns:a16="http://schemas.microsoft.com/office/drawing/2014/main" id="{7A6A7C0D-A0E9-E49B-5EA6-B6F7D1E6A5B9}"/>
                </a:ext>
              </a:extLst>
            </p:cNvPr>
            <p:cNvSpPr txBox="1"/>
            <p:nvPr>
              <p:custDataLst>
                <p:tags r:id="rId12"/>
              </p:custDataLst>
            </p:nvPr>
          </p:nvSpPr>
          <p:spPr>
            <a:xfrm>
              <a:off x="1370675" y="1929488"/>
              <a:ext cx="2969925" cy="336695"/>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pPr marL="171450" indent="-171450">
                <a:buFontTx/>
                <a:buChar char="-"/>
              </a:pPr>
              <a:r>
                <a:rPr lang="en-US" altLang="zh-CN" sz="1200" b="1" dirty="0">
                  <a:solidFill>
                    <a:schemeClr val="tx2"/>
                  </a:solidFill>
                  <a:latin typeface="微软雅黑" panose="020B0503020204020204" pitchFamily="34" charset="-122"/>
                  <a:ea typeface="微软雅黑" panose="020B0503020204020204" pitchFamily="34" charset="-122"/>
                </a:rPr>
                <a:t>720P@60Hz </a:t>
              </a:r>
              <a:r>
                <a:rPr lang="zh-CN" altLang="en-US" sz="1200" dirty="0">
                  <a:solidFill>
                    <a:schemeClr val="tx2"/>
                  </a:solidFill>
                  <a:latin typeface="微软雅黑" panose="020B0503020204020204" pitchFamily="34" charset="-122"/>
                  <a:ea typeface="微软雅黑" panose="020B0503020204020204" pitchFamily="34" charset="-122"/>
                </a:rPr>
                <a:t>稳定运行</a:t>
              </a:r>
              <a:endParaRPr lang="en-US" altLang="zh-CN" sz="1200" dirty="0">
                <a:solidFill>
                  <a:schemeClr val="tx2"/>
                </a:solidFill>
                <a:latin typeface="微软雅黑" panose="020B0503020204020204" pitchFamily="34" charset="-122"/>
                <a:ea typeface="微软雅黑" panose="020B0503020204020204" pitchFamily="34" charset="-122"/>
              </a:endParaRPr>
            </a:p>
          </p:txBody>
        </p:sp>
        <p:sp>
          <p:nvSpPr>
            <p:cNvPr id="10" name="椭圆 14">
              <a:extLst>
                <a:ext uri="{FF2B5EF4-FFF2-40B4-BE49-F238E27FC236}">
                  <a16:creationId xmlns:a16="http://schemas.microsoft.com/office/drawing/2014/main" id="{B6AA6E5E-713C-525E-85A6-05E2BE04EB4A}"/>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grpSp>
        <p:nvGrpSpPr>
          <p:cNvPr id="11" name="组合 10">
            <a:extLst>
              <a:ext uri="{FF2B5EF4-FFF2-40B4-BE49-F238E27FC236}">
                <a16:creationId xmlns:a16="http://schemas.microsoft.com/office/drawing/2014/main" id="{D5450DBE-66D9-8A84-E080-C5604C40F052}"/>
              </a:ext>
            </a:extLst>
          </p:cNvPr>
          <p:cNvGrpSpPr/>
          <p:nvPr/>
        </p:nvGrpSpPr>
        <p:grpSpPr>
          <a:xfrm>
            <a:off x="8631878" y="2702424"/>
            <a:ext cx="2721863" cy="1103016"/>
            <a:chOff x="1118671" y="1518093"/>
            <a:chExt cx="3483414" cy="1103016"/>
          </a:xfrm>
        </p:grpSpPr>
        <p:sp>
          <p:nvSpPr>
            <p:cNvPr id="12" name="矩形: 圆角 19">
              <a:extLst>
                <a:ext uri="{FF2B5EF4-FFF2-40B4-BE49-F238E27FC236}">
                  <a16:creationId xmlns:a16="http://schemas.microsoft.com/office/drawing/2014/main" id="{85923F7D-A433-EEDA-D0DD-D204A7DA329A}"/>
                </a:ext>
              </a:extLst>
            </p:cNvPr>
            <p:cNvSpPr/>
            <p:nvPr>
              <p:custDataLst>
                <p:tags r:id="rId7"/>
              </p:custDataLst>
            </p:nvPr>
          </p:nvSpPr>
          <p:spPr>
            <a:xfrm>
              <a:off x="1118671" y="1518093"/>
              <a:ext cx="3306290" cy="1103016"/>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17" name="文本框 17">
              <a:extLst>
                <a:ext uri="{FF2B5EF4-FFF2-40B4-BE49-F238E27FC236}">
                  <a16:creationId xmlns:a16="http://schemas.microsoft.com/office/drawing/2014/main" id="{5655FF78-FB9C-98E5-C1E8-8F8A8AE7434F}"/>
                </a:ext>
              </a:extLst>
            </p:cNvPr>
            <p:cNvSpPr txBox="1"/>
            <p:nvPr>
              <p:custDataLst>
                <p:tags r:id="rId8"/>
              </p:custDataLst>
            </p:nvPr>
          </p:nvSpPr>
          <p:spPr>
            <a:xfrm>
              <a:off x="1632160" y="1603036"/>
              <a:ext cx="2969925"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b="1" dirty="0">
                  <a:latin typeface="微软雅黑" panose="020B0503020204020204" pitchFamily="34" charset="-122"/>
                  <a:ea typeface="微软雅黑" panose="020B0503020204020204" pitchFamily="34" charset="-122"/>
                </a:rPr>
                <a:t>延迟极低</a:t>
              </a:r>
              <a:endParaRPr lang="zh-CN" b="1" dirty="0">
                <a:latin typeface="微软雅黑" panose="020B0503020204020204" pitchFamily="34" charset="-122"/>
                <a:ea typeface="微软雅黑" panose="020B0503020204020204" pitchFamily="34" charset="-122"/>
              </a:endParaRPr>
            </a:p>
          </p:txBody>
        </p:sp>
        <p:sp>
          <p:nvSpPr>
            <p:cNvPr id="18" name="文本框 18">
              <a:extLst>
                <a:ext uri="{FF2B5EF4-FFF2-40B4-BE49-F238E27FC236}">
                  <a16:creationId xmlns:a16="http://schemas.microsoft.com/office/drawing/2014/main" id="{DFC5CE99-8FC1-76B9-2DCA-3571B7FEA886}"/>
                </a:ext>
              </a:extLst>
            </p:cNvPr>
            <p:cNvSpPr txBox="1"/>
            <p:nvPr>
              <p:custDataLst>
                <p:tags r:id="rId9"/>
              </p:custDataLst>
            </p:nvPr>
          </p:nvSpPr>
          <p:spPr>
            <a:xfrm>
              <a:off x="1370675" y="1929488"/>
              <a:ext cx="2969925" cy="61369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pPr marL="171450" indent="-171450">
                <a:buFontTx/>
                <a:buChar char="-"/>
              </a:pPr>
              <a:r>
                <a:rPr lang="zh-CN" altLang="en-US" sz="1200" dirty="0">
                  <a:solidFill>
                    <a:schemeClr val="tx2"/>
                  </a:solidFill>
                  <a:latin typeface="微软雅黑" panose="020B0503020204020204" pitchFamily="34" charset="-122"/>
                  <a:ea typeface="微软雅黑" panose="020B0503020204020204" pitchFamily="34" charset="-122"/>
                </a:rPr>
                <a:t>预选框延迟小于</a:t>
              </a:r>
              <a:r>
                <a:rPr lang="zh-CN" altLang="en-US" sz="1200" b="1" dirty="0">
                  <a:solidFill>
                    <a:schemeClr val="tx2"/>
                  </a:solidFill>
                  <a:latin typeface="微软雅黑" panose="020B0503020204020204" pitchFamily="34" charset="-122"/>
                  <a:ea typeface="微软雅黑" panose="020B0503020204020204" pitchFamily="34" charset="-122"/>
                </a:rPr>
                <a:t>半帧</a:t>
              </a:r>
              <a:endParaRPr lang="en-US" altLang="zh-CN" sz="1200" b="1" dirty="0">
                <a:solidFill>
                  <a:schemeClr val="tx2"/>
                </a:solidFill>
                <a:latin typeface="微软雅黑" panose="020B0503020204020204" pitchFamily="34" charset="-122"/>
                <a:ea typeface="微软雅黑" panose="020B0503020204020204" pitchFamily="34" charset="-122"/>
              </a:endParaRPr>
            </a:p>
            <a:p>
              <a:pPr marL="171450" indent="-171450">
                <a:buFontTx/>
                <a:buChar char="-"/>
              </a:pPr>
              <a:r>
                <a:rPr lang="zh-CN" altLang="en-US" sz="1200" dirty="0">
                  <a:solidFill>
                    <a:schemeClr val="tx2"/>
                  </a:solidFill>
                  <a:latin typeface="微软雅黑" panose="020B0503020204020204" pitchFamily="34" charset="-122"/>
                  <a:ea typeface="微软雅黑" panose="020B0503020204020204" pitchFamily="34" charset="-122"/>
                </a:rPr>
                <a:t>字符检测结果延迟</a:t>
              </a:r>
              <a:r>
                <a:rPr lang="zh-CN" altLang="en-US" sz="1200" b="1" dirty="0">
                  <a:solidFill>
                    <a:schemeClr val="tx2"/>
                  </a:solidFill>
                  <a:latin typeface="微软雅黑" panose="020B0503020204020204" pitchFamily="34" charset="-122"/>
                  <a:ea typeface="微软雅黑" panose="020B0503020204020204" pitchFamily="34" charset="-122"/>
                </a:rPr>
                <a:t>一帧</a:t>
              </a:r>
              <a:endParaRPr lang="en-US" altLang="zh-CN" sz="1200" b="1" dirty="0">
                <a:solidFill>
                  <a:schemeClr val="tx2"/>
                </a:solidFill>
                <a:latin typeface="微软雅黑" panose="020B0503020204020204" pitchFamily="34" charset="-122"/>
                <a:ea typeface="微软雅黑" panose="020B0503020204020204" pitchFamily="34" charset="-122"/>
              </a:endParaRPr>
            </a:p>
          </p:txBody>
        </p:sp>
        <p:sp>
          <p:nvSpPr>
            <p:cNvPr id="19" name="椭圆 14">
              <a:extLst>
                <a:ext uri="{FF2B5EF4-FFF2-40B4-BE49-F238E27FC236}">
                  <a16:creationId xmlns:a16="http://schemas.microsoft.com/office/drawing/2014/main" id="{C31C3BD6-7838-3155-88F0-86B5953911E8}"/>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grpSp>
        <p:nvGrpSpPr>
          <p:cNvPr id="20" name="组合 19">
            <a:extLst>
              <a:ext uri="{FF2B5EF4-FFF2-40B4-BE49-F238E27FC236}">
                <a16:creationId xmlns:a16="http://schemas.microsoft.com/office/drawing/2014/main" id="{A7909BAC-0469-7152-4395-58EAC477D61A}"/>
              </a:ext>
            </a:extLst>
          </p:cNvPr>
          <p:cNvGrpSpPr/>
          <p:nvPr/>
        </p:nvGrpSpPr>
        <p:grpSpPr>
          <a:xfrm>
            <a:off x="8628173" y="4127102"/>
            <a:ext cx="2721863" cy="454275"/>
            <a:chOff x="1118671" y="1518093"/>
            <a:chExt cx="3483414" cy="454275"/>
          </a:xfrm>
        </p:grpSpPr>
        <p:sp>
          <p:nvSpPr>
            <p:cNvPr id="21" name="矩形: 圆角 19">
              <a:extLst>
                <a:ext uri="{FF2B5EF4-FFF2-40B4-BE49-F238E27FC236}">
                  <a16:creationId xmlns:a16="http://schemas.microsoft.com/office/drawing/2014/main" id="{5A01EA36-ECDD-43BE-4CC8-394ECE595435}"/>
                </a:ext>
              </a:extLst>
            </p:cNvPr>
            <p:cNvSpPr/>
            <p:nvPr>
              <p:custDataLst>
                <p:tags r:id="rId5"/>
              </p:custDataLst>
            </p:nvPr>
          </p:nvSpPr>
          <p:spPr>
            <a:xfrm>
              <a:off x="1118671" y="1518093"/>
              <a:ext cx="3306290" cy="454275"/>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23" name="文本框 17">
              <a:extLst>
                <a:ext uri="{FF2B5EF4-FFF2-40B4-BE49-F238E27FC236}">
                  <a16:creationId xmlns:a16="http://schemas.microsoft.com/office/drawing/2014/main" id="{5DD4DA2F-2C1F-E33A-2990-3E3DDEFE3F58}"/>
                </a:ext>
              </a:extLst>
            </p:cNvPr>
            <p:cNvSpPr txBox="1"/>
            <p:nvPr>
              <p:custDataLst>
                <p:tags r:id="rId6"/>
              </p:custDataLst>
            </p:nvPr>
          </p:nvSpPr>
          <p:spPr>
            <a:xfrm>
              <a:off x="1632160" y="1603036"/>
              <a:ext cx="2969925"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en-US" altLang="zh-CN" dirty="0">
                  <a:latin typeface="微软雅黑" panose="020B0503020204020204" pitchFamily="34" charset="-122"/>
                  <a:ea typeface="微软雅黑" panose="020B0503020204020204" pitchFamily="34" charset="-122"/>
                </a:rPr>
                <a:t>8</a:t>
              </a:r>
              <a:r>
                <a:rPr lang="zh-CN" altLang="en-US" dirty="0">
                  <a:latin typeface="微软雅黑" panose="020B0503020204020204" pitchFamily="34" charset="-122"/>
                  <a:ea typeface="微软雅黑" panose="020B0503020204020204" pitchFamily="34" charset="-122"/>
                </a:rPr>
                <a:t>个车牌同步检测</a:t>
              </a:r>
              <a:endParaRPr lang="zh-CN" dirty="0">
                <a:latin typeface="微软雅黑" panose="020B0503020204020204" pitchFamily="34" charset="-122"/>
                <a:ea typeface="微软雅黑" panose="020B0503020204020204" pitchFamily="34" charset="-122"/>
              </a:endParaRPr>
            </a:p>
          </p:txBody>
        </p:sp>
        <p:sp>
          <p:nvSpPr>
            <p:cNvPr id="25" name="椭圆 14">
              <a:extLst>
                <a:ext uri="{FF2B5EF4-FFF2-40B4-BE49-F238E27FC236}">
                  <a16:creationId xmlns:a16="http://schemas.microsoft.com/office/drawing/2014/main" id="{E49FD0A4-E6B5-8197-A8AE-4685F5496B70}"/>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grpSp>
        <p:nvGrpSpPr>
          <p:cNvPr id="26" name="组合 25">
            <a:extLst>
              <a:ext uri="{FF2B5EF4-FFF2-40B4-BE49-F238E27FC236}">
                <a16:creationId xmlns:a16="http://schemas.microsoft.com/office/drawing/2014/main" id="{F4F2F5B5-20F4-BEE9-2090-7910DAAD3407}"/>
              </a:ext>
            </a:extLst>
          </p:cNvPr>
          <p:cNvGrpSpPr/>
          <p:nvPr/>
        </p:nvGrpSpPr>
        <p:grpSpPr>
          <a:xfrm>
            <a:off x="8628173" y="4903039"/>
            <a:ext cx="2721863" cy="1103016"/>
            <a:chOff x="1118671" y="1518093"/>
            <a:chExt cx="3483414" cy="1103016"/>
          </a:xfrm>
        </p:grpSpPr>
        <p:sp>
          <p:nvSpPr>
            <p:cNvPr id="27" name="矩形: 圆角 19">
              <a:extLst>
                <a:ext uri="{FF2B5EF4-FFF2-40B4-BE49-F238E27FC236}">
                  <a16:creationId xmlns:a16="http://schemas.microsoft.com/office/drawing/2014/main" id="{DF320F90-BF35-4115-816F-1BD8D0FCD96F}"/>
                </a:ext>
              </a:extLst>
            </p:cNvPr>
            <p:cNvSpPr/>
            <p:nvPr>
              <p:custDataLst>
                <p:tags r:id="rId2"/>
              </p:custDataLst>
            </p:nvPr>
          </p:nvSpPr>
          <p:spPr>
            <a:xfrm>
              <a:off x="1118671" y="1518093"/>
              <a:ext cx="3306290" cy="1103016"/>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dirty="0"/>
            </a:p>
          </p:txBody>
        </p:sp>
        <p:sp>
          <p:nvSpPr>
            <p:cNvPr id="28" name="文本框 17">
              <a:extLst>
                <a:ext uri="{FF2B5EF4-FFF2-40B4-BE49-F238E27FC236}">
                  <a16:creationId xmlns:a16="http://schemas.microsoft.com/office/drawing/2014/main" id="{E3F3B0CA-8CFA-2EE0-D5A4-445EBC4E14C9}"/>
                </a:ext>
              </a:extLst>
            </p:cNvPr>
            <p:cNvSpPr txBox="1"/>
            <p:nvPr>
              <p:custDataLst>
                <p:tags r:id="rId3"/>
              </p:custDataLst>
            </p:nvPr>
          </p:nvSpPr>
          <p:spPr>
            <a:xfrm>
              <a:off x="1632160" y="1603036"/>
              <a:ext cx="2969925" cy="369332"/>
            </a:xfrm>
            <a:prstGeom prst="rect">
              <a:avLst/>
            </a:prstGeom>
            <a:ln w="12700">
              <a:miter lim="400000"/>
            </a:ln>
          </p:spPr>
          <p:txBody>
            <a:bodyPr wrap="square"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tLang="en-US" dirty="0">
                  <a:latin typeface="微软雅黑" panose="020B0503020204020204" pitchFamily="34" charset="-122"/>
                  <a:ea typeface="微软雅黑" panose="020B0503020204020204" pitchFamily="34" charset="-122"/>
                </a:rPr>
                <a:t>鲁棒性</a:t>
              </a:r>
              <a:endParaRPr lang="zh-CN" dirty="0">
                <a:latin typeface="微软雅黑" panose="020B0503020204020204" pitchFamily="34" charset="-122"/>
                <a:ea typeface="微软雅黑" panose="020B0503020204020204" pitchFamily="34" charset="-122"/>
              </a:endParaRPr>
            </a:p>
          </p:txBody>
        </p:sp>
        <p:sp>
          <p:nvSpPr>
            <p:cNvPr id="29" name="文本框 18">
              <a:extLst>
                <a:ext uri="{FF2B5EF4-FFF2-40B4-BE49-F238E27FC236}">
                  <a16:creationId xmlns:a16="http://schemas.microsoft.com/office/drawing/2014/main" id="{65F08DF4-57BE-2ED1-759C-2CB9033BFB66}"/>
                </a:ext>
              </a:extLst>
            </p:cNvPr>
            <p:cNvSpPr txBox="1"/>
            <p:nvPr>
              <p:custDataLst>
                <p:tags r:id="rId4"/>
              </p:custDataLst>
            </p:nvPr>
          </p:nvSpPr>
          <p:spPr>
            <a:xfrm>
              <a:off x="1370675" y="1929488"/>
              <a:ext cx="2969925" cy="613694"/>
            </a:xfrm>
            <a:prstGeom prst="rect">
              <a:avLst/>
            </a:prstGeom>
            <a:ln w="12700">
              <a:miter lim="400000"/>
            </a:ln>
          </p:spPr>
          <p:txBody>
            <a:bodyPr wrap="square"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pPr marL="171450" indent="-171450">
                <a:buFontTx/>
                <a:buChar char="-"/>
              </a:pPr>
              <a:r>
                <a:rPr lang="zh-CN" altLang="en-US" sz="1200" dirty="0">
                  <a:solidFill>
                    <a:schemeClr val="tx2"/>
                  </a:solidFill>
                  <a:latin typeface="微软雅黑" panose="020B0503020204020204" pitchFamily="34" charset="-122"/>
                  <a:ea typeface="微软雅黑" panose="020B0503020204020204" pitchFamily="34" charset="-122"/>
                </a:rPr>
                <a:t>对车牌</a:t>
              </a:r>
              <a:r>
                <a:rPr lang="zh-CN" altLang="en-US" sz="1200" b="1" dirty="0">
                  <a:solidFill>
                    <a:schemeClr val="tx2"/>
                  </a:solidFill>
                  <a:latin typeface="微软雅黑" panose="020B0503020204020204" pitchFamily="34" charset="-122"/>
                  <a:ea typeface="微软雅黑" panose="020B0503020204020204" pitchFamily="34" charset="-122"/>
                </a:rPr>
                <a:t>大小、角度、光强</a:t>
              </a:r>
              <a:r>
                <a:rPr lang="zh-CN" altLang="en-US" sz="1200" dirty="0">
                  <a:solidFill>
                    <a:schemeClr val="tx2"/>
                  </a:solidFill>
                  <a:latin typeface="微软雅黑" panose="020B0503020204020204" pitchFamily="34" charset="-122"/>
                  <a:ea typeface="微软雅黑" panose="020B0503020204020204" pitchFamily="34" charset="-122"/>
                </a:rPr>
                <a:t>有良好的适应性</a:t>
              </a:r>
              <a:endParaRPr lang="en-US" altLang="zh-CN" sz="1200" dirty="0">
                <a:solidFill>
                  <a:schemeClr val="tx2"/>
                </a:solidFill>
                <a:latin typeface="微软雅黑" panose="020B0503020204020204" pitchFamily="34" charset="-122"/>
                <a:ea typeface="微软雅黑" panose="020B0503020204020204" pitchFamily="34" charset="-122"/>
              </a:endParaRPr>
            </a:p>
          </p:txBody>
        </p:sp>
        <p:sp>
          <p:nvSpPr>
            <p:cNvPr id="30" name="椭圆 14">
              <a:extLst>
                <a:ext uri="{FF2B5EF4-FFF2-40B4-BE49-F238E27FC236}">
                  <a16:creationId xmlns:a16="http://schemas.microsoft.com/office/drawing/2014/main" id="{3AFC07C0-0463-8B56-87D4-00448643FFC5}"/>
                </a:ext>
              </a:extLst>
            </p:cNvPr>
            <p:cNvSpPr/>
            <p:nvPr/>
          </p:nvSpPr>
          <p:spPr>
            <a:xfrm>
              <a:off x="1434257" y="1709621"/>
              <a:ext cx="141940" cy="141940"/>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spTree>
    <p:custDataLst>
      <p:tags r:id="rId1"/>
    </p:custDataLst>
    <p:extLst>
      <p:ext uri="{BB962C8B-B14F-4D97-AF65-F5344CB8AC3E}">
        <p14:creationId xmlns:p14="http://schemas.microsoft.com/office/powerpoint/2010/main" val="2152191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A1B76-F6BF-0576-CB2A-1E5FB24C9C75}"/>
            </a:ext>
          </a:extLst>
        </p:cNvPr>
        <p:cNvGrpSpPr/>
        <p:nvPr/>
      </p:nvGrpSpPr>
      <p:grpSpPr>
        <a:xfrm>
          <a:off x="0" y="0"/>
          <a:ext cx="0" cy="0"/>
          <a:chOff x="0" y="0"/>
          <a:chExt cx="0" cy="0"/>
        </a:xfrm>
      </p:grpSpPr>
      <p:pic>
        <p:nvPicPr>
          <p:cNvPr id="13" name="图片 12" descr="首页">
            <a:extLst>
              <a:ext uri="{FF2B5EF4-FFF2-40B4-BE49-F238E27FC236}">
                <a16:creationId xmlns:a16="http://schemas.microsoft.com/office/drawing/2014/main" id="{AC0906AF-E212-807B-7252-B596FF0A0D42}"/>
              </a:ext>
            </a:extLst>
          </p:cNvPr>
          <p:cNvPicPr>
            <a:picLocks noChangeAspect="1"/>
          </p:cNvPicPr>
          <p:nvPr/>
        </p:nvPicPr>
        <p:blipFill>
          <a:blip r:embed="rId6"/>
          <a:stretch>
            <a:fillRect/>
          </a:stretch>
        </p:blipFill>
        <p:spPr>
          <a:xfrm>
            <a:off x="0" y="0"/>
            <a:ext cx="12192000" cy="6858000"/>
          </a:xfrm>
          <a:prstGeom prst="rect">
            <a:avLst/>
          </a:prstGeom>
        </p:spPr>
      </p:pic>
      <p:sp>
        <p:nvSpPr>
          <p:cNvPr id="7" name="文本框 6">
            <a:extLst>
              <a:ext uri="{FF2B5EF4-FFF2-40B4-BE49-F238E27FC236}">
                <a16:creationId xmlns:a16="http://schemas.microsoft.com/office/drawing/2014/main" id="{AF15E418-FD3C-9E7D-0BB2-6D83D6A41524}"/>
              </a:ext>
            </a:extLst>
          </p:cNvPr>
          <p:cNvSpPr txBox="1"/>
          <p:nvPr>
            <p:custDataLst>
              <p:tags r:id="rId2"/>
            </p:custDataLst>
          </p:nvPr>
        </p:nvSpPr>
        <p:spPr>
          <a:xfrm>
            <a:off x="2681605" y="2880000"/>
            <a:ext cx="6828790" cy="720090"/>
          </a:xfrm>
          <a:prstGeom prst="rect">
            <a:avLst/>
          </a:prstGeom>
          <a:noFill/>
        </p:spPr>
        <p:txBody>
          <a:bodyPr wrap="square" rtlCol="0">
            <a:noAutofit/>
          </a:bodyPr>
          <a:lstStyle/>
          <a:p>
            <a:pPr algn="ctr"/>
            <a:r>
              <a:rPr lang="zh-CN" altLang="en-US" sz="4400" dirty="0">
                <a:solidFill>
                  <a:srgbClr val="142DA8"/>
                </a:solidFill>
                <a:latin typeface="微软雅黑" panose="020B0503020204020204" pitchFamily="34" charset="-122"/>
                <a:ea typeface="微软雅黑" panose="020B0503020204020204" pitchFamily="34" charset="-122"/>
              </a:rPr>
              <a:t>效果展示</a:t>
            </a:r>
          </a:p>
        </p:txBody>
      </p:sp>
      <p:sp>
        <p:nvSpPr>
          <p:cNvPr id="6" name="矩形 5">
            <a:extLst>
              <a:ext uri="{FF2B5EF4-FFF2-40B4-BE49-F238E27FC236}">
                <a16:creationId xmlns:a16="http://schemas.microsoft.com/office/drawing/2014/main" id="{3A006534-3091-139D-44C6-FE5B9EDAC6A4}"/>
              </a:ext>
            </a:extLst>
          </p:cNvPr>
          <p:cNvSpPr/>
          <p:nvPr>
            <p:custDataLst>
              <p:tags r:id="rId3"/>
            </p:custDataLst>
          </p:nvPr>
        </p:nvSpPr>
        <p:spPr>
          <a:xfrm>
            <a:off x="5646000" y="1800230"/>
            <a:ext cx="900000" cy="900000"/>
          </a:xfrm>
          <a:prstGeom prst="rect">
            <a:avLst/>
          </a:prstGeom>
          <a:solidFill>
            <a:srgbClr val="FFBB33"/>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000" dirty="0">
                <a:latin typeface="微软雅黑" panose="020B0503020204020204" pitchFamily="34" charset="-122"/>
                <a:ea typeface="微软雅黑" panose="020B0503020204020204" pitchFamily="34" charset="-122"/>
              </a:rPr>
              <a:t>5</a:t>
            </a:r>
          </a:p>
        </p:txBody>
      </p:sp>
    </p:spTree>
    <p:custDataLst>
      <p:tags r:id="rId1"/>
    </p:custDataLst>
    <p:extLst>
      <p:ext uri="{BB962C8B-B14F-4D97-AF65-F5344CB8AC3E}">
        <p14:creationId xmlns:p14="http://schemas.microsoft.com/office/powerpoint/2010/main" val="216983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07445-F9D5-2271-6F90-88B7BAEB445E}"/>
            </a:ext>
          </a:extLst>
        </p:cNvPr>
        <p:cNvGrpSpPr/>
        <p:nvPr/>
      </p:nvGrpSpPr>
      <p:grpSpPr>
        <a:xfrm>
          <a:off x="0" y="0"/>
          <a:ext cx="0" cy="0"/>
          <a:chOff x="0" y="0"/>
          <a:chExt cx="0" cy="0"/>
        </a:xfrm>
      </p:grpSpPr>
      <p:pic>
        <p:nvPicPr>
          <p:cNvPr id="3" name="图片 2" descr="集创赛1">
            <a:extLst>
              <a:ext uri="{FF2B5EF4-FFF2-40B4-BE49-F238E27FC236}">
                <a16:creationId xmlns:a16="http://schemas.microsoft.com/office/drawing/2014/main" id="{9CEC1C25-E0DF-C929-0BC1-1A4E5B47FA81}"/>
              </a:ext>
            </a:extLst>
          </p:cNvPr>
          <p:cNvPicPr>
            <a:picLocks noChangeAspect="1"/>
          </p:cNvPicPr>
          <p:nvPr/>
        </p:nvPicPr>
        <p:blipFill>
          <a:blip r:embed="rId4"/>
          <a:stretch>
            <a:fillRect/>
          </a:stretch>
        </p:blipFill>
        <p:spPr>
          <a:xfrm>
            <a:off x="900000" y="0"/>
            <a:ext cx="2016000" cy="1260000"/>
          </a:xfrm>
          <a:prstGeom prst="rect">
            <a:avLst/>
          </a:prstGeom>
        </p:spPr>
      </p:pic>
      <p:sp>
        <p:nvSpPr>
          <p:cNvPr id="10" name="组合 33">
            <a:extLst>
              <a:ext uri="{FF2B5EF4-FFF2-40B4-BE49-F238E27FC236}">
                <a16:creationId xmlns:a16="http://schemas.microsoft.com/office/drawing/2014/main" id="{E8EE9C9A-D52B-D6A6-D820-0552E1C5FDB4}"/>
              </a:ext>
            </a:extLst>
          </p:cNvPr>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latin typeface="微软雅黑" panose="020B0503020204020204" pitchFamily="34" charset="-122"/>
                <a:ea typeface="微软雅黑" panose="020B0503020204020204" pitchFamily="34" charset="-122"/>
              </a:rPr>
              <a:t>总结与展望</a:t>
            </a:r>
            <a:endParaRPr lang="zh-CN" dirty="0">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7A957DCD-A4EB-ED4A-F6E1-C9018FCF84A5}"/>
              </a:ext>
            </a:extLst>
          </p:cNvPr>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49" name="组合 48">
            <a:extLst>
              <a:ext uri="{FF2B5EF4-FFF2-40B4-BE49-F238E27FC236}">
                <a16:creationId xmlns:a16="http://schemas.microsoft.com/office/drawing/2014/main" id="{9ECD8AD5-48C4-F090-8257-E522DD81A2AC}"/>
              </a:ext>
            </a:extLst>
          </p:cNvPr>
          <p:cNvGrpSpPr/>
          <p:nvPr/>
        </p:nvGrpSpPr>
        <p:grpSpPr>
          <a:xfrm>
            <a:off x="3929802" y="2309294"/>
            <a:ext cx="2090428" cy="3527979"/>
            <a:chOff x="4087840" y="2309294"/>
            <a:chExt cx="2090428" cy="3527979"/>
          </a:xfrm>
        </p:grpSpPr>
        <p:grpSp>
          <p:nvGrpSpPr>
            <p:cNvPr id="25" name="组合 24">
              <a:extLst>
                <a:ext uri="{FF2B5EF4-FFF2-40B4-BE49-F238E27FC236}">
                  <a16:creationId xmlns:a16="http://schemas.microsoft.com/office/drawing/2014/main" id="{C16E6DA0-CE4C-E2C9-038A-17A4E3AF2FAD}"/>
                </a:ext>
              </a:extLst>
            </p:cNvPr>
            <p:cNvGrpSpPr/>
            <p:nvPr/>
          </p:nvGrpSpPr>
          <p:grpSpPr>
            <a:xfrm flipH="1">
              <a:off x="4271227" y="3223258"/>
              <a:ext cx="1723655" cy="2469384"/>
              <a:chOff x="4112227" y="3243599"/>
              <a:chExt cx="1431473" cy="1721987"/>
            </a:xfrm>
            <a:solidFill>
              <a:schemeClr val="bg1">
                <a:lumMod val="95000"/>
              </a:schemeClr>
            </a:solidFill>
          </p:grpSpPr>
          <p:sp>
            <p:nvSpPr>
              <p:cNvPr id="26" name="矩形: 圆角 25">
                <a:extLst>
                  <a:ext uri="{FF2B5EF4-FFF2-40B4-BE49-F238E27FC236}">
                    <a16:creationId xmlns:a16="http://schemas.microsoft.com/office/drawing/2014/main" id="{7554AFD7-076F-B757-ADF8-4E75EFAFE0A3}"/>
                  </a:ext>
                </a:extLst>
              </p:cNvPr>
              <p:cNvSpPr/>
              <p:nvPr/>
            </p:nvSpPr>
            <p:spPr>
              <a:xfrm>
                <a:off x="4112227" y="3862176"/>
                <a:ext cx="1431473" cy="48483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Times New Roman" panose="02020603050405020304" pitchFamily="18" charset="0"/>
                    <a:cs typeface="Times New Roman" panose="02020603050405020304" pitchFamily="18" charset="0"/>
                  </a:rPr>
                  <a:t>三维脉动卷积阵列</a:t>
                </a:r>
              </a:p>
            </p:txBody>
          </p:sp>
          <p:sp>
            <p:nvSpPr>
              <p:cNvPr id="27" name="矩形: 圆角 26">
                <a:extLst>
                  <a:ext uri="{FF2B5EF4-FFF2-40B4-BE49-F238E27FC236}">
                    <a16:creationId xmlns:a16="http://schemas.microsoft.com/office/drawing/2014/main" id="{054B3F5A-E790-B9C1-BE68-24ABF297FADE}"/>
                  </a:ext>
                </a:extLst>
              </p:cNvPr>
              <p:cNvSpPr/>
              <p:nvPr/>
            </p:nvSpPr>
            <p:spPr>
              <a:xfrm>
                <a:off x="4112227" y="4480753"/>
                <a:ext cx="1431473" cy="48483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Times New Roman" panose="02020603050405020304" pitchFamily="18" charset="0"/>
                    <a:cs typeface="Times New Roman" panose="02020603050405020304" pitchFamily="18" charset="0"/>
                  </a:rPr>
                  <a:t>双线性插值</a:t>
                </a:r>
                <a:endParaRPr lang="en-US" altLang="zh-CN" sz="1200" b="1" dirty="0">
                  <a:solidFill>
                    <a:schemeClr val="tx1"/>
                  </a:solidFill>
                  <a:latin typeface="Times New Roman" panose="02020603050405020304" pitchFamily="18" charset="0"/>
                  <a:cs typeface="Times New Roman" panose="02020603050405020304" pitchFamily="18" charset="0"/>
                </a:endParaRPr>
              </a:p>
            </p:txBody>
          </p:sp>
          <p:sp>
            <p:nvSpPr>
              <p:cNvPr id="28" name="矩形: 圆角 27">
                <a:extLst>
                  <a:ext uri="{FF2B5EF4-FFF2-40B4-BE49-F238E27FC236}">
                    <a16:creationId xmlns:a16="http://schemas.microsoft.com/office/drawing/2014/main" id="{B0B810EB-AC5E-7F3E-966E-7304A556CE46}"/>
                  </a:ext>
                </a:extLst>
              </p:cNvPr>
              <p:cNvSpPr/>
              <p:nvPr/>
            </p:nvSpPr>
            <p:spPr>
              <a:xfrm>
                <a:off x="4112227" y="3243599"/>
                <a:ext cx="1431473" cy="48483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Times New Roman" panose="02020603050405020304" pitchFamily="18" charset="0"/>
                    <a:cs typeface="Times New Roman" panose="02020603050405020304" pitchFamily="18" charset="0"/>
                  </a:rPr>
                  <a:t>整体架构设计</a:t>
                </a:r>
              </a:p>
            </p:txBody>
          </p:sp>
        </p:grpSp>
        <p:grpSp>
          <p:nvGrpSpPr>
            <p:cNvPr id="34" name="组合 33">
              <a:extLst>
                <a:ext uri="{FF2B5EF4-FFF2-40B4-BE49-F238E27FC236}">
                  <a16:creationId xmlns:a16="http://schemas.microsoft.com/office/drawing/2014/main" id="{505EEF8E-0F2C-AAF4-68F5-49B99CD3E0BB}"/>
                </a:ext>
              </a:extLst>
            </p:cNvPr>
            <p:cNvGrpSpPr/>
            <p:nvPr/>
          </p:nvGrpSpPr>
          <p:grpSpPr>
            <a:xfrm>
              <a:off x="4087840" y="2309294"/>
              <a:ext cx="2090428" cy="3527979"/>
              <a:chOff x="1141870" y="2309295"/>
              <a:chExt cx="2090428" cy="3527979"/>
            </a:xfrm>
          </p:grpSpPr>
          <p:sp>
            <p:nvSpPr>
              <p:cNvPr id="36" name="任意多边形: 形状 35">
                <a:extLst>
                  <a:ext uri="{FF2B5EF4-FFF2-40B4-BE49-F238E27FC236}">
                    <a16:creationId xmlns:a16="http://schemas.microsoft.com/office/drawing/2014/main" id="{5F32C5A4-A484-ADD4-1387-B1764E2063ED}"/>
                  </a:ext>
                </a:extLst>
              </p:cNvPr>
              <p:cNvSpPr/>
              <p:nvPr/>
            </p:nvSpPr>
            <p:spPr>
              <a:xfrm>
                <a:off x="1141870" y="2309295"/>
                <a:ext cx="2090428" cy="722171"/>
              </a:xfrm>
              <a:custGeom>
                <a:avLst/>
                <a:gdLst>
                  <a:gd name="csX0" fmla="*/ 348412 w 2090428"/>
                  <a:gd name="csY0" fmla="*/ 0 h 722171"/>
                  <a:gd name="csX1" fmla="*/ 1742016 w 2090428"/>
                  <a:gd name="csY1" fmla="*/ 0 h 722171"/>
                  <a:gd name="csX2" fmla="*/ 2090428 w 2090428"/>
                  <a:gd name="csY2" fmla="*/ 348412 h 722171"/>
                  <a:gd name="csX3" fmla="*/ 2090428 w 2090428"/>
                  <a:gd name="csY3" fmla="*/ 722171 h 722171"/>
                  <a:gd name="csX4" fmla="*/ 0 w 2090428"/>
                  <a:gd name="csY4" fmla="*/ 722171 h 722171"/>
                  <a:gd name="csX5" fmla="*/ 0 w 2090428"/>
                  <a:gd name="csY5" fmla="*/ 348412 h 722171"/>
                  <a:gd name="csX6" fmla="*/ 348412 w 2090428"/>
                  <a:gd name="csY6" fmla="*/ 0 h 7221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90428" h="722171">
                    <a:moveTo>
                      <a:pt x="348412" y="0"/>
                    </a:moveTo>
                    <a:lnTo>
                      <a:pt x="1742016" y="0"/>
                    </a:lnTo>
                    <a:cubicBezTo>
                      <a:pt x="1934439" y="0"/>
                      <a:pt x="2090428" y="155989"/>
                      <a:pt x="2090428" y="348412"/>
                    </a:cubicBezTo>
                    <a:lnTo>
                      <a:pt x="2090428" y="722171"/>
                    </a:lnTo>
                    <a:lnTo>
                      <a:pt x="0" y="722171"/>
                    </a:lnTo>
                    <a:lnTo>
                      <a:pt x="0" y="348412"/>
                    </a:lnTo>
                    <a:cubicBezTo>
                      <a:pt x="0" y="155989"/>
                      <a:pt x="155989" y="0"/>
                      <a:pt x="348412" y="0"/>
                    </a:cubicBezTo>
                    <a:close/>
                  </a:path>
                </a:pathLst>
              </a:cu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b="1" dirty="0">
                    <a:solidFill>
                      <a:schemeClr val="tx1"/>
                    </a:solidFill>
                    <a:latin typeface="Times New Roman" panose="02020603050405020304" pitchFamily="18" charset="0"/>
                    <a:cs typeface="Times New Roman" panose="02020603050405020304" pitchFamily="18" charset="0"/>
                  </a:rPr>
                  <a:t>RTL</a:t>
                </a:r>
                <a:r>
                  <a:rPr lang="zh-CN" altLang="en-US" b="1" dirty="0">
                    <a:solidFill>
                      <a:schemeClr val="tx1"/>
                    </a:solidFill>
                    <a:latin typeface="Times New Roman" panose="02020603050405020304" pitchFamily="18" charset="0"/>
                    <a:cs typeface="Times New Roman" panose="02020603050405020304" pitchFamily="18" charset="0"/>
                  </a:rPr>
                  <a:t>设计</a:t>
                </a:r>
              </a:p>
            </p:txBody>
          </p:sp>
          <p:sp>
            <p:nvSpPr>
              <p:cNvPr id="37" name="任意多边形: 形状 36">
                <a:extLst>
                  <a:ext uri="{FF2B5EF4-FFF2-40B4-BE49-F238E27FC236}">
                    <a16:creationId xmlns:a16="http://schemas.microsoft.com/office/drawing/2014/main" id="{CA9CB651-6794-3754-4F18-C3A4C3506B13}"/>
                  </a:ext>
                </a:extLst>
              </p:cNvPr>
              <p:cNvSpPr/>
              <p:nvPr/>
            </p:nvSpPr>
            <p:spPr>
              <a:xfrm>
                <a:off x="1141870" y="3031465"/>
                <a:ext cx="2090428" cy="2805809"/>
              </a:xfrm>
              <a:custGeom>
                <a:avLst/>
                <a:gdLst>
                  <a:gd name="csX0" fmla="*/ 0 w 2090428"/>
                  <a:gd name="csY0" fmla="*/ 0 h 2805809"/>
                  <a:gd name="csX1" fmla="*/ 2090428 w 2090428"/>
                  <a:gd name="csY1" fmla="*/ 0 h 2805809"/>
                  <a:gd name="csX2" fmla="*/ 2090428 w 2090428"/>
                  <a:gd name="csY2" fmla="*/ 2457397 h 2805809"/>
                  <a:gd name="csX3" fmla="*/ 1742016 w 2090428"/>
                  <a:gd name="csY3" fmla="*/ 2805809 h 2805809"/>
                  <a:gd name="csX4" fmla="*/ 348412 w 2090428"/>
                  <a:gd name="csY4" fmla="*/ 2805809 h 2805809"/>
                  <a:gd name="csX5" fmla="*/ 0 w 2090428"/>
                  <a:gd name="csY5" fmla="*/ 2457397 h 2805809"/>
                  <a:gd name="csX6" fmla="*/ 0 w 2090428"/>
                  <a:gd name="csY6" fmla="*/ 0 h 280580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90428" h="2805809">
                    <a:moveTo>
                      <a:pt x="0" y="0"/>
                    </a:moveTo>
                    <a:lnTo>
                      <a:pt x="2090428" y="0"/>
                    </a:lnTo>
                    <a:lnTo>
                      <a:pt x="2090428" y="2457397"/>
                    </a:lnTo>
                    <a:cubicBezTo>
                      <a:pt x="2090428" y="2649820"/>
                      <a:pt x="1934439" y="2805809"/>
                      <a:pt x="1742016" y="2805809"/>
                    </a:cubicBezTo>
                    <a:lnTo>
                      <a:pt x="348412" y="2805809"/>
                    </a:lnTo>
                    <a:cubicBezTo>
                      <a:pt x="155989" y="2805809"/>
                      <a:pt x="0" y="2649820"/>
                      <a:pt x="0" y="2457397"/>
                    </a:cubicBezTo>
                    <a:lnTo>
                      <a:pt x="0" y="0"/>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grpSp>
        <p:nvGrpSpPr>
          <p:cNvPr id="48" name="组合 47">
            <a:extLst>
              <a:ext uri="{FF2B5EF4-FFF2-40B4-BE49-F238E27FC236}">
                <a16:creationId xmlns:a16="http://schemas.microsoft.com/office/drawing/2014/main" id="{BB31CB61-B334-8282-6E54-FCF1E2985126}"/>
              </a:ext>
            </a:extLst>
          </p:cNvPr>
          <p:cNvGrpSpPr/>
          <p:nvPr/>
        </p:nvGrpSpPr>
        <p:grpSpPr>
          <a:xfrm>
            <a:off x="6717735" y="2309294"/>
            <a:ext cx="4332395" cy="3595287"/>
            <a:chOff x="6960836" y="2241986"/>
            <a:chExt cx="4332395" cy="3595287"/>
          </a:xfrm>
        </p:grpSpPr>
        <p:grpSp>
          <p:nvGrpSpPr>
            <p:cNvPr id="21" name="组合 20">
              <a:extLst>
                <a:ext uri="{FF2B5EF4-FFF2-40B4-BE49-F238E27FC236}">
                  <a16:creationId xmlns:a16="http://schemas.microsoft.com/office/drawing/2014/main" id="{595E002F-3468-3694-6781-034459C1BA48}"/>
                </a:ext>
              </a:extLst>
            </p:cNvPr>
            <p:cNvGrpSpPr/>
            <p:nvPr/>
          </p:nvGrpSpPr>
          <p:grpSpPr>
            <a:xfrm flipH="1">
              <a:off x="7226152" y="3223258"/>
              <a:ext cx="3801765" cy="2469384"/>
              <a:chOff x="4112227" y="3243599"/>
              <a:chExt cx="1431473" cy="1721987"/>
            </a:xfrm>
            <a:solidFill>
              <a:schemeClr val="bg1">
                <a:lumMod val="95000"/>
              </a:schemeClr>
            </a:solidFill>
          </p:grpSpPr>
          <p:sp>
            <p:nvSpPr>
              <p:cNvPr id="22" name="矩形: 圆角 21">
                <a:extLst>
                  <a:ext uri="{FF2B5EF4-FFF2-40B4-BE49-F238E27FC236}">
                    <a16:creationId xmlns:a16="http://schemas.microsoft.com/office/drawing/2014/main" id="{4E24629B-75B5-A51A-38B6-5668AFE1F54E}"/>
                  </a:ext>
                </a:extLst>
              </p:cNvPr>
              <p:cNvSpPr/>
              <p:nvPr/>
            </p:nvSpPr>
            <p:spPr>
              <a:xfrm>
                <a:off x="4112227" y="3862176"/>
                <a:ext cx="1431473" cy="48483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Times New Roman" panose="02020603050405020304" pitchFamily="18" charset="0"/>
                    <a:cs typeface="Times New Roman" panose="02020603050405020304" pitchFamily="18" charset="0"/>
                  </a:rPr>
                  <a:t>高分辨率、高帧率</a:t>
                </a:r>
                <a:endParaRPr lang="en-US" altLang="zh-CN" sz="1200" b="1" dirty="0">
                  <a:solidFill>
                    <a:schemeClr val="tx1"/>
                  </a:solidFill>
                  <a:latin typeface="Times New Roman" panose="02020603050405020304" pitchFamily="18" charset="0"/>
                  <a:cs typeface="Times New Roman" panose="02020603050405020304" pitchFamily="18" charset="0"/>
                </a:endParaRPr>
              </a:p>
              <a:p>
                <a:pPr algn="ctr"/>
                <a:r>
                  <a:rPr lang="en-US" altLang="zh-CN" sz="1200" b="1" dirty="0">
                    <a:solidFill>
                      <a:schemeClr val="tx1"/>
                    </a:solidFill>
                    <a:latin typeface="Times New Roman" panose="02020603050405020304" pitchFamily="18" charset="0"/>
                    <a:cs typeface="Times New Roman" panose="02020603050405020304" pitchFamily="18" charset="0"/>
                  </a:rPr>
                  <a:t>1280*720 @ 60Hz</a:t>
                </a:r>
                <a:endParaRPr lang="zh-CN" altLang="en-US" sz="1200" b="1" dirty="0">
                  <a:solidFill>
                    <a:schemeClr val="tx1"/>
                  </a:solidFill>
                  <a:latin typeface="Times New Roman" panose="02020603050405020304" pitchFamily="18" charset="0"/>
                  <a:cs typeface="Times New Roman" panose="02020603050405020304" pitchFamily="18" charset="0"/>
                </a:endParaRPr>
              </a:p>
            </p:txBody>
          </p:sp>
          <p:sp>
            <p:nvSpPr>
              <p:cNvPr id="23" name="矩形: 圆角 22">
                <a:extLst>
                  <a:ext uri="{FF2B5EF4-FFF2-40B4-BE49-F238E27FC236}">
                    <a16:creationId xmlns:a16="http://schemas.microsoft.com/office/drawing/2014/main" id="{DA66C9DF-2315-5018-F1FD-D0CA5E838E32}"/>
                  </a:ext>
                </a:extLst>
              </p:cNvPr>
              <p:cNvSpPr/>
              <p:nvPr/>
            </p:nvSpPr>
            <p:spPr>
              <a:xfrm>
                <a:off x="4112227" y="4480753"/>
                <a:ext cx="1431473" cy="48483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8</a:t>
                </a:r>
                <a:r>
                  <a:rPr lang="zh-CN" altLang="en-US" sz="1200" b="1" dirty="0">
                    <a:solidFill>
                      <a:schemeClr val="tx1"/>
                    </a:solidFill>
                    <a:latin typeface="Times New Roman" panose="02020603050405020304" pitchFamily="18" charset="0"/>
                    <a:cs typeface="Times New Roman" panose="02020603050405020304" pitchFamily="18" charset="0"/>
                  </a:rPr>
                  <a:t>个车牌同时检测</a:t>
                </a:r>
                <a:endParaRPr lang="en-US" altLang="zh-CN" sz="1200" b="1" dirty="0">
                  <a:solidFill>
                    <a:schemeClr val="tx1"/>
                  </a:solidFill>
                  <a:latin typeface="Times New Roman" panose="02020603050405020304" pitchFamily="18" charset="0"/>
                  <a:cs typeface="Times New Roman" panose="02020603050405020304" pitchFamily="18" charset="0"/>
                </a:endParaRPr>
              </a:p>
              <a:p>
                <a:pPr algn="ctr"/>
                <a:r>
                  <a:rPr lang="zh-CN" altLang="en-US" sz="1200" b="1" dirty="0">
                    <a:solidFill>
                      <a:schemeClr val="tx1"/>
                    </a:solidFill>
                    <a:latin typeface="Times New Roman" panose="02020603050405020304" pitchFamily="18" charset="0"/>
                    <a:cs typeface="Times New Roman" panose="02020603050405020304" pitchFamily="18" charset="0"/>
                  </a:rPr>
                  <a:t>大小、角度、光强适应性</a:t>
                </a:r>
                <a:endParaRPr lang="en-US" altLang="zh-CN" sz="1200" b="1" dirty="0">
                  <a:solidFill>
                    <a:schemeClr val="tx1"/>
                  </a:solidFill>
                  <a:latin typeface="Times New Roman" panose="02020603050405020304" pitchFamily="18" charset="0"/>
                  <a:cs typeface="Times New Roman" panose="02020603050405020304" pitchFamily="18" charset="0"/>
                </a:endParaRPr>
              </a:p>
            </p:txBody>
          </p:sp>
          <p:sp>
            <p:nvSpPr>
              <p:cNvPr id="24" name="矩形: 圆角 23">
                <a:extLst>
                  <a:ext uri="{FF2B5EF4-FFF2-40B4-BE49-F238E27FC236}">
                    <a16:creationId xmlns:a16="http://schemas.microsoft.com/office/drawing/2014/main" id="{66F479E6-5443-D14E-0E30-38D6344B060C}"/>
                  </a:ext>
                </a:extLst>
              </p:cNvPr>
              <p:cNvSpPr/>
              <p:nvPr/>
            </p:nvSpPr>
            <p:spPr>
              <a:xfrm>
                <a:off x="4112227" y="3243599"/>
                <a:ext cx="1431473" cy="48483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Times New Roman" panose="02020603050405020304" pitchFamily="18" charset="0"/>
                    <a:cs typeface="Times New Roman" panose="02020603050405020304" pitchFamily="18" charset="0"/>
                  </a:rPr>
                  <a:t>极低推理延迟</a:t>
                </a:r>
                <a:endParaRPr lang="en-US" altLang="zh-CN" sz="1200" b="1" dirty="0">
                  <a:solidFill>
                    <a:schemeClr val="tx1"/>
                  </a:solidFill>
                  <a:latin typeface="Times New Roman" panose="02020603050405020304" pitchFamily="18" charset="0"/>
                  <a:cs typeface="Times New Roman" panose="02020603050405020304" pitchFamily="18" charset="0"/>
                </a:endParaRPr>
              </a:p>
              <a:p>
                <a:pPr algn="ctr"/>
                <a:r>
                  <a:rPr lang="en-US" altLang="zh-CN" sz="1200" b="1" dirty="0">
                    <a:solidFill>
                      <a:schemeClr val="tx1"/>
                    </a:solidFill>
                    <a:latin typeface="Times New Roman" panose="02020603050405020304" pitchFamily="18" charset="0"/>
                    <a:cs typeface="Times New Roman" panose="02020603050405020304" pitchFamily="18" charset="0"/>
                  </a:rPr>
                  <a:t>1.14ms</a:t>
                </a:r>
                <a:r>
                  <a:rPr lang="zh-CN" altLang="en-US" sz="1200" b="1" dirty="0">
                    <a:solidFill>
                      <a:schemeClr val="tx1"/>
                    </a:solidFill>
                    <a:latin typeface="Times New Roman" panose="02020603050405020304" pitchFamily="18" charset="0"/>
                    <a:cs typeface="Times New Roman" panose="02020603050405020304" pitchFamily="18" charset="0"/>
                  </a:rPr>
                  <a:t>（</a:t>
                </a:r>
                <a:r>
                  <a:rPr lang="en-US" altLang="zh-CN" sz="1200" b="1" dirty="0">
                    <a:solidFill>
                      <a:schemeClr val="tx1"/>
                    </a:solidFill>
                    <a:latin typeface="Times New Roman" panose="02020603050405020304" pitchFamily="18" charset="0"/>
                    <a:cs typeface="Times New Roman" panose="02020603050405020304" pitchFamily="18" charset="0"/>
                  </a:rPr>
                  <a:t>YOLO</a:t>
                </a:r>
                <a:r>
                  <a:rPr lang="zh-CN" altLang="en-US" sz="1200" b="1" dirty="0">
                    <a:solidFill>
                      <a:schemeClr val="tx1"/>
                    </a:solidFill>
                    <a:latin typeface="Times New Roman" panose="02020603050405020304" pitchFamily="18" charset="0"/>
                    <a:cs typeface="Times New Roman" panose="02020603050405020304" pitchFamily="18" charset="0"/>
                  </a:rPr>
                  <a:t>）</a:t>
                </a:r>
                <a:r>
                  <a:rPr lang="en-US" altLang="zh-CN" sz="1200" b="1" dirty="0">
                    <a:solidFill>
                      <a:schemeClr val="tx1"/>
                    </a:solidFill>
                    <a:latin typeface="Times New Roman" panose="02020603050405020304" pitchFamily="18" charset="0"/>
                    <a:cs typeface="Times New Roman" panose="02020603050405020304" pitchFamily="18" charset="0"/>
                  </a:rPr>
                  <a:t>2.35ms</a:t>
                </a:r>
                <a:r>
                  <a:rPr lang="zh-CN" altLang="en-US" sz="1200" b="1" dirty="0">
                    <a:solidFill>
                      <a:schemeClr val="tx1"/>
                    </a:solidFill>
                    <a:latin typeface="Times New Roman" panose="02020603050405020304" pitchFamily="18" charset="0"/>
                    <a:cs typeface="Times New Roman" panose="02020603050405020304" pitchFamily="18" charset="0"/>
                  </a:rPr>
                  <a:t>（</a:t>
                </a:r>
                <a:r>
                  <a:rPr lang="en-US" altLang="zh-CN" sz="1200" b="1" dirty="0" err="1">
                    <a:solidFill>
                      <a:schemeClr val="tx1"/>
                    </a:solidFill>
                    <a:latin typeface="Times New Roman" panose="02020603050405020304" pitchFamily="18" charset="0"/>
                    <a:cs typeface="Times New Roman" panose="02020603050405020304" pitchFamily="18" charset="0"/>
                  </a:rPr>
                  <a:t>LPRNet</a:t>
                </a:r>
                <a:r>
                  <a:rPr lang="zh-CN" altLang="en-US" sz="1200" b="1" dirty="0">
                    <a:solidFill>
                      <a:schemeClr val="tx1"/>
                    </a:solidFill>
                    <a:latin typeface="Times New Roman" panose="02020603050405020304" pitchFamily="18" charset="0"/>
                    <a:cs typeface="Times New Roman" panose="02020603050405020304" pitchFamily="18" charset="0"/>
                  </a:rPr>
                  <a:t>）</a:t>
                </a:r>
              </a:p>
            </p:txBody>
          </p:sp>
        </p:grpSp>
        <p:grpSp>
          <p:nvGrpSpPr>
            <p:cNvPr id="47" name="组合 46">
              <a:extLst>
                <a:ext uri="{FF2B5EF4-FFF2-40B4-BE49-F238E27FC236}">
                  <a16:creationId xmlns:a16="http://schemas.microsoft.com/office/drawing/2014/main" id="{961BC066-0E44-15B3-A5CD-6C7DADDF0029}"/>
                </a:ext>
              </a:extLst>
            </p:cNvPr>
            <p:cNvGrpSpPr/>
            <p:nvPr/>
          </p:nvGrpSpPr>
          <p:grpSpPr>
            <a:xfrm>
              <a:off x="6960836" y="2241986"/>
              <a:ext cx="4332395" cy="3595287"/>
              <a:chOff x="7033811" y="2241986"/>
              <a:chExt cx="4332395" cy="3595287"/>
            </a:xfrm>
          </p:grpSpPr>
          <p:sp>
            <p:nvSpPr>
              <p:cNvPr id="46" name="任意多边形: 形状 45">
                <a:extLst>
                  <a:ext uri="{FF2B5EF4-FFF2-40B4-BE49-F238E27FC236}">
                    <a16:creationId xmlns:a16="http://schemas.microsoft.com/office/drawing/2014/main" id="{FA432856-497C-DAF2-3EEC-D3A2FF2A2D9E}"/>
                  </a:ext>
                </a:extLst>
              </p:cNvPr>
              <p:cNvSpPr/>
              <p:nvPr/>
            </p:nvSpPr>
            <p:spPr>
              <a:xfrm>
                <a:off x="7033811" y="2241986"/>
                <a:ext cx="4332395" cy="789478"/>
              </a:xfrm>
              <a:custGeom>
                <a:avLst/>
                <a:gdLst>
                  <a:gd name="csX0" fmla="*/ 599226 w 4332395"/>
                  <a:gd name="csY0" fmla="*/ 0 h 789478"/>
                  <a:gd name="csX1" fmla="*/ 3733169 w 4332395"/>
                  <a:gd name="csY1" fmla="*/ 0 h 789478"/>
                  <a:gd name="csX2" fmla="*/ 4332395 w 4332395"/>
                  <a:gd name="csY2" fmla="*/ 599226 h 789478"/>
                  <a:gd name="csX3" fmla="*/ 4332395 w 4332395"/>
                  <a:gd name="csY3" fmla="*/ 789478 h 789478"/>
                  <a:gd name="csX4" fmla="*/ 0 w 4332395"/>
                  <a:gd name="csY4" fmla="*/ 789478 h 789478"/>
                  <a:gd name="csX5" fmla="*/ 0 w 4332395"/>
                  <a:gd name="csY5" fmla="*/ 599226 h 789478"/>
                  <a:gd name="csX6" fmla="*/ 599226 w 4332395"/>
                  <a:gd name="csY6" fmla="*/ 0 h 78947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32395" h="789478">
                    <a:moveTo>
                      <a:pt x="599226" y="0"/>
                    </a:moveTo>
                    <a:lnTo>
                      <a:pt x="3733169" y="0"/>
                    </a:lnTo>
                    <a:cubicBezTo>
                      <a:pt x="4064112" y="0"/>
                      <a:pt x="4332395" y="268283"/>
                      <a:pt x="4332395" y="599226"/>
                    </a:cubicBezTo>
                    <a:lnTo>
                      <a:pt x="4332395" y="789478"/>
                    </a:lnTo>
                    <a:lnTo>
                      <a:pt x="0" y="789478"/>
                    </a:lnTo>
                    <a:lnTo>
                      <a:pt x="0" y="599226"/>
                    </a:lnTo>
                    <a:cubicBezTo>
                      <a:pt x="0" y="268283"/>
                      <a:pt x="268283" y="0"/>
                      <a:pt x="599226" y="0"/>
                    </a:cubicBezTo>
                    <a:close/>
                  </a:path>
                </a:pathLst>
              </a:cu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b="1" dirty="0">
                    <a:solidFill>
                      <a:schemeClr val="tx1"/>
                    </a:solidFill>
                    <a:latin typeface="Times New Roman" panose="02020603050405020304" pitchFamily="18" charset="0"/>
                    <a:cs typeface="Times New Roman" panose="02020603050405020304" pitchFamily="18" charset="0"/>
                  </a:rPr>
                  <a:t>仿真、上板验证</a:t>
                </a:r>
              </a:p>
            </p:txBody>
          </p:sp>
          <p:sp>
            <p:nvSpPr>
              <p:cNvPr id="44" name="任意多边形: 形状 43">
                <a:extLst>
                  <a:ext uri="{FF2B5EF4-FFF2-40B4-BE49-F238E27FC236}">
                    <a16:creationId xmlns:a16="http://schemas.microsoft.com/office/drawing/2014/main" id="{31226115-F540-8366-27C1-2737CEB10C55}"/>
                  </a:ext>
                </a:extLst>
              </p:cNvPr>
              <p:cNvSpPr/>
              <p:nvPr/>
            </p:nvSpPr>
            <p:spPr>
              <a:xfrm>
                <a:off x="7033811" y="3031464"/>
                <a:ext cx="4332395" cy="2805809"/>
              </a:xfrm>
              <a:custGeom>
                <a:avLst/>
                <a:gdLst>
                  <a:gd name="csX0" fmla="*/ 0 w 4332395"/>
                  <a:gd name="csY0" fmla="*/ 0 h 2805809"/>
                  <a:gd name="csX1" fmla="*/ 4332395 w 4332395"/>
                  <a:gd name="csY1" fmla="*/ 0 h 2805809"/>
                  <a:gd name="csX2" fmla="*/ 4332395 w 4332395"/>
                  <a:gd name="csY2" fmla="*/ 2206583 h 2805809"/>
                  <a:gd name="csX3" fmla="*/ 3733169 w 4332395"/>
                  <a:gd name="csY3" fmla="*/ 2805809 h 2805809"/>
                  <a:gd name="csX4" fmla="*/ 599226 w 4332395"/>
                  <a:gd name="csY4" fmla="*/ 2805809 h 2805809"/>
                  <a:gd name="csX5" fmla="*/ 0 w 4332395"/>
                  <a:gd name="csY5" fmla="*/ 2206583 h 2805809"/>
                  <a:gd name="csX6" fmla="*/ 0 w 4332395"/>
                  <a:gd name="csY6" fmla="*/ 0 h 280580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332395" h="2805809">
                    <a:moveTo>
                      <a:pt x="0" y="0"/>
                    </a:moveTo>
                    <a:lnTo>
                      <a:pt x="4332395" y="0"/>
                    </a:lnTo>
                    <a:lnTo>
                      <a:pt x="4332395" y="2206583"/>
                    </a:lnTo>
                    <a:cubicBezTo>
                      <a:pt x="4332395" y="2537526"/>
                      <a:pt x="4064112" y="2805809"/>
                      <a:pt x="3733169" y="2805809"/>
                    </a:cubicBezTo>
                    <a:lnTo>
                      <a:pt x="599226" y="2805809"/>
                    </a:lnTo>
                    <a:cubicBezTo>
                      <a:pt x="268283" y="2805809"/>
                      <a:pt x="0" y="2537526"/>
                      <a:pt x="0" y="2206583"/>
                    </a:cubicBezTo>
                    <a:lnTo>
                      <a:pt x="0" y="0"/>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grpSp>
        <p:nvGrpSpPr>
          <p:cNvPr id="50" name="组合 49">
            <a:extLst>
              <a:ext uri="{FF2B5EF4-FFF2-40B4-BE49-F238E27FC236}">
                <a16:creationId xmlns:a16="http://schemas.microsoft.com/office/drawing/2014/main" id="{AA48AC4C-FD35-63C3-9070-751979DA7E3D}"/>
              </a:ext>
            </a:extLst>
          </p:cNvPr>
          <p:cNvGrpSpPr/>
          <p:nvPr/>
        </p:nvGrpSpPr>
        <p:grpSpPr>
          <a:xfrm>
            <a:off x="1141870" y="2309295"/>
            <a:ext cx="2090428" cy="3527979"/>
            <a:chOff x="1141870" y="2309295"/>
            <a:chExt cx="2090428" cy="3527979"/>
          </a:xfrm>
        </p:grpSpPr>
        <p:grpSp>
          <p:nvGrpSpPr>
            <p:cNvPr id="15" name="组合 14">
              <a:extLst>
                <a:ext uri="{FF2B5EF4-FFF2-40B4-BE49-F238E27FC236}">
                  <a16:creationId xmlns:a16="http://schemas.microsoft.com/office/drawing/2014/main" id="{EDAEA607-0874-D7AD-C3E7-ACD37B358FF7}"/>
                </a:ext>
              </a:extLst>
            </p:cNvPr>
            <p:cNvGrpSpPr/>
            <p:nvPr/>
          </p:nvGrpSpPr>
          <p:grpSpPr>
            <a:xfrm flipH="1">
              <a:off x="1341312" y="3223258"/>
              <a:ext cx="1723655" cy="2469384"/>
              <a:chOff x="4112227" y="3243599"/>
              <a:chExt cx="1431473" cy="1721987"/>
            </a:xfrm>
            <a:solidFill>
              <a:schemeClr val="bg1">
                <a:lumMod val="95000"/>
              </a:schemeClr>
            </a:solidFill>
          </p:grpSpPr>
          <p:sp>
            <p:nvSpPr>
              <p:cNvPr id="16" name="矩形: 圆角 15">
                <a:extLst>
                  <a:ext uri="{FF2B5EF4-FFF2-40B4-BE49-F238E27FC236}">
                    <a16:creationId xmlns:a16="http://schemas.microsoft.com/office/drawing/2014/main" id="{B5EE78E6-EDC5-AEC0-F1F4-E2222AE543C1}"/>
                  </a:ext>
                </a:extLst>
              </p:cNvPr>
              <p:cNvSpPr/>
              <p:nvPr/>
            </p:nvSpPr>
            <p:spPr>
              <a:xfrm>
                <a:off x="4112227" y="3862176"/>
                <a:ext cx="1431473" cy="48483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Times New Roman" panose="02020603050405020304" pitchFamily="18" charset="0"/>
                    <a:cs typeface="Times New Roman" panose="02020603050405020304" pitchFamily="18" charset="0"/>
                  </a:rPr>
                  <a:t>数据集构建</a:t>
                </a:r>
              </a:p>
            </p:txBody>
          </p:sp>
          <p:sp>
            <p:nvSpPr>
              <p:cNvPr id="17" name="矩形: 圆角 16">
                <a:extLst>
                  <a:ext uri="{FF2B5EF4-FFF2-40B4-BE49-F238E27FC236}">
                    <a16:creationId xmlns:a16="http://schemas.microsoft.com/office/drawing/2014/main" id="{7F1E8360-F6F0-30F6-BDED-9FE1811FA336}"/>
                  </a:ext>
                </a:extLst>
              </p:cNvPr>
              <p:cNvSpPr/>
              <p:nvPr/>
            </p:nvSpPr>
            <p:spPr>
              <a:xfrm>
                <a:off x="4112227" y="4480753"/>
                <a:ext cx="1431473" cy="48483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0.99</a:t>
                </a:r>
                <a:r>
                  <a:rPr lang="zh-CN" altLang="en-US" sz="1200" b="1" dirty="0">
                    <a:solidFill>
                      <a:schemeClr val="tx1"/>
                    </a:solidFill>
                    <a:latin typeface="Times New Roman" panose="02020603050405020304" pitchFamily="18" charset="0"/>
                    <a:cs typeface="Times New Roman" panose="02020603050405020304" pitchFamily="18" charset="0"/>
                  </a:rPr>
                  <a:t>的</a:t>
                </a:r>
                <a:r>
                  <a:rPr lang="en-US" altLang="zh-CN" sz="1200" b="1" dirty="0">
                    <a:solidFill>
                      <a:schemeClr val="tx1"/>
                    </a:solidFill>
                    <a:latin typeface="Times New Roman" panose="02020603050405020304" pitchFamily="18" charset="0"/>
                    <a:cs typeface="Times New Roman" panose="02020603050405020304" pitchFamily="18" charset="0"/>
                  </a:rPr>
                  <a:t>mAP50</a:t>
                </a:r>
              </a:p>
              <a:p>
                <a:pPr algn="ctr"/>
                <a:r>
                  <a:rPr lang="en-US" altLang="zh-CN" sz="1200" b="1" dirty="0">
                    <a:solidFill>
                      <a:schemeClr val="tx1"/>
                    </a:solidFill>
                    <a:latin typeface="Times New Roman" panose="02020603050405020304" pitchFamily="18" charset="0"/>
                    <a:cs typeface="Times New Roman" panose="02020603050405020304" pitchFamily="18" charset="0"/>
                  </a:rPr>
                  <a:t>98%</a:t>
                </a:r>
                <a:r>
                  <a:rPr lang="zh-CN" altLang="en-US" sz="1200" b="1" dirty="0">
                    <a:solidFill>
                      <a:schemeClr val="tx1"/>
                    </a:solidFill>
                    <a:latin typeface="Times New Roman" panose="02020603050405020304" pitchFamily="18" charset="0"/>
                    <a:cs typeface="Times New Roman" panose="02020603050405020304" pitchFamily="18" charset="0"/>
                  </a:rPr>
                  <a:t>的车牌号准确率</a:t>
                </a:r>
                <a:endParaRPr lang="en-US" altLang="zh-CN" sz="1200" b="1" dirty="0">
                  <a:solidFill>
                    <a:schemeClr val="tx1"/>
                  </a:solidFill>
                  <a:latin typeface="Times New Roman" panose="02020603050405020304" pitchFamily="18" charset="0"/>
                  <a:cs typeface="Times New Roman" panose="02020603050405020304" pitchFamily="18" charset="0"/>
                </a:endParaRPr>
              </a:p>
            </p:txBody>
          </p:sp>
          <p:sp>
            <p:nvSpPr>
              <p:cNvPr id="18" name="矩形: 圆角 17">
                <a:extLst>
                  <a:ext uri="{FF2B5EF4-FFF2-40B4-BE49-F238E27FC236}">
                    <a16:creationId xmlns:a16="http://schemas.microsoft.com/office/drawing/2014/main" id="{DAA35102-6F3D-2C1F-AC25-C1BAC347E27E}"/>
                  </a:ext>
                </a:extLst>
              </p:cNvPr>
              <p:cNvSpPr/>
              <p:nvPr/>
            </p:nvSpPr>
            <p:spPr>
              <a:xfrm>
                <a:off x="4112227" y="3243599"/>
                <a:ext cx="1431473" cy="48483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Times New Roman" panose="02020603050405020304" pitchFamily="18" charset="0"/>
                    <a:cs typeface="Times New Roman" panose="02020603050405020304" pitchFamily="18" charset="0"/>
                  </a:rPr>
                  <a:t>双网络裁剪、量化</a:t>
                </a:r>
              </a:p>
            </p:txBody>
          </p:sp>
        </p:grpSp>
        <p:grpSp>
          <p:nvGrpSpPr>
            <p:cNvPr id="33" name="组合 32">
              <a:extLst>
                <a:ext uri="{FF2B5EF4-FFF2-40B4-BE49-F238E27FC236}">
                  <a16:creationId xmlns:a16="http://schemas.microsoft.com/office/drawing/2014/main" id="{EE5B3D03-BC5D-960B-5513-80DE1D07086E}"/>
                </a:ext>
              </a:extLst>
            </p:cNvPr>
            <p:cNvGrpSpPr/>
            <p:nvPr/>
          </p:nvGrpSpPr>
          <p:grpSpPr>
            <a:xfrm>
              <a:off x="1141870" y="2309295"/>
              <a:ext cx="2090428" cy="3527979"/>
              <a:chOff x="1141870" y="2309295"/>
              <a:chExt cx="2090428" cy="3527979"/>
            </a:xfrm>
          </p:grpSpPr>
          <p:sp>
            <p:nvSpPr>
              <p:cNvPr id="32" name="任意多边形: 形状 31">
                <a:extLst>
                  <a:ext uri="{FF2B5EF4-FFF2-40B4-BE49-F238E27FC236}">
                    <a16:creationId xmlns:a16="http://schemas.microsoft.com/office/drawing/2014/main" id="{3D7B5EDA-9FF1-0604-9962-0D4E48B864FD}"/>
                  </a:ext>
                </a:extLst>
              </p:cNvPr>
              <p:cNvSpPr/>
              <p:nvPr/>
            </p:nvSpPr>
            <p:spPr>
              <a:xfrm>
                <a:off x="1141870" y="2309295"/>
                <a:ext cx="2090428" cy="722171"/>
              </a:xfrm>
              <a:custGeom>
                <a:avLst/>
                <a:gdLst>
                  <a:gd name="csX0" fmla="*/ 348412 w 2090428"/>
                  <a:gd name="csY0" fmla="*/ 0 h 722171"/>
                  <a:gd name="csX1" fmla="*/ 1742016 w 2090428"/>
                  <a:gd name="csY1" fmla="*/ 0 h 722171"/>
                  <a:gd name="csX2" fmla="*/ 2090428 w 2090428"/>
                  <a:gd name="csY2" fmla="*/ 348412 h 722171"/>
                  <a:gd name="csX3" fmla="*/ 2090428 w 2090428"/>
                  <a:gd name="csY3" fmla="*/ 722171 h 722171"/>
                  <a:gd name="csX4" fmla="*/ 0 w 2090428"/>
                  <a:gd name="csY4" fmla="*/ 722171 h 722171"/>
                  <a:gd name="csX5" fmla="*/ 0 w 2090428"/>
                  <a:gd name="csY5" fmla="*/ 348412 h 722171"/>
                  <a:gd name="csX6" fmla="*/ 348412 w 2090428"/>
                  <a:gd name="csY6" fmla="*/ 0 h 72217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90428" h="722171">
                    <a:moveTo>
                      <a:pt x="348412" y="0"/>
                    </a:moveTo>
                    <a:lnTo>
                      <a:pt x="1742016" y="0"/>
                    </a:lnTo>
                    <a:cubicBezTo>
                      <a:pt x="1934439" y="0"/>
                      <a:pt x="2090428" y="155989"/>
                      <a:pt x="2090428" y="348412"/>
                    </a:cubicBezTo>
                    <a:lnTo>
                      <a:pt x="2090428" y="722171"/>
                    </a:lnTo>
                    <a:lnTo>
                      <a:pt x="0" y="722171"/>
                    </a:lnTo>
                    <a:lnTo>
                      <a:pt x="0" y="348412"/>
                    </a:lnTo>
                    <a:cubicBezTo>
                      <a:pt x="0" y="155989"/>
                      <a:pt x="155989" y="0"/>
                      <a:pt x="348412" y="0"/>
                    </a:cubicBezTo>
                    <a:close/>
                  </a:path>
                </a:pathLst>
              </a:cu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zh-CN" altLang="en-US" b="1" dirty="0">
                    <a:solidFill>
                      <a:schemeClr val="tx1"/>
                    </a:solidFill>
                    <a:latin typeface="Times New Roman" panose="02020603050405020304" pitchFamily="18" charset="0"/>
                    <a:cs typeface="Times New Roman" panose="02020603050405020304" pitchFamily="18" charset="0"/>
                  </a:rPr>
                  <a:t>模型设计</a:t>
                </a:r>
              </a:p>
            </p:txBody>
          </p:sp>
          <p:sp>
            <p:nvSpPr>
              <p:cNvPr id="30" name="任意多边形: 形状 29">
                <a:extLst>
                  <a:ext uri="{FF2B5EF4-FFF2-40B4-BE49-F238E27FC236}">
                    <a16:creationId xmlns:a16="http://schemas.microsoft.com/office/drawing/2014/main" id="{E00299A5-7A35-9DF3-8F86-BE9CB104CFE6}"/>
                  </a:ext>
                </a:extLst>
              </p:cNvPr>
              <p:cNvSpPr/>
              <p:nvPr/>
            </p:nvSpPr>
            <p:spPr>
              <a:xfrm>
                <a:off x="1141870" y="3031465"/>
                <a:ext cx="2090428" cy="2805809"/>
              </a:xfrm>
              <a:custGeom>
                <a:avLst/>
                <a:gdLst>
                  <a:gd name="csX0" fmla="*/ 0 w 2090428"/>
                  <a:gd name="csY0" fmla="*/ 0 h 2805809"/>
                  <a:gd name="csX1" fmla="*/ 2090428 w 2090428"/>
                  <a:gd name="csY1" fmla="*/ 0 h 2805809"/>
                  <a:gd name="csX2" fmla="*/ 2090428 w 2090428"/>
                  <a:gd name="csY2" fmla="*/ 2457397 h 2805809"/>
                  <a:gd name="csX3" fmla="*/ 1742016 w 2090428"/>
                  <a:gd name="csY3" fmla="*/ 2805809 h 2805809"/>
                  <a:gd name="csX4" fmla="*/ 348412 w 2090428"/>
                  <a:gd name="csY4" fmla="*/ 2805809 h 2805809"/>
                  <a:gd name="csX5" fmla="*/ 0 w 2090428"/>
                  <a:gd name="csY5" fmla="*/ 2457397 h 2805809"/>
                  <a:gd name="csX6" fmla="*/ 0 w 2090428"/>
                  <a:gd name="csY6" fmla="*/ 0 h 280580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90428" h="2805809">
                    <a:moveTo>
                      <a:pt x="0" y="0"/>
                    </a:moveTo>
                    <a:lnTo>
                      <a:pt x="2090428" y="0"/>
                    </a:lnTo>
                    <a:lnTo>
                      <a:pt x="2090428" y="2457397"/>
                    </a:lnTo>
                    <a:cubicBezTo>
                      <a:pt x="2090428" y="2649820"/>
                      <a:pt x="1934439" y="2805809"/>
                      <a:pt x="1742016" y="2805809"/>
                    </a:cubicBezTo>
                    <a:lnTo>
                      <a:pt x="348412" y="2805809"/>
                    </a:lnTo>
                    <a:cubicBezTo>
                      <a:pt x="155989" y="2805809"/>
                      <a:pt x="0" y="2649820"/>
                      <a:pt x="0" y="2457397"/>
                    </a:cubicBezTo>
                    <a:lnTo>
                      <a:pt x="0" y="0"/>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grpSp>
    </p:spTree>
    <p:custDataLst>
      <p:tags r:id="rId1"/>
    </p:custDataLst>
    <p:extLst>
      <p:ext uri="{BB962C8B-B14F-4D97-AF65-F5344CB8AC3E}">
        <p14:creationId xmlns:p14="http://schemas.microsoft.com/office/powerpoint/2010/main" val="8785949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主题"/>
          <p:cNvPicPr>
            <a:picLocks noChangeAspect="1"/>
          </p:cNvPicPr>
          <p:nvPr/>
        </p:nvPicPr>
        <p:blipFill>
          <a:blip r:embed="rId4"/>
          <a:stretch>
            <a:fillRect/>
          </a:stretch>
        </p:blipFill>
        <p:spPr>
          <a:xfrm>
            <a:off x="911491" y="-72000"/>
            <a:ext cx="10369018" cy="5832000"/>
          </a:xfrm>
          <a:prstGeom prst="rect">
            <a:avLst/>
          </a:prstGeom>
        </p:spPr>
      </p:pic>
      <p:pic>
        <p:nvPicPr>
          <p:cNvPr id="2" name="图片 1" descr="集创赛1"/>
          <p:cNvPicPr>
            <a:picLocks noChangeAspect="1"/>
          </p:cNvPicPr>
          <p:nvPr/>
        </p:nvPicPr>
        <p:blipFill>
          <a:blip r:embed="rId5"/>
          <a:stretch>
            <a:fillRect/>
          </a:stretch>
        </p:blipFill>
        <p:spPr>
          <a:xfrm>
            <a:off x="4224206" y="180000"/>
            <a:ext cx="3743588" cy="2340000"/>
          </a:xfrm>
          <a:prstGeom prst="rect">
            <a:avLst/>
          </a:prstGeom>
        </p:spPr>
      </p:pic>
      <p:sp>
        <p:nvSpPr>
          <p:cNvPr id="3" name="文本框 2"/>
          <p:cNvSpPr txBox="1"/>
          <p:nvPr/>
        </p:nvSpPr>
        <p:spPr>
          <a:xfrm>
            <a:off x="6396990" y="3075940"/>
            <a:ext cx="4064000" cy="368300"/>
          </a:xfrm>
          <a:prstGeom prst="rect">
            <a:avLst/>
          </a:prstGeom>
          <a:noFill/>
        </p:spPr>
        <p:txBody>
          <a:bodyPr wrap="square" rtlCol="0">
            <a:spAutoFit/>
          </a:bodyPr>
          <a:lstStyle/>
          <a:p>
            <a:endParaRPr lang="zh-CN" altLang="en-US"/>
          </a:p>
        </p:txBody>
      </p:sp>
      <p:sp>
        <p:nvSpPr>
          <p:cNvPr id="5" name="文本框 4"/>
          <p:cNvSpPr txBox="1"/>
          <p:nvPr/>
        </p:nvSpPr>
        <p:spPr>
          <a:xfrm>
            <a:off x="3106479" y="4251895"/>
            <a:ext cx="6172200" cy="1508105"/>
          </a:xfrm>
          <a:prstGeom prst="rect">
            <a:avLst/>
          </a:prstGeom>
          <a:noFill/>
        </p:spPr>
        <p:txBody>
          <a:bodyPr wrap="square" rtlCol="0">
            <a:spAutoFit/>
          </a:bodyPr>
          <a:lstStyle/>
          <a:p>
            <a:pPr algn="ctr"/>
            <a:r>
              <a:rPr lang="zh-CN" altLang="en-US" sz="2800" dirty="0">
                <a:solidFill>
                  <a:srgbClr val="142DA8"/>
                </a:solidFill>
                <a:latin typeface="微软雅黑" panose="020B0503020204020204" pitchFamily="34" charset="-122"/>
                <a:ea typeface="微软雅黑" panose="020B0503020204020204" pitchFamily="34" charset="-122"/>
              </a:rPr>
              <a:t>欢迎各位老师批评指正</a:t>
            </a:r>
            <a:endParaRPr lang="en-US" altLang="zh-CN" sz="2800" dirty="0">
              <a:solidFill>
                <a:srgbClr val="142DA8"/>
              </a:solidFill>
              <a:latin typeface="微软雅黑" panose="020B0503020204020204" pitchFamily="34" charset="-122"/>
              <a:ea typeface="微软雅黑" panose="020B0503020204020204" pitchFamily="34" charset="-122"/>
            </a:endParaRPr>
          </a:p>
          <a:p>
            <a:pPr algn="ctr"/>
            <a:endParaRPr lang="en-US" altLang="zh-CN" sz="2800" dirty="0">
              <a:solidFill>
                <a:srgbClr val="142DA8"/>
              </a:solidFill>
              <a:latin typeface="微软雅黑" panose="020B0503020204020204" pitchFamily="34" charset="-122"/>
              <a:ea typeface="微软雅黑" panose="020B0503020204020204" pitchFamily="34" charset="-122"/>
            </a:endParaRPr>
          </a:p>
          <a:p>
            <a:pPr algn="ctr"/>
            <a:r>
              <a:rPr lang="zh-CN" altLang="en-US" sz="3600" dirty="0">
                <a:solidFill>
                  <a:srgbClr val="142DA8"/>
                </a:solidFill>
                <a:latin typeface="微软雅黑" panose="020B0503020204020204" pitchFamily="34" charset="-122"/>
                <a:ea typeface="微软雅黑" panose="020B0503020204020204" pitchFamily="34" charset="-122"/>
              </a:rPr>
              <a:t>谢谢！</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7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9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9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0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1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12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3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4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15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7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2.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173.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174.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7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1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1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21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24.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2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2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24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24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4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660</TotalTime>
  <Words>2901</Words>
  <Application>Microsoft Office PowerPoint</Application>
  <PresentationFormat>宽屏</PresentationFormat>
  <Paragraphs>433</Paragraphs>
  <Slides>25</Slides>
  <Notes>14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25</vt:i4>
      </vt:variant>
    </vt:vector>
  </HeadingPairs>
  <TitlesOfParts>
    <vt:vector size="32" baseType="lpstr">
      <vt:lpstr>Arial</vt:lpstr>
      <vt:lpstr>Alimama ShuHeiTi Bold</vt:lpstr>
      <vt:lpstr>微软雅黑</vt:lpstr>
      <vt:lpstr>Wingdings</vt:lpstr>
      <vt:lpstr>Calibri</vt:lpstr>
      <vt:lpstr>Times New Roman</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Datou21</cp:lastModifiedBy>
  <cp:revision>987</cp:revision>
  <dcterms:created xsi:type="dcterms:W3CDTF">2026-04-10T06:20:54Z</dcterms:created>
  <dcterms:modified xsi:type="dcterms:W3CDTF">2026-07-14T08:27:16Z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2052-12.1.25205.25205</vt:lpwstr>
  </property>
  <property fmtid="{D5CDD505-2E9C-101B-9397-08002B2CF9AE}" pid="3" name="ICV">
    <vt:lpwstr>F6BD25751A7C48EDB1764C448974A7E0_11</vt:lpwstr>
  </property>
</Properties>
</file>